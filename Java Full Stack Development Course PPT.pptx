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5" autoAdjust="0"/>
    <p:restoredTop sz="94660"/>
  </p:normalViewPr>
  <p:slideViewPr>
    <p:cSldViewPr snapToGrid="0">
      <p:cViewPr varScale="1">
        <p:scale>
          <a:sx n="85" d="100"/>
          <a:sy n="85" d="100"/>
        </p:scale>
        <p:origin x="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77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7567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034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742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19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711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4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765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6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407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7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20710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655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92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82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0050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075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63FC8-E39B-4CE5-8F1F-1E4C0F2D9613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1BD0A-F8B1-4C57-8B7B-62CEFD763FA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3776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arthana-Elysiu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F261F-B323-4C7C-A9F0-8FFBDF676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7423" y="3047999"/>
            <a:ext cx="5283200" cy="1443931"/>
          </a:xfrm>
        </p:spPr>
        <p:txBody>
          <a:bodyPr/>
          <a:lstStyle/>
          <a:p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Introduction to Java Full Stack </a:t>
            </a:r>
            <a:br>
              <a:rPr lang="en-US" sz="2400" dirty="0"/>
            </a:br>
            <a:r>
              <a:rPr lang="en-US" sz="2400" dirty="0"/>
              <a:t>By Elysium Academy</a:t>
            </a:r>
            <a:br>
              <a:rPr lang="en-US" sz="2400" dirty="0"/>
            </a:br>
            <a:br>
              <a:rPr lang="en-US" sz="2400" dirty="0"/>
            </a:br>
            <a:endParaRPr lang="en-IN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6C5CC-7CA3-4D56-9982-9032C9877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321" y="4394038"/>
            <a:ext cx="10123145" cy="1961605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What is Java Full Stack ?</a:t>
            </a:r>
          </a:p>
          <a:p>
            <a:r>
              <a:rPr lang="en-US" dirty="0"/>
              <a:t>Java Full Stack Development is the process of building complete web applications using Java technologies for the backend, modern web technologies for the frontend, and databases for data storage.</a:t>
            </a:r>
          </a:p>
          <a:p>
            <a:r>
              <a:rPr lang="en-US" dirty="0"/>
              <a:t>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(User Interface)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(Business Logic)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(Data Storage)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APIs &amp; Integration </a:t>
            </a:r>
          </a:p>
          <a:p>
            <a:r>
              <a:rPr lang="en-US" dirty="0"/>
              <a:t>Learning Outcome</a:t>
            </a:r>
          </a:p>
          <a:p>
            <a:r>
              <a:rPr lang="en-US" dirty="0"/>
              <a:t>Understand how a complete web application is developed from start to finish. 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67B1708-4D7E-4EC7-910D-471E479DF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025" y="177438"/>
            <a:ext cx="3379507" cy="2188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ECAF450-38BF-421F-8B8F-AF4F6B08B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1600" y="333023"/>
            <a:ext cx="2559458" cy="292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30D0985-FD14-49B0-83AB-05EC3E426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321" y="213986"/>
            <a:ext cx="2850444" cy="2152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670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5B731-CF29-4738-9074-0EC720161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Full Stack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C656A-99C4-4F29-9AD3-4ED1F96AA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7" y="2329398"/>
            <a:ext cx="2014361" cy="843515"/>
          </a:xfrm>
        </p:spPr>
        <p:txBody>
          <a:bodyPr>
            <a:noAutofit/>
          </a:bodyPr>
          <a:lstStyle/>
          <a:p>
            <a:r>
              <a:rPr lang="en-IN" sz="1200" dirty="0"/>
              <a:t>Three-Tier Architecture</a:t>
            </a:r>
          </a:p>
          <a:p>
            <a:pPr>
              <a:buFont typeface="+mj-lt"/>
              <a:buAutoNum type="arabicPeriod"/>
            </a:pPr>
            <a:r>
              <a:rPr lang="en-IN" sz="1200" dirty="0"/>
              <a:t>Presentation Layer (Frontend) </a:t>
            </a:r>
          </a:p>
          <a:p>
            <a:pPr>
              <a:buFont typeface="+mj-lt"/>
              <a:buAutoNum type="arabicPeriod"/>
            </a:pPr>
            <a:r>
              <a:rPr lang="en-IN" sz="1200" dirty="0"/>
              <a:t>Business Layer (Backend) </a:t>
            </a:r>
          </a:p>
          <a:p>
            <a:pPr>
              <a:buFont typeface="+mj-lt"/>
              <a:buAutoNum type="arabicPeriod"/>
            </a:pPr>
            <a:r>
              <a:rPr lang="en-IN" sz="1200" dirty="0"/>
              <a:t>Data Layer (Database) </a:t>
            </a:r>
          </a:p>
          <a:p>
            <a:r>
              <a:rPr lang="en-IN" sz="1200" b="1" dirty="0"/>
              <a:t>Workflow</a:t>
            </a:r>
          </a:p>
          <a:p>
            <a:r>
              <a:rPr lang="en-IN" sz="1200" dirty="0"/>
              <a:t>User → Frontend → Backend → Database → Backend → Frontend → User</a:t>
            </a:r>
          </a:p>
          <a:p>
            <a:r>
              <a:rPr lang="en-IN" sz="12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Maintainability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200" dirty="0"/>
              <a:t>Performance </a:t>
            </a:r>
          </a:p>
          <a:p>
            <a:pPr marL="0" indent="0">
              <a:buNone/>
            </a:pPr>
            <a:endParaRPr lang="en-IN"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189A9EE-3239-4910-8283-BF829D8EF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022" y="3070262"/>
            <a:ext cx="2023007" cy="2023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5E97A14-6411-4661-908B-C40E0AC90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617" y="3053211"/>
            <a:ext cx="3178101" cy="211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66EAFF69-8E9B-499E-8B21-F697A9211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933" y="2594709"/>
            <a:ext cx="3309380" cy="330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597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3914A-287B-45AA-9DE6-877781D0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a Java Full Stack Developer 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52F4F-FD3B-4243-8D9A-731976999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44" y="2255726"/>
            <a:ext cx="1609326" cy="4224095"/>
          </a:xfrm>
        </p:spPr>
        <p:txBody>
          <a:bodyPr>
            <a:normAutofit fontScale="92500" lnSpcReduction="20000"/>
          </a:bodyPr>
          <a:lstStyle/>
          <a:p>
            <a:r>
              <a:rPr lang="en-US" sz="1200" b="1" dirty="0"/>
              <a:t>Responsibilities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Develop user interfaces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Create backend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Build REST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Manage 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Test and deploy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Ensure security and performance </a:t>
            </a:r>
          </a:p>
          <a:p>
            <a:r>
              <a:rPr lang="en-US" sz="1200" b="1" dirty="0"/>
              <a:t>Skills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Frontend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Backend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Database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Version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Testing </a:t>
            </a:r>
          </a:p>
          <a:p>
            <a:endParaRPr lang="en-IN" sz="12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C5467BB-F1F9-43C6-96DF-BB830BEDF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270" y="2955602"/>
            <a:ext cx="4027311" cy="2265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4103611D-1B13-4411-AF3F-9794DA7BB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21" y="3310218"/>
            <a:ext cx="3010253" cy="1713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Bot Verification">
            <a:extLst>
              <a:ext uri="{FF2B5EF4-FFF2-40B4-BE49-F238E27FC236}">
                <a16:creationId xmlns:a16="http://schemas.microsoft.com/office/drawing/2014/main" id="{2AA50183-C10F-4FB2-8EB1-ABDC2B43B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5514" y="3310218"/>
            <a:ext cx="2576714" cy="1713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2798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D1273-E574-4A63-A3E2-5E8DF8F7B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Frontend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027F4-7669-43AC-B6AD-81938216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2864390" cy="3599316"/>
          </a:xfrm>
        </p:spPr>
        <p:txBody>
          <a:bodyPr>
            <a:normAutofit fontScale="92500" lnSpcReduction="20000"/>
          </a:bodyPr>
          <a:lstStyle/>
          <a:p>
            <a:r>
              <a:rPr lang="en-US" sz="1200" b="1" dirty="0"/>
              <a:t>Purpose</a:t>
            </a:r>
          </a:p>
          <a:p>
            <a:r>
              <a:rPr lang="en-US" sz="1200" dirty="0"/>
              <a:t>Creates the visual part of a web</a:t>
            </a:r>
          </a:p>
          <a:p>
            <a:pPr marL="0" indent="0">
              <a:buNone/>
            </a:pPr>
            <a:r>
              <a:rPr lang="en-US" sz="1200" dirty="0"/>
              <a:t> application.</a:t>
            </a:r>
          </a:p>
          <a:p>
            <a:r>
              <a:rPr lang="en-US" sz="1200" b="1" dirty="0"/>
              <a:t>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HTML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CSS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JavaScript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React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Angular </a:t>
            </a:r>
          </a:p>
          <a:p>
            <a:r>
              <a:rPr lang="en-US" sz="1200" b="1" dirty="0"/>
              <a:t>Responsibilities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User Interface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User Experience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Form Validation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Responsive Design </a:t>
            </a:r>
          </a:p>
          <a:p>
            <a:endParaRPr lang="en-IN" sz="12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BE47FF-4099-4105-9849-B513D8E6A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251" y="4809346"/>
            <a:ext cx="3265706" cy="1813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872FE4B-B66E-4936-B596-9A2279B69B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079" y="2387032"/>
            <a:ext cx="3402859" cy="2126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B131581-8F6A-4B07-A157-A60848B79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547" y="2218441"/>
            <a:ext cx="3265706" cy="2421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3746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3A8F3-CF73-4D05-9CFD-05E037891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Backend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2E744-65D3-4A0F-B55A-5AAC0C68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3157901" cy="3984905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Purpose</a:t>
            </a:r>
          </a:p>
          <a:p>
            <a:r>
              <a:rPr lang="en-IN" dirty="0"/>
              <a:t>Handles business logic and server-</a:t>
            </a:r>
          </a:p>
          <a:p>
            <a:pPr marL="0" indent="0">
              <a:buNone/>
            </a:pPr>
            <a:r>
              <a:rPr lang="en-IN" dirty="0"/>
              <a:t>side processing.</a:t>
            </a:r>
          </a:p>
          <a:p>
            <a:r>
              <a:rPr lang="en-IN" b="1" dirty="0"/>
              <a:t>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Servlets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JSP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Spring Framework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Spring Boot </a:t>
            </a:r>
          </a:p>
          <a:p>
            <a:r>
              <a:rPr lang="en-IN" b="1" dirty="0"/>
              <a:t>Responsibilities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Process Requests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Authentication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Authorization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Business Rules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API Development</a:t>
            </a:r>
          </a:p>
          <a:p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A5EDAB1B-459F-46B8-82CF-18F9EC04A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9867" y="2248385"/>
            <a:ext cx="4234005" cy="2361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42EAEE38-4A7F-44D6-95FA-F517E5934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9996" y="2211219"/>
            <a:ext cx="3899781" cy="2612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DFA4B825-7395-4EFB-9349-744325A92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0468" y="4801178"/>
            <a:ext cx="2082465" cy="1822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118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E29FF-9CC5-4B0A-9193-90E4ED25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C3EC0-2C1F-4D71-A95B-2CD1FC9D8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282079" cy="3599316"/>
          </a:xfrm>
        </p:spPr>
        <p:txBody>
          <a:bodyPr>
            <a:normAutofit fontScale="55000" lnSpcReduction="20000"/>
          </a:bodyPr>
          <a:lstStyle/>
          <a:p>
            <a:r>
              <a:rPr lang="en-IN" b="1" dirty="0"/>
              <a:t>Purpose</a:t>
            </a:r>
          </a:p>
          <a:p>
            <a:r>
              <a:rPr lang="en-IN" dirty="0"/>
              <a:t>Stores and manages application data.</a:t>
            </a:r>
          </a:p>
          <a:p>
            <a:r>
              <a:rPr lang="en-IN" b="1" dirty="0"/>
              <a:t>Popular Databases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MySQL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PostgreSQL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MongoDB </a:t>
            </a:r>
          </a:p>
          <a:p>
            <a:r>
              <a:rPr lang="en-IN" b="1" dirty="0"/>
              <a:t>Database Operations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Create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Read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Delete (CRUD) </a:t>
            </a:r>
          </a:p>
          <a:p>
            <a:r>
              <a:rPr lang="en-IN" b="1" dirty="0"/>
              <a:t>Importance</a:t>
            </a:r>
          </a:p>
          <a:p>
            <a:r>
              <a:rPr lang="en-IN" dirty="0"/>
              <a:t>Ensures reliable data storage and retrieval.</a:t>
            </a:r>
          </a:p>
          <a:p>
            <a:endParaRPr lang="en-IN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540DFA4-6676-4A0F-BB0A-E4DFD3347F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769" y="2239155"/>
            <a:ext cx="3153128" cy="233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586E5A8C-9CB1-428D-A598-B53963359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266" y="2451100"/>
            <a:ext cx="3911600" cy="195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EC51ED5D-4FF7-4D9D-B8C2-44625B478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511" y="4811889"/>
            <a:ext cx="3115733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1774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FFB0-18AA-4A03-9519-7A911ABC4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C66FE-35B9-454B-98E7-85E4D72E8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315946" cy="359931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Essential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 and 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Conditional Statements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Methods </a:t>
            </a:r>
          </a:p>
          <a:p>
            <a:r>
              <a:rPr lang="en-US" b="1" dirty="0"/>
              <a:t>Why Important?</a:t>
            </a:r>
          </a:p>
          <a:p>
            <a:r>
              <a:rPr lang="en-US" dirty="0"/>
              <a:t>Forms the foundation for advanced Java development. </a:t>
            </a:r>
          </a:p>
          <a:p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A09B661-094C-4EFD-BED3-035F63775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268" y="2127768"/>
            <a:ext cx="3139898" cy="2354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4DB26AE3-1183-4A0B-B0BC-1E0AA4F3D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4223" y="2080340"/>
            <a:ext cx="4490156" cy="2525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Features of Java Programming | Tutorials">
            <a:extLst>
              <a:ext uri="{FF2B5EF4-FFF2-40B4-BE49-F238E27FC236}">
                <a16:creationId xmlns:a16="http://schemas.microsoft.com/office/drawing/2014/main" id="{3B46A7EB-1522-46B6-AD81-5DF78BE075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813" y="4752716"/>
            <a:ext cx="2698750" cy="1895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68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715F-9497-403F-B5AB-F4400FA9D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Object-Oriented Programming System or Structure ( OOPS 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478B3-8D4A-436D-82C7-87B92CDD6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2909546" cy="3599316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Four Pillars of OOPS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Encapsulation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Inheritance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Polymorphism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Abstraction </a:t>
            </a:r>
          </a:p>
          <a:p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Code Reusability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Flexibility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Scalability </a:t>
            </a:r>
          </a:p>
          <a:p>
            <a:endParaRPr lang="en-IN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644F7EF8-0CDB-4C13-80B3-0DCD26162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8890" y="2116087"/>
            <a:ext cx="2747609" cy="230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DF69A0A-EDC7-458F-A47E-2A189BCF76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4780" y="2136315"/>
            <a:ext cx="4606898" cy="230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>
            <a:extLst>
              <a:ext uri="{FF2B5EF4-FFF2-40B4-BE49-F238E27FC236}">
                <a16:creationId xmlns:a16="http://schemas.microsoft.com/office/drawing/2014/main" id="{2339A98E-9D05-4F86-B95E-F076D2F361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122" y="4595157"/>
            <a:ext cx="3045012" cy="203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31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5B6FB-23E7-461A-AC2D-EE12AADFA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Collections and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36C8F-F399-4173-B755-D26B4DA82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203057" cy="359931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Collections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Queue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Map </a:t>
            </a:r>
          </a:p>
          <a:p>
            <a:r>
              <a:rPr lang="en-IN" b="1" dirty="0"/>
              <a:t>Generics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Type Safety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Cleaner Code </a:t>
            </a:r>
          </a:p>
          <a:p>
            <a:r>
              <a:rPr lang="en-IN" b="1" dirty="0"/>
              <a:t>Advantages</a:t>
            </a:r>
          </a:p>
          <a:p>
            <a:r>
              <a:rPr lang="en-IN" dirty="0"/>
              <a:t>Efficient data storage and manipulation.</a:t>
            </a:r>
          </a:p>
          <a:p>
            <a:endParaRPr lang="en-IN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6B177DEA-5BBE-4068-AA6F-4AC9C0E85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4499" y="2762981"/>
            <a:ext cx="3750734" cy="250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Data Structures in Java | Great Learning">
            <a:extLst>
              <a:ext uri="{FF2B5EF4-FFF2-40B4-BE49-F238E27FC236}">
                <a16:creationId xmlns:a16="http://schemas.microsoft.com/office/drawing/2014/main" id="{03193FB8-40B7-44EF-996B-F020EB208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433" y="2265371"/>
            <a:ext cx="2225536" cy="1899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Java: Difference between ArrayList and HashMap - ChangSiang.NET">
            <a:extLst>
              <a:ext uri="{FF2B5EF4-FFF2-40B4-BE49-F238E27FC236}">
                <a16:creationId xmlns:a16="http://schemas.microsoft.com/office/drawing/2014/main" id="{12459E75-7D81-4177-98F6-A7159896DE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044" y="4466215"/>
            <a:ext cx="3750734" cy="2062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0703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EA944-46E5-4D33-A14C-0E9256C74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Multithreading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A919A-11F8-4E73-A9D8-EAE3367950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970700" cy="359931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What is Multithreading?</a:t>
            </a:r>
          </a:p>
          <a:p>
            <a:r>
              <a:rPr lang="en-US" dirty="0"/>
              <a:t>Executing multiple tasks</a:t>
            </a:r>
          </a:p>
          <a:p>
            <a:pPr marL="0" indent="0">
              <a:buNone/>
            </a:pPr>
            <a:r>
              <a:rPr lang="en-US" dirty="0"/>
              <a:t> simultaneously.</a:t>
            </a:r>
          </a:p>
          <a:p>
            <a:r>
              <a:rPr lang="en-US" b="1" dirty="0"/>
              <a:t>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Runnable Interface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 Pools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Resource Utilization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8E72336D-92A9-4A37-B2BC-82EE864279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591" y="2088516"/>
            <a:ext cx="4131733" cy="2329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BBEFB665-5C70-4CAB-A611-0BF4ACEF0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5254" y="2149758"/>
            <a:ext cx="3614031" cy="2709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002FCBAC-0C2B-4794-8BFD-7845E4782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428" y="4565120"/>
            <a:ext cx="2466883" cy="2055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445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4ABE2-FB5A-484C-BAEC-E03DFBF4A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JDBC and Database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72F64-A400-4525-9612-CC990DCEB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899" y="2108462"/>
            <a:ext cx="3812657" cy="441651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JDBC</a:t>
            </a:r>
          </a:p>
          <a:p>
            <a:r>
              <a:rPr lang="en-IN" dirty="0"/>
              <a:t>Java Database Connectivity allows</a:t>
            </a:r>
          </a:p>
          <a:p>
            <a:pPr marL="0" indent="0">
              <a:buNone/>
            </a:pPr>
            <a:r>
              <a:rPr lang="en-IN" dirty="0"/>
              <a:t>Java applications to communicate</a:t>
            </a:r>
          </a:p>
          <a:p>
            <a:pPr marL="0" indent="0">
              <a:buNone/>
            </a:pPr>
            <a:r>
              <a:rPr lang="en-IN" dirty="0"/>
              <a:t>with databases.</a:t>
            </a:r>
          </a:p>
          <a:p>
            <a:r>
              <a:rPr lang="en-IN" b="1" dirty="0"/>
              <a:t>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Establish Connection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Execute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Retrieve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Manage Transactions </a:t>
            </a:r>
          </a:p>
          <a:p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Secure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Reliable Data Access </a:t>
            </a:r>
          </a:p>
          <a:p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DC97A948-9E14-466B-AF26-C58BFECA14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4756" y="2096720"/>
            <a:ext cx="3262488" cy="2664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44CA09F8-AFA5-447C-A028-6435FA518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6844" y="5023833"/>
            <a:ext cx="1533841" cy="1557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Creating a Simple Web Application Using a MySQL Database">
            <a:extLst>
              <a:ext uri="{FF2B5EF4-FFF2-40B4-BE49-F238E27FC236}">
                <a16:creationId xmlns:a16="http://schemas.microsoft.com/office/drawing/2014/main" id="{F409B73B-652D-497D-9072-32DB5F857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7955" y="2175571"/>
            <a:ext cx="2517423" cy="2585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873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83A7-81E0-4525-B306-F054B76F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Hibernate 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645F7-309C-4367-B184-36E89B4D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304656" cy="359931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is ORM?</a:t>
            </a:r>
          </a:p>
          <a:p>
            <a:r>
              <a:rPr lang="en-US" dirty="0"/>
              <a:t>Object Relational Mapping connects Java objects with database tables.</a:t>
            </a:r>
          </a:p>
          <a:p>
            <a:r>
              <a:rPr lang="en-US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Entity Mapping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CRUD Operations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Query Language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 Management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SQL Coding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Development</a:t>
            </a:r>
          </a:p>
          <a:p>
            <a:endParaRPr lang="en-IN" dirty="0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02E629CB-F154-4DBE-A39E-2914B22A6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978" y="2221237"/>
            <a:ext cx="3210453" cy="2415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>
            <a:extLst>
              <a:ext uri="{FF2B5EF4-FFF2-40B4-BE49-F238E27FC236}">
                <a16:creationId xmlns:a16="http://schemas.microsoft.com/office/drawing/2014/main" id="{8D13A2F8-3233-4733-874E-822ABC244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134" y="2087671"/>
            <a:ext cx="4031544" cy="2687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4" name="Picture 6">
            <a:extLst>
              <a:ext uri="{FF2B5EF4-FFF2-40B4-BE49-F238E27FC236}">
                <a16:creationId xmlns:a16="http://schemas.microsoft.com/office/drawing/2014/main" id="{B9FB06E2-F6ED-409B-B18F-745687DD1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759" y="4922233"/>
            <a:ext cx="4257147" cy="1718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778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9A761-44F0-4549-A716-635BF7AE3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Framework &amp;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D822C-20B1-4932-95B1-24E67A9CE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236923" cy="359931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Spring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Dependency Injection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MVC Architecture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Access </a:t>
            </a:r>
          </a:p>
          <a:p>
            <a:r>
              <a:rPr lang="en-US" b="1" dirty="0"/>
              <a:t>Spring Boot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 Configuration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Development </a:t>
            </a:r>
          </a:p>
          <a:p>
            <a:r>
              <a:rPr lang="en-US" b="1" dirty="0"/>
              <a:t>Why Use It?</a:t>
            </a:r>
          </a:p>
          <a:p>
            <a:r>
              <a:rPr lang="en-US" dirty="0"/>
              <a:t>Simplifies enterprise application development.</a:t>
            </a:r>
          </a:p>
          <a:p>
            <a:endParaRPr lang="en-IN" dirty="0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4B4989DE-22CB-4C88-83DF-5B74C56CC0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228" y="2114116"/>
            <a:ext cx="3410479" cy="262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>
            <a:extLst>
              <a:ext uri="{FF2B5EF4-FFF2-40B4-BE49-F238E27FC236}">
                <a16:creationId xmlns:a16="http://schemas.microsoft.com/office/drawing/2014/main" id="{0C2E1582-F76D-4161-9786-19F75F799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312" y="2172725"/>
            <a:ext cx="3125870" cy="2094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0367B660-6C40-4F72-95C1-2367EFDFC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8312" y="4605363"/>
            <a:ext cx="2720622" cy="1867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1361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C272C-C3DC-4204-9689-48D8BFE56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RESTful APIs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15441-F401-4B3B-8DF4-F46190D57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2457990" cy="3599316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What are REST APIs?</a:t>
            </a:r>
          </a:p>
          <a:p>
            <a:r>
              <a:rPr lang="en-US" dirty="0"/>
              <a:t>A communication </a:t>
            </a:r>
          </a:p>
          <a:p>
            <a:pPr marL="0" indent="0">
              <a:buNone/>
            </a:pPr>
            <a:r>
              <a:rPr lang="en-US" dirty="0"/>
              <a:t>bridge between </a:t>
            </a:r>
          </a:p>
          <a:p>
            <a:pPr marL="0" indent="0">
              <a:buNone/>
            </a:pPr>
            <a:r>
              <a:rPr lang="en-US" dirty="0"/>
              <a:t>frontend and backend.</a:t>
            </a:r>
          </a:p>
          <a:p>
            <a:r>
              <a:rPr lang="en-US" b="1" dirty="0"/>
              <a:t>HTTP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Platform Independent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 Communication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Integration </a:t>
            </a:r>
          </a:p>
          <a:p>
            <a:endParaRPr lang="en-IN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FF092AA-89C3-49EB-A239-D4993A64C9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4186" y="2224545"/>
            <a:ext cx="3711057" cy="1856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0" name="Picture 4">
            <a:extLst>
              <a:ext uri="{FF2B5EF4-FFF2-40B4-BE49-F238E27FC236}">
                <a16:creationId xmlns:a16="http://schemas.microsoft.com/office/drawing/2014/main" id="{6AC2CE53-95D1-4A80-AA1E-72C9C6FCE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0967" y="2165632"/>
            <a:ext cx="4532369" cy="214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21FD198A-0367-4353-9DF2-EBFBE722F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700" y="4488849"/>
            <a:ext cx="3190523" cy="21270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8011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B1ADF-7268-44ED-8812-1AFAEFA80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Testing, Version Control &amp; Career Opportunities</a:t>
            </a:r>
            <a:br>
              <a:rPr lang="en-US" b="1" dirty="0"/>
            </a:br>
            <a:r>
              <a:rPr lang="en-US" b="1" dirty="0"/>
              <a:t>Testing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48CE3-9ED1-4BE7-AEAA-13CFD53FD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410" y="2201405"/>
            <a:ext cx="3767501" cy="4346149"/>
          </a:xfrm>
        </p:spPr>
        <p:txBody>
          <a:bodyPr>
            <a:normAutofit fontScale="47500" lnSpcReduction="20000"/>
          </a:bodyPr>
          <a:lstStyle/>
          <a:p>
            <a:r>
              <a:rPr lang="en-IN" b="1" dirty="0"/>
              <a:t>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JUnit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Unit Testing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Integration Testing </a:t>
            </a:r>
          </a:p>
          <a:p>
            <a:r>
              <a:rPr lang="en-IN" b="1" dirty="0"/>
              <a:t>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GitHub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Branching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Collaboration </a:t>
            </a:r>
          </a:p>
          <a:p>
            <a:r>
              <a:rPr lang="en-IN" b="1" dirty="0"/>
              <a:t>Career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Java Full Stack Developer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Backend Developer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Software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Application Developer </a:t>
            </a:r>
          </a:p>
          <a:p>
            <a:r>
              <a:rPr lang="en-IN" b="1" dirty="0"/>
              <a:t>Conclusion</a:t>
            </a:r>
          </a:p>
          <a:p>
            <a:r>
              <a:rPr lang="en-IN" dirty="0"/>
              <a:t>Java Full Stack combines frontend, backend, databases, APIs, and testing to build complete enterprise-grade applications. </a:t>
            </a:r>
          </a:p>
          <a:p>
            <a:endParaRPr lang="en-IN" dirty="0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DDB7136E-6D25-4FD2-9D78-5F079562D1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599" y="2201405"/>
            <a:ext cx="2920652" cy="2929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>
            <a:extLst>
              <a:ext uri="{FF2B5EF4-FFF2-40B4-BE49-F238E27FC236}">
                <a16:creationId xmlns:a16="http://schemas.microsoft.com/office/drawing/2014/main" id="{0EC0C299-61F9-479C-B4B4-A474C8ABD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146689"/>
            <a:ext cx="4520225" cy="2277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>
            <a:extLst>
              <a:ext uri="{FF2B5EF4-FFF2-40B4-BE49-F238E27FC236}">
                <a16:creationId xmlns:a16="http://schemas.microsoft.com/office/drawing/2014/main" id="{32851D4A-4FF4-42E2-99FB-E0A9D62499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0349" y="4589711"/>
            <a:ext cx="2698894" cy="2070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0776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307D-2979-4921-8214-A31FC2FA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Java Full Stack Development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E7890-8DDF-4BF1-8C57-2F6EAD15F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061011" cy="384943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What is Java Full Stack?</a:t>
            </a:r>
          </a:p>
          <a:p>
            <a:r>
              <a:rPr lang="en-US" dirty="0"/>
              <a:t>Java Full Stack Development involves</a:t>
            </a:r>
          </a:p>
          <a:p>
            <a:pPr marL="0" indent="0">
              <a:buNone/>
            </a:pPr>
            <a:r>
              <a:rPr lang="en-US" dirty="0"/>
              <a:t>building complete web applications</a:t>
            </a:r>
          </a:p>
          <a:p>
            <a:pPr marL="0" indent="0">
              <a:buNone/>
            </a:pPr>
            <a:r>
              <a:rPr lang="en-US" dirty="0"/>
              <a:t>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Frontend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Backend Technologies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APIs and Web Services </a:t>
            </a:r>
          </a:p>
          <a:p>
            <a:r>
              <a:rPr lang="en-US" b="1" dirty="0"/>
              <a:t>Why Learn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End-to-end application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industry demand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Enterprise application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career opportunities</a:t>
            </a:r>
          </a:p>
          <a:p>
            <a:endParaRPr lang="en-IN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4E39161C-CCBB-456D-BCA4-A8256E9E1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5912" y="2164681"/>
            <a:ext cx="4193822" cy="2096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57A5D2-F4B4-4DA7-83EB-432586D8D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3" y="2336873"/>
            <a:ext cx="3053793" cy="1602949"/>
          </a:xfrm>
          <a:prstGeom prst="rect">
            <a:avLst/>
          </a:prstGeom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AF7836BF-C87D-4B3F-8CB6-B4B803BF1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493" y="4442529"/>
            <a:ext cx="5058481" cy="2157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118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9DC77-4136-49D3-ACC2-753A1D963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Full Stack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FAA7-2F04-4F47-AADC-666945370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4444835" cy="3599316"/>
          </a:xfrm>
        </p:spPr>
        <p:txBody>
          <a:bodyPr>
            <a:normAutofit fontScale="62500" lnSpcReduction="20000"/>
          </a:bodyPr>
          <a:lstStyle/>
          <a:p>
            <a:r>
              <a:rPr lang="en-IN" b="1" dirty="0"/>
              <a:t>Application Layers</a:t>
            </a:r>
          </a:p>
          <a:p>
            <a:pPr>
              <a:buFont typeface="+mj-lt"/>
              <a:buAutoNum type="arabicPeriod"/>
            </a:pPr>
            <a:r>
              <a:rPr lang="en-IN" dirty="0"/>
              <a:t>Client Layer (Browser) </a:t>
            </a:r>
          </a:p>
          <a:p>
            <a:pPr>
              <a:buFont typeface="+mj-lt"/>
              <a:buAutoNum type="arabicPeriod"/>
            </a:pPr>
            <a:r>
              <a:rPr lang="en-IN" dirty="0"/>
              <a:t>Presentation Layer </a:t>
            </a:r>
          </a:p>
          <a:p>
            <a:pPr>
              <a:buFont typeface="+mj-lt"/>
              <a:buAutoNum type="arabicPeriod"/>
            </a:pPr>
            <a:r>
              <a:rPr lang="en-IN" dirty="0"/>
              <a:t>Business Logic Layer </a:t>
            </a:r>
          </a:p>
          <a:p>
            <a:pPr>
              <a:buFont typeface="+mj-lt"/>
              <a:buAutoNum type="arabicPeriod"/>
            </a:pPr>
            <a:r>
              <a:rPr lang="en-IN" dirty="0"/>
              <a:t>Database Layer </a:t>
            </a:r>
          </a:p>
          <a:p>
            <a:r>
              <a:rPr lang="en-IN" b="1" dirty="0"/>
              <a:t>Flow</a:t>
            </a:r>
          </a:p>
          <a:p>
            <a:r>
              <a:rPr lang="en-IN" dirty="0"/>
              <a:t>User → Frontend → Server → Database → Server → Frontend</a:t>
            </a:r>
          </a:p>
          <a:p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Scalability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Security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Maintainability</a:t>
            </a:r>
          </a:p>
          <a:p>
            <a:endParaRPr lang="en-IN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F539A681-6FBF-4C09-9F59-3C7D112C51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239" y="1983357"/>
            <a:ext cx="2474383" cy="2474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>
            <a:extLst>
              <a:ext uri="{FF2B5EF4-FFF2-40B4-BE49-F238E27FC236}">
                <a16:creationId xmlns:a16="http://schemas.microsoft.com/office/drawing/2014/main" id="{6BDB4184-9350-469A-BA19-1610DCDC6F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778" y="2111022"/>
            <a:ext cx="4010918" cy="238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>
            <a:extLst>
              <a:ext uri="{FF2B5EF4-FFF2-40B4-BE49-F238E27FC236}">
                <a16:creationId xmlns:a16="http://schemas.microsoft.com/office/drawing/2014/main" id="{C8B8EA3B-4645-4321-AC00-84F6A4A9B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386" y="4686924"/>
            <a:ext cx="2880783" cy="1919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0344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E72F8-1FFA-4770-AA03-E566B178F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Core Java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C298D-4517-4137-9F03-EF94AD222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090167" cy="359931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Topics Covered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Input and Output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Control Statements </a:t>
            </a:r>
          </a:p>
          <a:p>
            <a:r>
              <a:rPr lang="en-US" b="1" dirty="0"/>
              <a:t>Importance</a:t>
            </a:r>
          </a:p>
          <a:p>
            <a:r>
              <a:rPr lang="en-US" dirty="0"/>
              <a:t>Core Java forms the foundation of all backend development activities.</a:t>
            </a:r>
          </a:p>
          <a:p>
            <a:endParaRPr lang="en-IN" dirty="0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940A5E85-E953-4987-B008-EDEAFA26D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622" y="2243754"/>
            <a:ext cx="3396546" cy="191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>
            <a:extLst>
              <a:ext uri="{FF2B5EF4-FFF2-40B4-BE49-F238E27FC236}">
                <a16:creationId xmlns:a16="http://schemas.microsoft.com/office/drawing/2014/main" id="{381F4D9C-5F69-434D-BE13-3CD0A2E03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284" y="4725817"/>
            <a:ext cx="2535767" cy="1690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>
            <a:extLst>
              <a:ext uri="{FF2B5EF4-FFF2-40B4-BE49-F238E27FC236}">
                <a16:creationId xmlns:a16="http://schemas.microsoft.com/office/drawing/2014/main" id="{C5B1A6E6-8572-4152-8E0E-944D63DA1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545" y="2272063"/>
            <a:ext cx="3499299" cy="2332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96726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99B73-6C46-4CC5-99D3-6A484B28A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Flow Control &amp;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6EAA8-CC43-470C-B132-736B8C8A25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2"/>
            <a:ext cx="3022434" cy="400748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Flow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if-else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switch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loops </a:t>
            </a:r>
          </a:p>
          <a:p>
            <a:r>
              <a:rPr lang="en-US" b="1" dirty="0"/>
              <a:t>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 Declaration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Return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Method Overloading </a:t>
            </a:r>
          </a:p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Reusable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organization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readability</a:t>
            </a:r>
          </a:p>
          <a:p>
            <a:endParaRPr lang="en-IN" dirty="0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7ECCD627-39F1-43B8-86DE-7088F6C02C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4597" y="2159008"/>
            <a:ext cx="3333313" cy="22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4">
            <a:extLst>
              <a:ext uri="{FF2B5EF4-FFF2-40B4-BE49-F238E27FC236}">
                <a16:creationId xmlns:a16="http://schemas.microsoft.com/office/drawing/2014/main" id="{CC21E640-8B94-4AFF-8F7A-C7D61D6F4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4364" y="2181894"/>
            <a:ext cx="3943262" cy="222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2" name="Picture 6">
            <a:extLst>
              <a:ext uri="{FF2B5EF4-FFF2-40B4-BE49-F238E27FC236}">
                <a16:creationId xmlns:a16="http://schemas.microsoft.com/office/drawing/2014/main" id="{1EE05306-5835-4A16-BADB-5DBD1EED8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6155" y="4625623"/>
            <a:ext cx="2062868" cy="206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3274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B4E7D-00F0-4E1B-8AC2-88895A643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Object-Oriented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2DB99-3BD2-42CE-8339-68F753B7E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2040301" cy="3599316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OOP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Classes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Objects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Encapsulation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Inheritance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Polymorphism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Abstraction </a:t>
            </a:r>
          </a:p>
          <a:p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Flexibility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Maintainability</a:t>
            </a:r>
          </a:p>
          <a:p>
            <a:endParaRPr lang="en-IN" dirty="0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DCAC82DA-994F-4403-976F-CAEDB4084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622" y="2158529"/>
            <a:ext cx="3506612" cy="23377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>
            <a:extLst>
              <a:ext uri="{FF2B5EF4-FFF2-40B4-BE49-F238E27FC236}">
                <a16:creationId xmlns:a16="http://schemas.microsoft.com/office/drawing/2014/main" id="{A833D43E-4932-4DB4-AEAE-9D6156F66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222" y="2182988"/>
            <a:ext cx="4577644" cy="2288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>
            <a:extLst>
              <a:ext uri="{FF2B5EF4-FFF2-40B4-BE49-F238E27FC236}">
                <a16:creationId xmlns:a16="http://schemas.microsoft.com/office/drawing/2014/main" id="{1F574994-978B-4121-BD0B-BEE02B672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351" y="4674490"/>
            <a:ext cx="2149297" cy="1801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228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CD271-43BC-47BB-880B-14C1BE0C9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Collections Framework &amp; Generics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536F3-FADE-45C5-A673-664FB506B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406257" cy="359931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Collections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List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Queue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Map </a:t>
            </a:r>
          </a:p>
          <a:p>
            <a:r>
              <a:rPr lang="en-US" b="1" dirty="0"/>
              <a:t>Generics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Type Safety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Reusability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Performance </a:t>
            </a:r>
          </a:p>
          <a:p>
            <a:r>
              <a:rPr lang="en-US" b="1" dirty="0"/>
              <a:t>Applications</a:t>
            </a:r>
          </a:p>
          <a:p>
            <a:r>
              <a:rPr lang="en-US" dirty="0"/>
              <a:t>Managing and processing large amounts of data efficiently.</a:t>
            </a:r>
          </a:p>
          <a:p>
            <a:endParaRPr lang="en-IN" dirty="0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79C4E3A4-3AB6-4550-BA28-88B2B6538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055" y="2173109"/>
            <a:ext cx="3293534" cy="2195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8" name="Picture 4" descr="Data Structures and Types">
            <a:extLst>
              <a:ext uri="{FF2B5EF4-FFF2-40B4-BE49-F238E27FC236}">
                <a16:creationId xmlns:a16="http://schemas.microsoft.com/office/drawing/2014/main" id="{C1A8481C-EDC2-459D-8F94-107D911343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6233" y="2157385"/>
            <a:ext cx="4267189" cy="2428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Java Intermediate Guide: Expanding Your Skills | by 6775 ROHIT JADHAV | Medium">
            <a:extLst>
              <a:ext uri="{FF2B5EF4-FFF2-40B4-BE49-F238E27FC236}">
                <a16:creationId xmlns:a16="http://schemas.microsoft.com/office/drawing/2014/main" id="{172166F6-36B1-4205-82EE-C73E72E70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9371" y="4909432"/>
            <a:ext cx="3610154" cy="1690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50605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27AB-30A2-476E-B19F-D8345FEB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Multithreading &amp; Lambda 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3550D-B153-4F8A-899C-3FFA38A30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2"/>
            <a:ext cx="2627322" cy="376789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Multithreading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Thread Creation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Synchronization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Concurrency </a:t>
            </a:r>
          </a:p>
          <a:p>
            <a:r>
              <a:rPr lang="en-US" b="1" dirty="0"/>
              <a:t>Lambda Expressions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Functional Programming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Cleaner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Improved Readability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execution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resource utilization</a:t>
            </a:r>
          </a:p>
          <a:p>
            <a:endParaRPr lang="en-IN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507BEACF-1A4A-4462-A4FA-111888907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195" y="2104683"/>
            <a:ext cx="4267200" cy="2405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989448D5-5FDA-4CDC-AAF8-C75CAA153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947" y="2196850"/>
            <a:ext cx="3357386" cy="2221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EE17DD57-BDC5-476E-B225-FE5E9C6226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689" y="4781056"/>
            <a:ext cx="3104444" cy="1766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540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D78E7-031B-49E6-93C9-819B41C0B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 Handling, Debugging &amp;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6C6D5-D76F-4BB7-9C11-01341B1E6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2582168" cy="359931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File Handling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Reading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Writing Files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File Operations </a:t>
            </a:r>
          </a:p>
          <a:p>
            <a:r>
              <a:rPr lang="en-US" b="1" dirty="0"/>
              <a:t>Debugging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Finding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Analysis </a:t>
            </a:r>
          </a:p>
          <a:p>
            <a:r>
              <a:rPr lang="en-US" b="1" dirty="0"/>
              <a:t>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Version Control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Source Code Management</a:t>
            </a:r>
          </a:p>
          <a:p>
            <a:endParaRPr lang="en-IN" dirty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250C6137-9958-4287-BBA4-E695E0F57C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2815" y="2175866"/>
            <a:ext cx="3780742" cy="1904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6" name="Picture 4">
            <a:extLst>
              <a:ext uri="{FF2B5EF4-FFF2-40B4-BE49-F238E27FC236}">
                <a16:creationId xmlns:a16="http://schemas.microsoft.com/office/drawing/2014/main" id="{DDE65566-A62B-413C-8F5F-996D2151E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3882" y="2224558"/>
            <a:ext cx="2591892" cy="1855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558" name="Picture 6">
            <a:extLst>
              <a:ext uri="{FF2B5EF4-FFF2-40B4-BE49-F238E27FC236}">
                <a16:creationId xmlns:a16="http://schemas.microsoft.com/office/drawing/2014/main" id="{3A0C56E1-EA6D-428F-8175-D84A3269DF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821" y="4422213"/>
            <a:ext cx="4729007" cy="2040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47497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19109-E0CA-4200-829B-A639FB28D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JSP and Servlets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C10A-4C0E-435D-BF6A-908F9831F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4219056" cy="3996194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Purpose</a:t>
            </a:r>
          </a:p>
          <a:p>
            <a:r>
              <a:rPr lang="en-IN" dirty="0"/>
              <a:t>Build dynamic web applications.</a:t>
            </a:r>
          </a:p>
          <a:p>
            <a:r>
              <a:rPr lang="en-IN" b="1" dirty="0"/>
              <a:t>Topics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Servlet Lifecycle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Request &amp; Response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Forms Processing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Session Management </a:t>
            </a:r>
          </a:p>
          <a:p>
            <a:r>
              <a:rPr lang="en-IN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Dynamic Content Generation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User Interaction Handling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Server-side Processing </a:t>
            </a:r>
          </a:p>
          <a:p>
            <a:endParaRPr lang="en-IN" dirty="0"/>
          </a:p>
        </p:txBody>
      </p:sp>
      <p:pic>
        <p:nvPicPr>
          <p:cNvPr id="24578" name="Picture 2">
            <a:extLst>
              <a:ext uri="{FF2B5EF4-FFF2-40B4-BE49-F238E27FC236}">
                <a16:creationId xmlns:a16="http://schemas.microsoft.com/office/drawing/2014/main" id="{ECE2BDFD-F9DF-4532-8943-1842DD1074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0" y="2251192"/>
            <a:ext cx="2730500" cy="235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80" name="Picture 4">
            <a:extLst>
              <a:ext uri="{FF2B5EF4-FFF2-40B4-BE49-F238E27FC236}">
                <a16:creationId xmlns:a16="http://schemas.microsoft.com/office/drawing/2014/main" id="{6A1F0FAB-AFE2-484E-AD17-973EC66C65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0213" y="2336873"/>
            <a:ext cx="4284720" cy="186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02A563-9849-4E5B-866A-2D802D5813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329" y="4410748"/>
            <a:ext cx="3490559" cy="210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576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FAC33-4187-481B-985D-8593DA048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JavaBeans &amp; JSTL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2CBA8-B6EA-44F8-AFD4-607A150ED7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2728923" cy="3599316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JavaBeans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Reusable Components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Encapsulation </a:t>
            </a:r>
          </a:p>
          <a:p>
            <a:r>
              <a:rPr lang="en-IN" b="1" dirty="0"/>
              <a:t>JSTL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Core Tags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Functions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Formatting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XML Processing </a:t>
            </a:r>
          </a:p>
          <a:p>
            <a:r>
              <a:rPr lang="en-IN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Cleaner JSP Code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Improved Maintainability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87BD01-FDC4-4990-90B9-1B72FA339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40" y="2103114"/>
            <a:ext cx="4791075" cy="2895600"/>
          </a:xfrm>
          <a:prstGeom prst="rect">
            <a:avLst/>
          </a:prstGeom>
        </p:spPr>
      </p:pic>
      <p:pic>
        <p:nvPicPr>
          <p:cNvPr id="25602" name="Picture 2">
            <a:extLst>
              <a:ext uri="{FF2B5EF4-FFF2-40B4-BE49-F238E27FC236}">
                <a16:creationId xmlns:a16="http://schemas.microsoft.com/office/drawing/2014/main" id="{6E6CC681-1126-457C-9234-5918404E36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1437" y="5157413"/>
            <a:ext cx="2077456" cy="155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5402D9-341C-44FC-B778-CAD79654F1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640" y="2183906"/>
            <a:ext cx="2945370" cy="2444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432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34CA5-16DE-4436-8D53-2980659C2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Database Connectivity &amp; CRUD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22D19-3148-42A9-87D2-26FB5A3C4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2"/>
            <a:ext cx="4083590" cy="4120371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Database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Insert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Update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Delete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Display Records </a:t>
            </a:r>
          </a:p>
          <a:p>
            <a:r>
              <a:rPr lang="en-IN" b="1" dirty="0"/>
              <a:t>Database Connectivity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JDBC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SQL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Data Management </a:t>
            </a:r>
          </a:p>
          <a:p>
            <a:r>
              <a:rPr lang="en-IN" b="1" dirty="0"/>
              <a:t>Importance</a:t>
            </a:r>
          </a:p>
          <a:p>
            <a:r>
              <a:rPr lang="en-IN" dirty="0"/>
              <a:t>Persistent data storage and retrieval. </a:t>
            </a:r>
          </a:p>
          <a:p>
            <a:r>
              <a:rPr lang="en-IN" dirty="0"/>
              <a:t>CRUD Create , Read , Update and Delete </a:t>
            </a:r>
          </a:p>
        </p:txBody>
      </p:sp>
      <p:pic>
        <p:nvPicPr>
          <p:cNvPr id="26626" name="Picture 2">
            <a:extLst>
              <a:ext uri="{FF2B5EF4-FFF2-40B4-BE49-F238E27FC236}">
                <a16:creationId xmlns:a16="http://schemas.microsoft.com/office/drawing/2014/main" id="{C072BF4E-535C-45D7-A3FB-4283EFF2F9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8186" y="2197203"/>
            <a:ext cx="3460931" cy="2826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8" name="Picture 4">
            <a:extLst>
              <a:ext uri="{FF2B5EF4-FFF2-40B4-BE49-F238E27FC236}">
                <a16:creationId xmlns:a16="http://schemas.microsoft.com/office/drawing/2014/main" id="{D9C214F1-74CE-4307-8CA4-116ECE877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3289" y="2197203"/>
            <a:ext cx="4109155" cy="2306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30" name="Picture 6">
            <a:extLst>
              <a:ext uri="{FF2B5EF4-FFF2-40B4-BE49-F238E27FC236}">
                <a16:creationId xmlns:a16="http://schemas.microsoft.com/office/drawing/2014/main" id="{474667E6-899F-44B4-81E2-E064A93BD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776" y="4718755"/>
            <a:ext cx="2719726" cy="2012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750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0815-A533-4D82-963E-444DFC899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Hibernate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5A7BD-8517-40BF-AB7B-2AAAF494D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078" y="2253658"/>
            <a:ext cx="4128746" cy="3599316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What is Hibernate?</a:t>
            </a:r>
          </a:p>
          <a:p>
            <a:r>
              <a:rPr lang="en-US" dirty="0"/>
              <a:t>An Object Relational Mapping (ORM) framework.</a:t>
            </a:r>
          </a:p>
          <a:p>
            <a:r>
              <a:rPr lang="en-US" b="1" dirty="0"/>
              <a:t>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Entity Mapping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HQL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Session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Database Abstraction </a:t>
            </a:r>
          </a:p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Less SQL Coding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Faster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Better Productivity </a:t>
            </a:r>
          </a:p>
          <a:p>
            <a:endParaRPr lang="en-IN" dirty="0"/>
          </a:p>
        </p:txBody>
      </p:sp>
      <p:pic>
        <p:nvPicPr>
          <p:cNvPr id="27650" name="Picture 2">
            <a:extLst>
              <a:ext uri="{FF2B5EF4-FFF2-40B4-BE49-F238E27FC236}">
                <a16:creationId xmlns:a16="http://schemas.microsoft.com/office/drawing/2014/main" id="{9A93444B-6AF3-4322-BD90-749B33F2E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9425" y="2075555"/>
            <a:ext cx="3285064" cy="2471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>
            <a:extLst>
              <a:ext uri="{FF2B5EF4-FFF2-40B4-BE49-F238E27FC236}">
                <a16:creationId xmlns:a16="http://schemas.microsoft.com/office/drawing/2014/main" id="{DD108281-7C27-4FC7-866C-A8FE19A5A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0793" y="2104886"/>
            <a:ext cx="3619500" cy="241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>
            <a:extLst>
              <a:ext uri="{FF2B5EF4-FFF2-40B4-BE49-F238E27FC236}">
                <a16:creationId xmlns:a16="http://schemas.microsoft.com/office/drawing/2014/main" id="{70193290-39D2-4F70-A657-CA64535C63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6037" y="4697274"/>
            <a:ext cx="3604506" cy="1895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708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5372D-40DF-4FA8-A9D5-A1DC43D11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Spring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D970F-0D03-4D52-A054-405C205E4A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500" y="2325584"/>
            <a:ext cx="3327234" cy="407521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Key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Inversion of Control (IoC)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Dependency Injection (DI)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Beans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Spring MVC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Form Validation </a:t>
            </a:r>
          </a:p>
          <a:p>
            <a:r>
              <a:rPr lang="en-US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Modular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Loose Coupling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Easier Maintenance </a:t>
            </a:r>
          </a:p>
          <a:p>
            <a:endParaRPr lang="en-IN" dirty="0"/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C3D27ED5-7910-41E0-AA3B-5668BD3FC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1314" y="2098331"/>
            <a:ext cx="2634281" cy="248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6" name="Picture 4">
            <a:extLst>
              <a:ext uri="{FF2B5EF4-FFF2-40B4-BE49-F238E27FC236}">
                <a16:creationId xmlns:a16="http://schemas.microsoft.com/office/drawing/2014/main" id="{121771B9-C7A8-472E-AA08-9F5C2F687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033" y="4797777"/>
            <a:ext cx="2791712" cy="1902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8" name="Picture 6">
            <a:extLst>
              <a:ext uri="{FF2B5EF4-FFF2-40B4-BE49-F238E27FC236}">
                <a16:creationId xmlns:a16="http://schemas.microsoft.com/office/drawing/2014/main" id="{CBFD09F9-A0AE-48B1-94CF-3CEBB6E88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546" y="2153461"/>
            <a:ext cx="2876020" cy="222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39079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81B9-1CAC-4DB0-A626-025255C25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REST APIs &amp;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2377-3A0A-416B-90FB-DB27898431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53012" cy="359931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REST API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DELETE </a:t>
            </a:r>
          </a:p>
          <a:p>
            <a:r>
              <a:rPr lang="en-US" b="1" dirty="0"/>
              <a:t>Spring Boot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 Configuration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REST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Rapid Development </a:t>
            </a:r>
          </a:p>
          <a:p>
            <a:r>
              <a:rPr lang="en-US" b="1" dirty="0"/>
              <a:t>Why Important?</a:t>
            </a:r>
          </a:p>
          <a:p>
            <a:r>
              <a:rPr lang="en-US" dirty="0"/>
              <a:t>Modern applications communicate through APIs and microservices.</a:t>
            </a:r>
          </a:p>
          <a:p>
            <a:endParaRPr lang="en-IN" dirty="0"/>
          </a:p>
        </p:txBody>
      </p:sp>
      <p:pic>
        <p:nvPicPr>
          <p:cNvPr id="29698" name="Picture 2">
            <a:extLst>
              <a:ext uri="{FF2B5EF4-FFF2-40B4-BE49-F238E27FC236}">
                <a16:creationId xmlns:a16="http://schemas.microsoft.com/office/drawing/2014/main" id="{585E4438-3F09-49B7-9C05-D59FED3819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629" y="2213076"/>
            <a:ext cx="4147818" cy="2074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0" name="Picture 4">
            <a:extLst>
              <a:ext uri="{FF2B5EF4-FFF2-40B4-BE49-F238E27FC236}">
                <a16:creationId xmlns:a16="http://schemas.microsoft.com/office/drawing/2014/main" id="{D8EFE688-7824-49CA-8F7A-80AB41212F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559" y="4629890"/>
            <a:ext cx="2933903" cy="189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702" name="Picture 6">
            <a:extLst>
              <a:ext uri="{FF2B5EF4-FFF2-40B4-BE49-F238E27FC236}">
                <a16:creationId xmlns:a16="http://schemas.microsoft.com/office/drawing/2014/main" id="{45AF4AD2-B4C6-4D77-96F8-2E7E515747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8356" y="2336873"/>
            <a:ext cx="4003322" cy="2668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7417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496F3-8922-4368-A104-9F2AD71BD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Career Path &amp; 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B65BE-A79D-4E32-A61C-A822CCB65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0" y="2336872"/>
            <a:ext cx="3406257" cy="4147826"/>
          </a:xfrm>
        </p:spPr>
        <p:txBody>
          <a:bodyPr>
            <a:normAutofit fontScale="92500" lnSpcReduction="20000"/>
          </a:bodyPr>
          <a:lstStyle/>
          <a:p>
            <a:r>
              <a:rPr lang="en-IN" sz="1100" b="1" dirty="0"/>
              <a:t>Skills Acquired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Core Java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Web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Database Management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Frameworks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REST APIs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Microservices </a:t>
            </a:r>
          </a:p>
          <a:p>
            <a:r>
              <a:rPr lang="en-IN" sz="1100" b="1" dirty="0"/>
              <a:t>Career Opportunities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Java Full Stack Developer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Backend Developer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Software Engineer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100" dirty="0"/>
              <a:t>Web Application Developer </a:t>
            </a:r>
          </a:p>
          <a:p>
            <a:r>
              <a:rPr lang="en-IN" sz="1100" b="1" dirty="0"/>
              <a:t>Final Outcome</a:t>
            </a:r>
          </a:p>
          <a:p>
            <a:r>
              <a:rPr lang="en-IN" sz="1100" dirty="0"/>
              <a:t>Develop a complete enterprise</a:t>
            </a:r>
          </a:p>
          <a:p>
            <a:pPr marL="0" indent="0">
              <a:buNone/>
            </a:pPr>
            <a:r>
              <a:rPr lang="en-IN" sz="1100" dirty="0"/>
              <a:t>grade web application using Java</a:t>
            </a:r>
          </a:p>
          <a:p>
            <a:pPr marL="0" indent="0">
              <a:buNone/>
            </a:pPr>
            <a:r>
              <a:rPr lang="en-IN" sz="1100" dirty="0"/>
              <a:t>technologies from frontend to</a:t>
            </a:r>
          </a:p>
          <a:p>
            <a:pPr marL="0" indent="0">
              <a:buNone/>
            </a:pPr>
            <a:r>
              <a:rPr lang="en-IN" sz="1100" dirty="0"/>
              <a:t>deployment.</a:t>
            </a:r>
          </a:p>
          <a:p>
            <a:endParaRPr lang="en-IN" sz="1100" dirty="0"/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6850C115-F8C5-410B-98F3-624E91B03B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7433" y="2223443"/>
            <a:ext cx="2957688" cy="226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>
            <a:extLst>
              <a:ext uri="{FF2B5EF4-FFF2-40B4-BE49-F238E27FC236}">
                <a16:creationId xmlns:a16="http://schemas.microsoft.com/office/drawing/2014/main" id="{20B8EF4C-688E-481F-9EE6-57198E3C8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1078" y="2223443"/>
            <a:ext cx="3442171" cy="1936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556D64-DF45-49B5-BEAD-B2824F289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377" y="4492527"/>
            <a:ext cx="4278489" cy="199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56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C99C6-0A0E-4E1B-A970-A17635A60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93CCE8-1D3D-48B0-864F-D4B69363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notes </a:t>
            </a:r>
            <a:r>
              <a:rPr lang="en-IN" dirty="0" err="1"/>
              <a:t>Notes</a:t>
            </a:r>
            <a:r>
              <a:rPr lang="en-IN" dirty="0"/>
              <a:t> </a:t>
            </a:r>
            <a:r>
              <a:rPr lang="en-IN" dirty="0" err="1"/>
              <a:t>NOTES</a:t>
            </a:r>
            <a:r>
              <a:rPr lang="en-IN" dirty="0"/>
              <a:t> ( Notes 1 To Notes 6 ) - </a:t>
            </a:r>
            <a:r>
              <a:rPr lang="en-IN" dirty="0">
                <a:hlinkClick r:id="rId2"/>
              </a:rPr>
              <a:t>https://github.com/Narthana-Elysium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https://www.google.com/search?q=Full+Stack+Java+Tutorial&amp;oq=&amp;gs_lcrp=EgZjaHJvbWUqCQgBEEUYOxjCAzIJCAAQRRg7GMIDMgkIARBFGDsYwgMyEQgCEAAYAxhCGI8BGLQCGOoCMhEIAxAAGAMYQhiPARi0AhjqAjIRCAQQABgDGEIYjwEYtAIY6gIyEQgFEAAYAxhCGI8BGLQCGOoCMhEIBhAAGAMYQhiPARi0AhjqAjIRCAcQABgDGEIYjwEYtAIY6gLSAQkxMzA3ajBqMTWoAgiwAgHxBWw6UAoSpGpq8QVsOlAKEqRqag&amp;sourceid=chrome&amp;ie=UTF-8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7347202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57</TotalTime>
  <Words>1028</Words>
  <Application>Microsoft Office PowerPoint</Application>
  <PresentationFormat>Widescreen</PresentationFormat>
  <Paragraphs>387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Trebuchet MS</vt:lpstr>
      <vt:lpstr>Berlin</vt:lpstr>
      <vt:lpstr>       Introduction to Java Full Stack  By Elysium Academy  </vt:lpstr>
      <vt:lpstr>Java Full Stack Architecture</vt:lpstr>
      <vt:lpstr>Who is a Java Full Stack Developer ?</vt:lpstr>
      <vt:lpstr>Frontend Technologies</vt:lpstr>
      <vt:lpstr>Backend Technologies</vt:lpstr>
      <vt:lpstr>Database Layer</vt:lpstr>
      <vt:lpstr>Core Java Fundamentals</vt:lpstr>
      <vt:lpstr>Object-Oriented Programming System or Structure ( OOPS )</vt:lpstr>
      <vt:lpstr>Collections and Generics</vt:lpstr>
      <vt:lpstr>Multithreading</vt:lpstr>
      <vt:lpstr>JDBC and Database Connectivity</vt:lpstr>
      <vt:lpstr>Hibernate ORM</vt:lpstr>
      <vt:lpstr>Spring Framework &amp; Spring Boot</vt:lpstr>
      <vt:lpstr>RESTful APIs</vt:lpstr>
      <vt:lpstr>Testing, Version Control &amp; Career Opportunities Testing </vt:lpstr>
      <vt:lpstr>Introduction to Java Full Stack Development</vt:lpstr>
      <vt:lpstr>Full Stack Architecture</vt:lpstr>
      <vt:lpstr>Core Java Fundamentals</vt:lpstr>
      <vt:lpstr>Flow Control &amp; Methods</vt:lpstr>
      <vt:lpstr>Object-Oriented Programming</vt:lpstr>
      <vt:lpstr>Collections Framework &amp; Generics</vt:lpstr>
      <vt:lpstr>Multithreading &amp; Lambda Expressions</vt:lpstr>
      <vt:lpstr>File Handling, Debugging &amp; Git</vt:lpstr>
      <vt:lpstr>JSP and Servlets</vt:lpstr>
      <vt:lpstr>JavaBeans &amp; JSTL</vt:lpstr>
      <vt:lpstr>Database Connectivity &amp; CRUD Operations</vt:lpstr>
      <vt:lpstr>Hibernate Framework</vt:lpstr>
      <vt:lpstr>Spring Framework</vt:lpstr>
      <vt:lpstr>REST APIs &amp; Spring Boot</vt:lpstr>
      <vt:lpstr>Career Path &amp; Final Project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187</cp:revision>
  <dcterms:created xsi:type="dcterms:W3CDTF">2026-06-10T05:32:28Z</dcterms:created>
  <dcterms:modified xsi:type="dcterms:W3CDTF">2026-06-10T06:29:42Z</dcterms:modified>
</cp:coreProperties>
</file>