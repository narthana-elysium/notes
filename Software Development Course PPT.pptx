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2060-71A6-44C0-BC15-9608A2C7A6F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963E0E67-0901-413E-BAF2-0C30332745B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2060-71A6-44C0-BC15-9608A2C7A6F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E0E67-0901-413E-BAF2-0C30332745B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2060-71A6-44C0-BC15-9608A2C7A6F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963E0E67-0901-413E-BAF2-0C30332745B9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2060-71A6-44C0-BC15-9608A2C7A6F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E0E67-0901-413E-BAF2-0C30332745B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2060-71A6-44C0-BC15-9608A2C7A6F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E0E67-0901-413E-BAF2-0C30332745B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2060-71A6-44C0-BC15-9608A2C7A6F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E0E67-0901-413E-BAF2-0C30332745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2060-71A6-44C0-BC15-9608A2C7A6F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E0E67-0901-413E-BAF2-0C30332745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2060-71A6-44C0-BC15-9608A2C7A6F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E0E67-0901-413E-BAF2-0C30332745B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2060-71A6-44C0-BC15-9608A2C7A6F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963E0E67-0901-413E-BAF2-0C30332745B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2060-71A6-44C0-BC15-9608A2C7A6F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E0E67-0901-413E-BAF2-0C30332745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2060-71A6-44C0-BC15-9608A2C7A6F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E0E67-0901-413E-BAF2-0C30332745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3C42060-71A6-44C0-BC15-9608A2C7A6F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963E0E67-0901-413E-BAF2-0C30332745B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From Idea to Successful Software </a:t>
            </a:r>
            <a:r>
              <a:rPr lang="en-US" dirty="0" smtClean="0"/>
              <a:t>Product</a:t>
            </a:r>
          </a:p>
          <a:p>
            <a:r>
              <a:rPr lang="en-US" dirty="0" smtClean="0"/>
              <a:t>BY ELYSIUM ACADEMY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mtClean="0"/>
              <a:t>Software Development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Topics Covered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Introduction </a:t>
            </a:r>
            <a:endParaRPr lang="en-US" dirty="0" smtClean="0"/>
          </a:p>
          <a:p>
            <a:r>
              <a:rPr lang="en-US" dirty="0" smtClean="0"/>
              <a:t>Software </a:t>
            </a:r>
            <a:r>
              <a:rPr lang="en-US" dirty="0" smtClean="0"/>
              <a:t>Development Life Cycle (SDLC</a:t>
            </a:r>
            <a:r>
              <a:rPr lang="en-US" dirty="0" smtClean="0"/>
              <a:t>)</a:t>
            </a:r>
          </a:p>
          <a:p>
            <a:r>
              <a:rPr lang="en-US" dirty="0" smtClean="0"/>
              <a:t> </a:t>
            </a:r>
            <a:r>
              <a:rPr lang="en-US" dirty="0" smtClean="0"/>
              <a:t>Development Methodologies </a:t>
            </a:r>
            <a:endParaRPr lang="en-US" dirty="0" smtClean="0"/>
          </a:p>
          <a:p>
            <a:r>
              <a:rPr lang="en-US" dirty="0" smtClean="0"/>
              <a:t>Roles </a:t>
            </a:r>
            <a:r>
              <a:rPr lang="en-US" dirty="0" smtClean="0"/>
              <a:t>and Responsibilities </a:t>
            </a:r>
            <a:endParaRPr lang="en-US" dirty="0" smtClean="0"/>
          </a:p>
          <a:p>
            <a:r>
              <a:rPr lang="en-US" dirty="0" smtClean="0"/>
              <a:t>Challenges </a:t>
            </a:r>
            <a:r>
              <a:rPr lang="en-US" dirty="0" smtClean="0"/>
              <a:t>and Best </a:t>
            </a:r>
            <a:r>
              <a:rPr lang="en-US" dirty="0" smtClean="0"/>
              <a:t>Practices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 What is Software </a:t>
            </a:r>
            <a:r>
              <a:rPr lang="en-US" dirty="0" smtClean="0"/>
              <a:t>Development ?</a:t>
            </a:r>
          </a:p>
          <a:p>
            <a:r>
              <a:rPr lang="en-US" b="1" dirty="0" smtClean="0"/>
              <a:t>Definition</a:t>
            </a:r>
          </a:p>
          <a:p>
            <a:r>
              <a:rPr lang="en-US" dirty="0" smtClean="0"/>
              <a:t>Software Development is the process of designing, creating, testing, deploying, and maintaining software applications to solve specific problems or meet business needs. </a:t>
            </a:r>
          </a:p>
        </p:txBody>
      </p:sp>
      <p:pic>
        <p:nvPicPr>
          <p:cNvPr id="14338" name="Picture 2" descr="https://images.openai.com/static-rsc-4/m_QBGo9RTcVldfdopricvlS6KgSOpzepMBc01j_uzd1khzmL_U_JVPuAipQEtLa2g3x56Y-jligQ6w3Pm5h0-Hh-qRkLscTMlpv1C5umA-9eolQB1fTn4ZrwENan15EGdp2mlWeTpi7rn5NFebx8p_0Im49_i3rrIKTZXbb-SAVcDib2XQYgivSAqKU4KDNt?purpose=fullsiz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00694" y="2285992"/>
            <a:ext cx="2928958" cy="213466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is Software Development </a:t>
            </a:r>
            <a:r>
              <a:rPr lang="en-US" dirty="0" smtClean="0"/>
              <a:t>Cont..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 smtClean="0"/>
              <a:t> Objectives</a:t>
            </a:r>
            <a:endParaRPr lang="en-US" b="1" dirty="0" smtClean="0"/>
          </a:p>
          <a:p>
            <a:r>
              <a:rPr lang="en-US" dirty="0" smtClean="0"/>
              <a:t>Automate tasks </a:t>
            </a:r>
          </a:p>
          <a:p>
            <a:r>
              <a:rPr lang="en-US" dirty="0" smtClean="0"/>
              <a:t>Improve efficiency </a:t>
            </a:r>
          </a:p>
          <a:p>
            <a:r>
              <a:rPr lang="en-US" dirty="0" smtClean="0"/>
              <a:t>Solve business problems </a:t>
            </a:r>
          </a:p>
          <a:p>
            <a:r>
              <a:rPr lang="en-US" dirty="0" smtClean="0"/>
              <a:t>Enhance user experience </a:t>
            </a:r>
          </a:p>
          <a:p>
            <a:r>
              <a:rPr lang="en-US" dirty="0" smtClean="0"/>
              <a:t>Support digital </a:t>
            </a:r>
            <a:r>
              <a:rPr lang="en-US" dirty="0" smtClean="0"/>
              <a:t>transformation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 Examples</a:t>
            </a:r>
            <a:endParaRPr lang="en-US" b="1" dirty="0" smtClean="0"/>
          </a:p>
          <a:p>
            <a:r>
              <a:rPr lang="en-US" dirty="0" smtClean="0"/>
              <a:t>Mobile Apps </a:t>
            </a:r>
          </a:p>
          <a:p>
            <a:r>
              <a:rPr lang="en-US" dirty="0" smtClean="0"/>
              <a:t>Websites </a:t>
            </a:r>
          </a:p>
          <a:p>
            <a:r>
              <a:rPr lang="en-US" dirty="0" smtClean="0"/>
              <a:t>Banking Systems </a:t>
            </a:r>
          </a:p>
          <a:p>
            <a:r>
              <a:rPr lang="en-US" dirty="0" smtClean="0"/>
              <a:t>E-commerce Platforms </a:t>
            </a:r>
          </a:p>
          <a:p>
            <a:r>
              <a:rPr lang="en-US" dirty="0" smtClean="0"/>
              <a:t>Enterprise Software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13314" name="Picture 2" descr="https://images.openai.com/static-rsc-4/kYh6FoYMm-23PKA3gCkp510Z_3-RdUhlwzjSv1Irw3hXc3tO41BNNIyUr0KnkMkxkKCvFV5fjrSgTIFuO7eTaObuEC0U9GTPKqimHnUhosUACL99iyqBn-1bJmzJ-7RPuNEJL2trt9AfJxJNIXB_4S7BaaMFpvLbD7H2sQ2w8sGtWBDNoNGIWRhMrUmN0wzJ?purpose=fullsiz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86314" y="2000240"/>
            <a:ext cx="4156048" cy="27706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Importance of Software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 smtClean="0"/>
              <a:t> Why </a:t>
            </a:r>
            <a:r>
              <a:rPr lang="en-US" b="1" dirty="0" smtClean="0"/>
              <a:t>is it Important?</a:t>
            </a:r>
          </a:p>
          <a:p>
            <a:r>
              <a:rPr lang="en-US" dirty="0" smtClean="0"/>
              <a:t>Powers modern businesses </a:t>
            </a:r>
          </a:p>
          <a:p>
            <a:r>
              <a:rPr lang="en-US" dirty="0" smtClean="0"/>
              <a:t>Enables digital communication </a:t>
            </a:r>
          </a:p>
          <a:p>
            <a:r>
              <a:rPr lang="en-US" dirty="0" smtClean="0"/>
              <a:t>Supports automation </a:t>
            </a:r>
          </a:p>
          <a:p>
            <a:r>
              <a:rPr lang="en-US" dirty="0" smtClean="0"/>
              <a:t>Improves productivity </a:t>
            </a:r>
          </a:p>
          <a:p>
            <a:r>
              <a:rPr lang="en-US" dirty="0" smtClean="0"/>
              <a:t>Facilitates innovation </a:t>
            </a:r>
          </a:p>
          <a:p>
            <a:r>
              <a:rPr lang="en-US" dirty="0" smtClean="0"/>
              <a:t>Creates new business </a:t>
            </a:r>
            <a:r>
              <a:rPr lang="en-US" dirty="0" smtClean="0"/>
              <a:t>opportunities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 Real-World </a:t>
            </a:r>
            <a:r>
              <a:rPr lang="en-US" b="1" dirty="0" smtClean="0"/>
              <a:t>Applications</a:t>
            </a:r>
          </a:p>
          <a:p>
            <a:r>
              <a:rPr lang="en-US" dirty="0" smtClean="0"/>
              <a:t>Healthcare </a:t>
            </a:r>
          </a:p>
          <a:p>
            <a:r>
              <a:rPr lang="en-US" dirty="0" smtClean="0"/>
              <a:t>Education </a:t>
            </a:r>
          </a:p>
          <a:p>
            <a:r>
              <a:rPr lang="en-US" dirty="0" smtClean="0"/>
              <a:t>Finance </a:t>
            </a:r>
          </a:p>
          <a:p>
            <a:r>
              <a:rPr lang="en-US" dirty="0" smtClean="0"/>
              <a:t>Transportation </a:t>
            </a:r>
          </a:p>
          <a:p>
            <a:r>
              <a:rPr lang="en-US" dirty="0" smtClean="0"/>
              <a:t>Entertainment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12290" name="Picture 2" descr="Mobile Cloud Computing:Is It Right For Your App? | Backendles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71934" y="1643050"/>
            <a:ext cx="4743014" cy="38576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Software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 smtClean="0"/>
              <a:t> Major </a:t>
            </a:r>
            <a:r>
              <a:rPr lang="en-US" b="1" dirty="0" smtClean="0"/>
              <a:t>Categories</a:t>
            </a:r>
          </a:p>
          <a:p>
            <a:r>
              <a:rPr lang="en-US" b="1" dirty="0" smtClean="0"/>
              <a:t>1. Application Development</a:t>
            </a:r>
          </a:p>
          <a:p>
            <a:r>
              <a:rPr lang="en-US" dirty="0" smtClean="0"/>
              <a:t>Software for end users.</a:t>
            </a:r>
          </a:p>
          <a:p>
            <a:r>
              <a:rPr lang="en-US" b="1" dirty="0" smtClean="0"/>
              <a:t>2. Web Development</a:t>
            </a:r>
          </a:p>
          <a:p>
            <a:r>
              <a:rPr lang="en-US" dirty="0" smtClean="0"/>
              <a:t>Websites and web applications.</a:t>
            </a:r>
          </a:p>
          <a:p>
            <a:r>
              <a:rPr lang="en-US" b="1" dirty="0" smtClean="0"/>
              <a:t>3. Mobile Development</a:t>
            </a:r>
          </a:p>
          <a:p>
            <a:r>
              <a:rPr lang="en-US" dirty="0" smtClean="0"/>
              <a:t>Android and </a:t>
            </a:r>
            <a:r>
              <a:rPr lang="en-US" dirty="0" err="1" smtClean="0"/>
              <a:t>iOS</a:t>
            </a:r>
            <a:r>
              <a:rPr lang="en-US" dirty="0" smtClean="0"/>
              <a:t> applications.</a:t>
            </a:r>
          </a:p>
          <a:p>
            <a:r>
              <a:rPr lang="en-US" b="1" dirty="0" smtClean="0"/>
              <a:t>4. System Development</a:t>
            </a:r>
          </a:p>
          <a:p>
            <a:r>
              <a:rPr lang="en-US" dirty="0" smtClean="0"/>
              <a:t>Operating systems and utilities.</a:t>
            </a:r>
          </a:p>
          <a:p>
            <a:r>
              <a:rPr lang="en-US" b="1" dirty="0" smtClean="0"/>
              <a:t>5. Cloud Development</a:t>
            </a:r>
          </a:p>
          <a:p>
            <a:r>
              <a:rPr lang="en-US" dirty="0" smtClean="0"/>
              <a:t>Cloud-based software solutions.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11266" name="Picture 2" descr="Web development, coding and programming. Creation digital Software mobile, desktop platform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86314" y="2643182"/>
            <a:ext cx="4045901" cy="221457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Software Development Life Cycle (SDLC)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What is SDLC?</a:t>
            </a:r>
          </a:p>
          <a:p>
            <a:r>
              <a:rPr lang="en-US" dirty="0" smtClean="0"/>
              <a:t>A structured framework used to develop software efficiently while maintaining quality and reducing risks. </a:t>
            </a:r>
          </a:p>
          <a:p>
            <a:r>
              <a:rPr lang="en-US" b="1" dirty="0" smtClean="0"/>
              <a:t>Main Phases</a:t>
            </a:r>
          </a:p>
          <a:p>
            <a:r>
              <a:rPr lang="en-US" dirty="0" smtClean="0"/>
              <a:t>Requirement Gathering </a:t>
            </a:r>
          </a:p>
          <a:p>
            <a:r>
              <a:rPr lang="en-US" dirty="0" smtClean="0"/>
              <a:t>Planning </a:t>
            </a:r>
          </a:p>
          <a:p>
            <a:r>
              <a:rPr lang="en-US" dirty="0" smtClean="0"/>
              <a:t>Design </a:t>
            </a:r>
            <a:r>
              <a:rPr lang="en-US" dirty="0" smtClean="0"/>
              <a:t>                                    </a:t>
            </a:r>
            <a:endParaRPr lang="en-US" dirty="0" smtClean="0"/>
          </a:p>
          <a:p>
            <a:r>
              <a:rPr lang="en-US" dirty="0" smtClean="0"/>
              <a:t>Development </a:t>
            </a:r>
          </a:p>
          <a:p>
            <a:r>
              <a:rPr lang="en-US" dirty="0" smtClean="0"/>
              <a:t>Testing </a:t>
            </a:r>
          </a:p>
          <a:p>
            <a:r>
              <a:rPr lang="en-US" dirty="0" smtClean="0"/>
              <a:t>Deployment </a:t>
            </a:r>
          </a:p>
          <a:p>
            <a:r>
              <a:rPr lang="en-US" dirty="0" smtClean="0"/>
              <a:t>Maintenance</a:t>
            </a:r>
            <a:endParaRPr lang="en-US" dirty="0" smtClean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2714620"/>
            <a:ext cx="3476635" cy="3476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 Gathering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Purpose</a:t>
            </a:r>
          </a:p>
          <a:p>
            <a:r>
              <a:rPr lang="en-US" dirty="0" smtClean="0"/>
              <a:t>Understand what the customer or users need.</a:t>
            </a:r>
          </a:p>
          <a:p>
            <a:r>
              <a:rPr lang="en-US" b="1" dirty="0" smtClean="0"/>
              <a:t>Activities</a:t>
            </a:r>
          </a:p>
          <a:p>
            <a:r>
              <a:rPr lang="en-US" dirty="0" smtClean="0"/>
              <a:t>Client meetings </a:t>
            </a:r>
          </a:p>
          <a:p>
            <a:r>
              <a:rPr lang="en-US" dirty="0" smtClean="0"/>
              <a:t>Interviews </a:t>
            </a:r>
          </a:p>
          <a:p>
            <a:r>
              <a:rPr lang="en-US" dirty="0" smtClean="0"/>
              <a:t>Surveys </a:t>
            </a:r>
          </a:p>
          <a:p>
            <a:r>
              <a:rPr lang="en-US" dirty="0" smtClean="0"/>
              <a:t>Requirement analysis </a:t>
            </a:r>
          </a:p>
          <a:p>
            <a:r>
              <a:rPr lang="en-US" dirty="0" smtClean="0"/>
              <a:t>Documentation </a:t>
            </a:r>
          </a:p>
          <a:p>
            <a:r>
              <a:rPr lang="en-US" b="1" dirty="0" smtClean="0"/>
              <a:t>Deliverables</a:t>
            </a:r>
          </a:p>
          <a:p>
            <a:r>
              <a:rPr lang="en-US" dirty="0" smtClean="0"/>
              <a:t>Functional Requirements </a:t>
            </a:r>
          </a:p>
          <a:p>
            <a:r>
              <a:rPr lang="en-US" dirty="0" smtClean="0"/>
              <a:t>Non-Functional Requirements </a:t>
            </a:r>
          </a:p>
          <a:p>
            <a:r>
              <a:rPr lang="en-US" dirty="0" smtClean="0"/>
              <a:t>Requirement Specifications</a:t>
            </a:r>
          </a:p>
          <a:p>
            <a:endParaRPr lang="en-US" dirty="0"/>
          </a:p>
        </p:txBody>
      </p:sp>
      <p:pic>
        <p:nvPicPr>
          <p:cNvPr id="9218" name="Picture 2" descr="How to Gather Requirements as a Business Analyst: A Comprehensive Guide |  ProTech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6248" y="2428868"/>
            <a:ext cx="4489347" cy="235745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Planning and Feasibility Study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 smtClean="0"/>
              <a:t> Objectives</a:t>
            </a:r>
            <a:endParaRPr lang="en-US" b="1" dirty="0" smtClean="0"/>
          </a:p>
          <a:p>
            <a:r>
              <a:rPr lang="en-US" dirty="0" smtClean="0"/>
              <a:t>Evaluate:</a:t>
            </a:r>
          </a:p>
          <a:p>
            <a:r>
              <a:rPr lang="en-US" dirty="0" smtClean="0"/>
              <a:t>Technical feasibility </a:t>
            </a:r>
          </a:p>
          <a:p>
            <a:r>
              <a:rPr lang="en-US" dirty="0" smtClean="0"/>
              <a:t>Financial feasibility </a:t>
            </a:r>
          </a:p>
          <a:p>
            <a:r>
              <a:rPr lang="en-US" dirty="0" smtClean="0"/>
              <a:t>Operational feasibility </a:t>
            </a:r>
          </a:p>
          <a:p>
            <a:r>
              <a:rPr lang="en-US" dirty="0" smtClean="0"/>
              <a:t>Resource availability </a:t>
            </a:r>
          </a:p>
          <a:p>
            <a:r>
              <a:rPr lang="en-US" dirty="0" smtClean="0"/>
              <a:t>Project timeline 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 Outputs</a:t>
            </a:r>
            <a:endParaRPr lang="en-US" b="1" dirty="0" smtClean="0"/>
          </a:p>
          <a:p>
            <a:r>
              <a:rPr lang="en-US" dirty="0" smtClean="0"/>
              <a:t>Project Plan </a:t>
            </a:r>
          </a:p>
          <a:p>
            <a:r>
              <a:rPr lang="en-US" dirty="0" smtClean="0"/>
              <a:t>Budget Estimation </a:t>
            </a:r>
          </a:p>
          <a:p>
            <a:r>
              <a:rPr lang="en-US" dirty="0" smtClean="0"/>
              <a:t>Risk Assessment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8194" name="Picture 2" descr="Gantt Chart Guide: Definition, Examples &amp; How to Use I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57620" y="2143116"/>
            <a:ext cx="4714908" cy="31118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Purpose</a:t>
            </a:r>
          </a:p>
          <a:p>
            <a:r>
              <a:rPr lang="en-US" dirty="0" smtClean="0"/>
              <a:t>Create the blueprint of the software system.</a:t>
            </a:r>
          </a:p>
          <a:p>
            <a:r>
              <a:rPr lang="en-US" b="1" dirty="0" smtClean="0"/>
              <a:t>Design Components</a:t>
            </a:r>
          </a:p>
          <a:p>
            <a:r>
              <a:rPr lang="en-US" dirty="0" smtClean="0"/>
              <a:t>System Architecture </a:t>
            </a:r>
          </a:p>
          <a:p>
            <a:r>
              <a:rPr lang="en-US" dirty="0" smtClean="0"/>
              <a:t>Database Design </a:t>
            </a:r>
          </a:p>
          <a:p>
            <a:r>
              <a:rPr lang="en-US" dirty="0" smtClean="0"/>
              <a:t>User Interface Design </a:t>
            </a:r>
          </a:p>
          <a:p>
            <a:r>
              <a:rPr lang="en-US" dirty="0" smtClean="0"/>
              <a:t>Security Design </a:t>
            </a:r>
          </a:p>
          <a:p>
            <a:r>
              <a:rPr lang="en-US" dirty="0" smtClean="0"/>
              <a:t>Module Design </a:t>
            </a:r>
          </a:p>
          <a:p>
            <a:r>
              <a:rPr lang="en-US" b="1" dirty="0" smtClean="0"/>
              <a:t>Benefits</a:t>
            </a:r>
          </a:p>
          <a:p>
            <a:r>
              <a:rPr lang="en-US" dirty="0" smtClean="0"/>
              <a:t>Better organization </a:t>
            </a:r>
          </a:p>
          <a:p>
            <a:r>
              <a:rPr lang="en-US" dirty="0" smtClean="0"/>
              <a:t>Easier development </a:t>
            </a:r>
          </a:p>
          <a:p>
            <a:r>
              <a:rPr lang="en-US" dirty="0" smtClean="0"/>
              <a:t>Reduced future issues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7170" name="Picture 2" descr="UX/UI Desig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00496" y="2714620"/>
            <a:ext cx="4501693" cy="30003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Development </a:t>
            </a:r>
            <a:r>
              <a:rPr lang="en-US" dirty="0" smtClean="0"/>
              <a:t>( Coding 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Implementation Phase</a:t>
            </a:r>
          </a:p>
          <a:p>
            <a:r>
              <a:rPr lang="en-US" dirty="0" smtClean="0"/>
              <a:t>Developers convert designs into actual software.</a:t>
            </a:r>
          </a:p>
          <a:p>
            <a:r>
              <a:rPr lang="en-US" b="1" dirty="0" smtClean="0"/>
              <a:t>Activities</a:t>
            </a:r>
            <a:endParaRPr lang="en-US" b="1" dirty="0" smtClean="0"/>
          </a:p>
          <a:p>
            <a:r>
              <a:rPr lang="en-US" dirty="0" smtClean="0"/>
              <a:t>Writing code </a:t>
            </a:r>
          </a:p>
          <a:p>
            <a:r>
              <a:rPr lang="en-US" dirty="0" smtClean="0"/>
              <a:t>Version control </a:t>
            </a:r>
          </a:p>
          <a:p>
            <a:r>
              <a:rPr lang="en-US" dirty="0" smtClean="0"/>
              <a:t>Code reviews </a:t>
            </a:r>
            <a:r>
              <a:rPr lang="en-US" dirty="0" smtClean="0"/>
              <a:t>                             </a:t>
            </a:r>
            <a:endParaRPr lang="en-US" dirty="0" smtClean="0"/>
          </a:p>
          <a:p>
            <a:r>
              <a:rPr lang="en-US" dirty="0" smtClean="0"/>
              <a:t>Integration of modules </a:t>
            </a:r>
          </a:p>
          <a:p>
            <a:r>
              <a:rPr lang="en-US" b="1" dirty="0" smtClean="0"/>
              <a:t>Popular </a:t>
            </a:r>
            <a:r>
              <a:rPr lang="en-US" b="1" dirty="0" smtClean="0"/>
              <a:t>Languages</a:t>
            </a:r>
            <a:endParaRPr lang="en-US" b="1" dirty="0" smtClean="0"/>
          </a:p>
          <a:p>
            <a:r>
              <a:rPr lang="en-US" dirty="0" smtClean="0"/>
              <a:t>Java </a:t>
            </a:r>
          </a:p>
          <a:p>
            <a:r>
              <a:rPr lang="en-US" dirty="0" smtClean="0"/>
              <a:t>Python </a:t>
            </a:r>
          </a:p>
          <a:p>
            <a:r>
              <a:rPr lang="en-US" dirty="0" smtClean="0"/>
              <a:t>C# </a:t>
            </a:r>
          </a:p>
          <a:p>
            <a:r>
              <a:rPr lang="en-US" dirty="0" smtClean="0"/>
              <a:t>JavaScript </a:t>
            </a:r>
          </a:p>
          <a:p>
            <a:r>
              <a:rPr lang="en-US" dirty="0" smtClean="0"/>
              <a:t>C</a:t>
            </a:r>
            <a:r>
              <a:rPr lang="en-US" dirty="0" smtClean="0"/>
              <a:t>++</a:t>
            </a:r>
            <a:endParaRPr lang="en-US" dirty="0" smtClean="0"/>
          </a:p>
        </p:txBody>
      </p:sp>
      <p:pic>
        <p:nvPicPr>
          <p:cNvPr id="6146" name="Picture 2" descr="Free Coding Multi-monitor Setup Image - Programming, Coding, Technology |  Download at StockCak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00496" y="2214554"/>
            <a:ext cx="2357454" cy="420643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24" y="-214338"/>
            <a:ext cx="7772400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Software Testing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14348" y="857232"/>
            <a:ext cx="8429652" cy="2500330"/>
          </a:xfrm>
        </p:spPr>
        <p:txBody>
          <a:bodyPr>
            <a:noAutofit/>
          </a:bodyPr>
          <a:lstStyle/>
          <a:p>
            <a:r>
              <a:rPr lang="en-US" sz="1100" b="1" dirty="0" smtClean="0"/>
              <a:t>Purpose</a:t>
            </a:r>
          </a:p>
          <a:p>
            <a:r>
              <a:rPr lang="en-US" sz="1100" dirty="0" smtClean="0"/>
              <a:t>Ensure software quality and reliability.</a:t>
            </a:r>
          </a:p>
          <a:p>
            <a:r>
              <a:rPr lang="en-US" sz="1100" b="1" dirty="0" smtClean="0"/>
              <a:t>Types of Testing</a:t>
            </a:r>
          </a:p>
          <a:p>
            <a:r>
              <a:rPr lang="en-US" sz="1100" dirty="0" smtClean="0"/>
              <a:t>Unit Testing </a:t>
            </a:r>
          </a:p>
          <a:p>
            <a:r>
              <a:rPr lang="en-US" sz="1100" dirty="0" smtClean="0"/>
              <a:t>Integration Testing </a:t>
            </a:r>
          </a:p>
          <a:p>
            <a:r>
              <a:rPr lang="en-US" sz="1100" dirty="0" smtClean="0"/>
              <a:t>System Testing </a:t>
            </a:r>
          </a:p>
          <a:p>
            <a:r>
              <a:rPr lang="en-US" sz="1100" dirty="0" smtClean="0"/>
              <a:t>Performance Testing </a:t>
            </a:r>
          </a:p>
          <a:p>
            <a:r>
              <a:rPr lang="en-US" sz="1100" dirty="0" smtClean="0"/>
              <a:t>User Acceptance Testing </a:t>
            </a:r>
          </a:p>
          <a:p>
            <a:r>
              <a:rPr lang="en-US" sz="1100" b="1" dirty="0" smtClean="0"/>
              <a:t>Benefits</a:t>
            </a:r>
          </a:p>
          <a:p>
            <a:r>
              <a:rPr lang="en-US" sz="1100" dirty="0" smtClean="0"/>
              <a:t>Detect defects early </a:t>
            </a:r>
          </a:p>
          <a:p>
            <a:r>
              <a:rPr lang="en-US" sz="1100" dirty="0" smtClean="0"/>
              <a:t>Improve quality </a:t>
            </a:r>
          </a:p>
          <a:p>
            <a:r>
              <a:rPr lang="en-US" sz="1100" dirty="0" smtClean="0"/>
              <a:t>Increase user </a:t>
            </a:r>
            <a:r>
              <a:rPr lang="en-US" sz="1100" dirty="0" smtClean="0"/>
              <a:t>satisfaction</a:t>
            </a:r>
          </a:p>
          <a:p>
            <a:pPr>
              <a:buFont typeface="Wingdings" pitchFamily="2" charset="2"/>
              <a:buChar char="Ø"/>
            </a:pPr>
            <a:r>
              <a:rPr lang="en-US" sz="1100" dirty="0" smtClean="0"/>
              <a:t> </a:t>
            </a:r>
            <a:r>
              <a:rPr lang="en-US" sz="1100" dirty="0" smtClean="0"/>
              <a:t>Deployment</a:t>
            </a:r>
          </a:p>
          <a:p>
            <a:r>
              <a:rPr lang="en-US" sz="1100" b="1" dirty="0" smtClean="0"/>
              <a:t>What Happens Here?</a:t>
            </a:r>
          </a:p>
          <a:p>
            <a:r>
              <a:rPr lang="en-US" sz="1100" dirty="0" smtClean="0"/>
              <a:t>The completed software is released to users.</a:t>
            </a:r>
          </a:p>
          <a:p>
            <a:r>
              <a:rPr lang="en-US" sz="1100" b="1" dirty="0" smtClean="0"/>
              <a:t>Activities</a:t>
            </a:r>
          </a:p>
          <a:p>
            <a:r>
              <a:rPr lang="en-US" sz="1100" dirty="0" smtClean="0"/>
              <a:t>Installation </a:t>
            </a:r>
          </a:p>
          <a:p>
            <a:r>
              <a:rPr lang="en-US" sz="1100" dirty="0" smtClean="0"/>
              <a:t>Configuration </a:t>
            </a:r>
          </a:p>
          <a:p>
            <a:r>
              <a:rPr lang="en-US" sz="1100" dirty="0" smtClean="0"/>
              <a:t>Data Migration </a:t>
            </a:r>
          </a:p>
          <a:p>
            <a:r>
              <a:rPr lang="en-US" sz="1100" dirty="0" smtClean="0"/>
              <a:t>Production Release </a:t>
            </a:r>
          </a:p>
          <a:p>
            <a:r>
              <a:rPr lang="en-US" sz="1100" b="1" dirty="0" smtClean="0"/>
              <a:t>Benefits</a:t>
            </a:r>
          </a:p>
          <a:p>
            <a:r>
              <a:rPr lang="en-US" sz="1100" dirty="0" smtClean="0"/>
              <a:t>Product availability </a:t>
            </a:r>
          </a:p>
          <a:p>
            <a:r>
              <a:rPr lang="en-US" sz="1100" dirty="0" smtClean="0"/>
              <a:t>Customer access </a:t>
            </a:r>
          </a:p>
          <a:p>
            <a:r>
              <a:rPr lang="en-US" sz="1100" dirty="0" smtClean="0"/>
              <a:t>Business value generation</a:t>
            </a:r>
          </a:p>
          <a:p>
            <a:pPr>
              <a:buFont typeface="Wingdings" pitchFamily="2" charset="2"/>
              <a:buChar char="Ø"/>
            </a:pPr>
            <a:endParaRPr lang="en-US" sz="1100" dirty="0" smtClean="0"/>
          </a:p>
        </p:txBody>
      </p:sp>
      <p:sp>
        <p:nvSpPr>
          <p:cNvPr id="5122" name="AutoShape 2" descr="Top 10 Testing Dashboard Templates with Examples and Samp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24" name="AutoShape 4" descr="Top 10 Testing Dashboard Templates with Examples and Samp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26" name="AutoShape 6" descr="Top 10 Testing Dashboard Templates with Examples and Samp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28" name="AutoShape 8" descr="Top 10 Testing Dashboard Templates with Examples and Samp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30" name="AutoShape 10" descr="Top 10 Testing Dashboard Templates with Examples and Samp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131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868" y="928670"/>
            <a:ext cx="5294102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33" name="Picture 13" descr="Cloud Deployment Models: Public, Private, Hybrid, Multi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57686" y="4071942"/>
            <a:ext cx="3571900" cy="23834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Maintenance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 smtClean="0"/>
              <a:t>Post-Release Activities</a:t>
            </a:r>
          </a:p>
          <a:p>
            <a:r>
              <a:rPr lang="en-US" dirty="0" smtClean="0"/>
              <a:t>Software must continue to evolve.</a:t>
            </a:r>
          </a:p>
          <a:p>
            <a:r>
              <a:rPr lang="en-US" b="1" dirty="0" smtClean="0"/>
              <a:t>Types of Maintenance</a:t>
            </a:r>
          </a:p>
          <a:p>
            <a:r>
              <a:rPr lang="en-US" dirty="0" smtClean="0"/>
              <a:t>Corrective </a:t>
            </a:r>
          </a:p>
          <a:p>
            <a:r>
              <a:rPr lang="en-US" dirty="0" smtClean="0"/>
              <a:t>Adaptive </a:t>
            </a:r>
          </a:p>
          <a:p>
            <a:r>
              <a:rPr lang="en-US" dirty="0" smtClean="0"/>
              <a:t>Perfective </a:t>
            </a:r>
          </a:p>
          <a:p>
            <a:r>
              <a:rPr lang="en-US" dirty="0" smtClean="0"/>
              <a:t>Preventive 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 Examples</a:t>
            </a:r>
            <a:endParaRPr lang="en-US" b="1" dirty="0" smtClean="0"/>
          </a:p>
          <a:p>
            <a:r>
              <a:rPr lang="en-US" dirty="0" smtClean="0"/>
              <a:t>Bug fixes </a:t>
            </a:r>
          </a:p>
          <a:p>
            <a:r>
              <a:rPr lang="en-US" dirty="0" smtClean="0"/>
              <a:t>Security updates </a:t>
            </a:r>
          </a:p>
          <a:p>
            <a:r>
              <a:rPr lang="en-US" dirty="0" smtClean="0"/>
              <a:t>Feature enhancements </a:t>
            </a:r>
          </a:p>
          <a:p>
            <a:r>
              <a:rPr lang="en-US" dirty="0" smtClean="0"/>
              <a:t>Performance improvements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098" name="Picture 2" descr="Software update required Images - Free Download on Magnific (formerly  Freepik)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6248" y="2357430"/>
            <a:ext cx="4515478" cy="292895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Software Development Methodologies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Common Approaches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Waterfall Model</a:t>
            </a:r>
          </a:p>
          <a:p>
            <a:r>
              <a:rPr lang="en-US" dirty="0" smtClean="0"/>
              <a:t>Sequential process.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Agile Model</a:t>
            </a:r>
          </a:p>
          <a:p>
            <a:r>
              <a:rPr lang="en-US" dirty="0" smtClean="0"/>
              <a:t>Iterative and flexible development.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Scrum</a:t>
            </a:r>
          </a:p>
          <a:p>
            <a:r>
              <a:rPr lang="en-US" dirty="0" smtClean="0"/>
              <a:t>Sprint-based development.</a:t>
            </a:r>
          </a:p>
          <a:p>
            <a:pPr>
              <a:buFont typeface="Wingdings" pitchFamily="2" charset="2"/>
              <a:buChar char="Ø"/>
            </a:pPr>
            <a:r>
              <a:rPr lang="en-US" b="1" dirty="0" err="1" smtClean="0"/>
              <a:t>DevOps</a:t>
            </a:r>
            <a:endParaRPr lang="en-US" b="1" dirty="0" smtClean="0"/>
          </a:p>
          <a:p>
            <a:r>
              <a:rPr lang="en-US" dirty="0" smtClean="0"/>
              <a:t>Development and operations collaboration.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Why Agile is Popular</a:t>
            </a:r>
          </a:p>
          <a:p>
            <a:r>
              <a:rPr lang="en-US" dirty="0" smtClean="0"/>
              <a:t>Faster delivery </a:t>
            </a:r>
          </a:p>
          <a:p>
            <a:r>
              <a:rPr lang="en-US" dirty="0" smtClean="0"/>
              <a:t>Continuous feedback </a:t>
            </a:r>
          </a:p>
          <a:p>
            <a:r>
              <a:rPr lang="en-US" dirty="0" smtClean="0"/>
              <a:t>Better adaptability </a:t>
            </a:r>
          </a:p>
          <a:p>
            <a:endParaRPr lang="en-US" dirty="0"/>
          </a:p>
        </p:txBody>
      </p:sp>
      <p:pic>
        <p:nvPicPr>
          <p:cNvPr id="3076" name="Picture 4" descr="Waterfall vs. Agile: Pros and cons - Easy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57752" y="1643050"/>
            <a:ext cx="3936985" cy="221455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in Software Development</a:t>
            </a:r>
            <a:endParaRPr lang="en-US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071934" y="2071678"/>
            <a:ext cx="3929090" cy="24488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071538" y="1785926"/>
            <a:ext cx="4572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Key Team Members</a:t>
            </a:r>
          </a:p>
          <a:p>
            <a:r>
              <a:rPr lang="en-US" b="1" dirty="0" smtClean="0"/>
              <a:t>Business Analyst</a:t>
            </a:r>
          </a:p>
          <a:p>
            <a:r>
              <a:rPr lang="en-US" dirty="0" smtClean="0"/>
              <a:t>Collects requirements.</a:t>
            </a:r>
          </a:p>
          <a:p>
            <a:r>
              <a:rPr lang="en-US" b="1" dirty="0" smtClean="0"/>
              <a:t>Project Manager</a:t>
            </a:r>
          </a:p>
          <a:p>
            <a:r>
              <a:rPr lang="en-US" dirty="0" smtClean="0"/>
              <a:t>Manages project execution.</a:t>
            </a:r>
          </a:p>
          <a:p>
            <a:r>
              <a:rPr lang="en-US" b="1" dirty="0" smtClean="0"/>
              <a:t>Software Developer</a:t>
            </a:r>
          </a:p>
          <a:p>
            <a:r>
              <a:rPr lang="en-US" dirty="0" smtClean="0"/>
              <a:t>Builds the software.</a:t>
            </a:r>
          </a:p>
          <a:p>
            <a:r>
              <a:rPr lang="en-US" b="1" dirty="0" smtClean="0"/>
              <a:t>UI/UX Designer</a:t>
            </a:r>
          </a:p>
          <a:p>
            <a:r>
              <a:rPr lang="en-US" dirty="0" smtClean="0"/>
              <a:t>Designs interfaces.</a:t>
            </a:r>
          </a:p>
          <a:p>
            <a:r>
              <a:rPr lang="en-US" b="1" dirty="0" smtClean="0"/>
              <a:t>Tester / QA Engineer</a:t>
            </a:r>
          </a:p>
          <a:p>
            <a:r>
              <a:rPr lang="en-US" dirty="0" smtClean="0"/>
              <a:t>Ensures quality.</a:t>
            </a:r>
          </a:p>
          <a:p>
            <a:r>
              <a:rPr lang="en-US" b="1" dirty="0" err="1" smtClean="0"/>
              <a:t>DevOps</a:t>
            </a:r>
            <a:r>
              <a:rPr lang="en-US" b="1" dirty="0" smtClean="0"/>
              <a:t> Engineer</a:t>
            </a:r>
          </a:p>
          <a:p>
            <a:r>
              <a:rPr lang="en-US" dirty="0" smtClean="0"/>
              <a:t>Handles deployment and operations.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 and Best Practices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14348" y="1500174"/>
            <a:ext cx="8086756" cy="4767282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 smtClean="0"/>
              <a:t>Common Challenges</a:t>
            </a:r>
          </a:p>
          <a:p>
            <a:r>
              <a:rPr lang="en-US" dirty="0" smtClean="0"/>
              <a:t>Changing requirements </a:t>
            </a:r>
          </a:p>
          <a:p>
            <a:r>
              <a:rPr lang="en-US" dirty="0" smtClean="0"/>
              <a:t>Tight deadlines </a:t>
            </a:r>
          </a:p>
          <a:p>
            <a:r>
              <a:rPr lang="en-US" dirty="0" smtClean="0"/>
              <a:t>Budget constraints </a:t>
            </a:r>
          </a:p>
          <a:p>
            <a:r>
              <a:rPr lang="en-US" dirty="0" smtClean="0"/>
              <a:t>Security concerns </a:t>
            </a:r>
          </a:p>
          <a:p>
            <a:r>
              <a:rPr lang="en-US" dirty="0" smtClean="0"/>
              <a:t>Software defects </a:t>
            </a:r>
          </a:p>
          <a:p>
            <a:r>
              <a:rPr lang="en-US" b="1" dirty="0" smtClean="0"/>
              <a:t>Best Practices</a:t>
            </a:r>
          </a:p>
          <a:p>
            <a:r>
              <a:rPr lang="en-US" dirty="0" smtClean="0"/>
              <a:t>✅ Clear requirements</a:t>
            </a:r>
          </a:p>
          <a:p>
            <a:r>
              <a:rPr lang="en-US" dirty="0" smtClean="0"/>
              <a:t>✅ Proper planning</a:t>
            </a:r>
          </a:p>
          <a:p>
            <a:r>
              <a:rPr lang="en-US" dirty="0" smtClean="0"/>
              <a:t>✅ Version control</a:t>
            </a:r>
          </a:p>
          <a:p>
            <a:r>
              <a:rPr lang="en-US" dirty="0" smtClean="0"/>
              <a:t>✅ Regular testing</a:t>
            </a:r>
          </a:p>
          <a:p>
            <a:r>
              <a:rPr lang="en-US" dirty="0" smtClean="0"/>
              <a:t>✅ Documentation</a:t>
            </a:r>
          </a:p>
          <a:p>
            <a:r>
              <a:rPr lang="en-US" dirty="0" smtClean="0"/>
              <a:t>✅ Continuous improvement</a:t>
            </a:r>
          </a:p>
          <a:p>
            <a:r>
              <a:rPr lang="en-US" b="1" dirty="0" smtClean="0"/>
              <a:t>Key Takeaway</a:t>
            </a:r>
          </a:p>
          <a:p>
            <a:r>
              <a:rPr lang="en-US" dirty="0" smtClean="0"/>
              <a:t>"Successful software development combines planning, teamwork, quality assurance, and continuous improvement to deliver valuable solutions</a:t>
            </a:r>
            <a:r>
              <a:rPr lang="en-US" dirty="0" smtClean="0"/>
              <a:t>."</a:t>
            </a:r>
            <a:endParaRPr lang="en-US" dirty="0" smtClean="0"/>
          </a:p>
        </p:txBody>
      </p:sp>
      <p:pic>
        <p:nvPicPr>
          <p:cNvPr id="1026" name="Picture 2" descr="Team members enthusiastically celebrate their recent project success in a  vibrant office environment office workers celebrating project completion |  Premium AI-generated vecto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71934" y="2143116"/>
            <a:ext cx="3429000" cy="22860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24" y="857232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Transforming Ideas into Software Solutions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14348" y="2500306"/>
            <a:ext cx="3586162" cy="326708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Topics Covered</a:t>
            </a:r>
            <a:endParaRPr lang="en-US" dirty="0" smtClean="0"/>
          </a:p>
          <a:p>
            <a:r>
              <a:rPr lang="en-US" dirty="0" smtClean="0"/>
              <a:t>Introduction to Software Development </a:t>
            </a:r>
          </a:p>
          <a:p>
            <a:r>
              <a:rPr lang="en-US" dirty="0" smtClean="0"/>
              <a:t>Software Development Life Cycle (SDLC) </a:t>
            </a:r>
          </a:p>
          <a:p>
            <a:r>
              <a:rPr lang="en-US" dirty="0" smtClean="0"/>
              <a:t>Development Models </a:t>
            </a:r>
          </a:p>
          <a:p>
            <a:r>
              <a:rPr lang="en-US" dirty="0" smtClean="0"/>
              <a:t>Team Roles </a:t>
            </a:r>
          </a:p>
          <a:p>
            <a:r>
              <a:rPr lang="en-US" dirty="0" smtClean="0"/>
              <a:t>Best Practices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28674" name="Picture 2" descr="https://images.openai.com/static-rsc-4/WhP4vvt2r5TvL_BMQZ_sdOKE4XPE0nfQQ2yZowu2m9CYlc6QFhGJFHseyrW2AMC3ztffzNYYd2jOJAok5oQAIHHfnIbs1T-OZKjpTgn6HpPKTrB9j099MINWidY6szPEoGNKaKj1Jzxj3UB1zAF_AaATnCEMSlI31ZT74WGkJQ93aolbFmL0PJrd0rO5RlGf?purpose=fullsiz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6248" y="2285992"/>
            <a:ext cx="4484395" cy="35544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Introduction to Software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/>
              <a:t>What is Software Development?</a:t>
            </a:r>
          </a:p>
          <a:p>
            <a:r>
              <a:rPr lang="en-US" dirty="0" smtClean="0"/>
              <a:t>Software Development is a structured process of designing, building, testing, deploying, and maintaining software applications to solve business and user problems.</a:t>
            </a:r>
          </a:p>
          <a:p>
            <a:r>
              <a:rPr lang="en-US" b="1" dirty="0" smtClean="0"/>
              <a:t>Examples</a:t>
            </a:r>
          </a:p>
          <a:p>
            <a:r>
              <a:rPr lang="en-US" dirty="0" smtClean="0"/>
              <a:t>Mobile Applications </a:t>
            </a:r>
          </a:p>
          <a:p>
            <a:r>
              <a:rPr lang="en-US" dirty="0" smtClean="0"/>
              <a:t>Websites </a:t>
            </a:r>
          </a:p>
          <a:p>
            <a:r>
              <a:rPr lang="en-US" dirty="0" smtClean="0"/>
              <a:t>Enterprise Systems </a:t>
            </a:r>
          </a:p>
          <a:p>
            <a:r>
              <a:rPr lang="en-US" dirty="0" smtClean="0"/>
              <a:t>Banking Software </a:t>
            </a:r>
          </a:p>
          <a:p>
            <a:r>
              <a:rPr lang="en-US" dirty="0" smtClean="0"/>
              <a:t>E-Commerce Platforms </a:t>
            </a:r>
          </a:p>
          <a:p>
            <a:r>
              <a:rPr lang="en-US" b="1" dirty="0" smtClean="0"/>
              <a:t>Benefits</a:t>
            </a:r>
          </a:p>
          <a:p>
            <a:r>
              <a:rPr lang="en-US" dirty="0" smtClean="0"/>
              <a:t>Automation </a:t>
            </a:r>
          </a:p>
          <a:p>
            <a:r>
              <a:rPr lang="en-US" dirty="0" smtClean="0"/>
              <a:t>Efficiency </a:t>
            </a:r>
          </a:p>
          <a:p>
            <a:r>
              <a:rPr lang="en-US" dirty="0" smtClean="0"/>
              <a:t>Accuracy </a:t>
            </a:r>
          </a:p>
          <a:p>
            <a:r>
              <a:rPr lang="en-US" dirty="0" smtClean="0"/>
              <a:t>Innovation</a:t>
            </a:r>
            <a:endParaRPr lang="en-US" dirty="0" smtClean="0"/>
          </a:p>
        </p:txBody>
      </p:sp>
      <p:sp>
        <p:nvSpPr>
          <p:cNvPr id="29698" name="AutoShape 2" descr="Application Software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700" name="AutoShape 4" descr="Application Software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970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57620" y="2500306"/>
            <a:ext cx="4295775" cy="344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Importance of Software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Why is Software Development Important?</a:t>
            </a:r>
          </a:p>
          <a:p>
            <a:r>
              <a:rPr lang="en-US" dirty="0" smtClean="0"/>
              <a:t>Supports business growth </a:t>
            </a:r>
          </a:p>
          <a:p>
            <a:r>
              <a:rPr lang="en-US" dirty="0" smtClean="0"/>
              <a:t>Improves productivity </a:t>
            </a:r>
          </a:p>
          <a:p>
            <a:r>
              <a:rPr lang="en-US" dirty="0" smtClean="0"/>
              <a:t>Enables digital services </a:t>
            </a:r>
          </a:p>
          <a:p>
            <a:r>
              <a:rPr lang="en-US" dirty="0" smtClean="0"/>
              <a:t>Facilitates communication </a:t>
            </a:r>
          </a:p>
          <a:p>
            <a:r>
              <a:rPr lang="en-US" dirty="0" smtClean="0"/>
              <a:t>Drives technological innovation </a:t>
            </a:r>
          </a:p>
          <a:p>
            <a:r>
              <a:rPr lang="en-US" b="1" dirty="0" smtClean="0"/>
              <a:t>Industries Using Software</a:t>
            </a:r>
          </a:p>
          <a:p>
            <a:r>
              <a:rPr lang="en-US" dirty="0" smtClean="0"/>
              <a:t>Healthcare </a:t>
            </a:r>
          </a:p>
          <a:p>
            <a:r>
              <a:rPr lang="en-US" dirty="0" smtClean="0"/>
              <a:t>Education </a:t>
            </a:r>
          </a:p>
          <a:p>
            <a:r>
              <a:rPr lang="en-US" dirty="0" smtClean="0"/>
              <a:t>Banking </a:t>
            </a:r>
          </a:p>
          <a:p>
            <a:r>
              <a:rPr lang="en-US" dirty="0" smtClean="0"/>
              <a:t>Manufacturing </a:t>
            </a:r>
          </a:p>
          <a:p>
            <a:r>
              <a:rPr lang="en-US" dirty="0" smtClean="0"/>
              <a:t>Transportation</a:t>
            </a:r>
          </a:p>
          <a:p>
            <a:endParaRPr lang="en-US" dirty="0"/>
          </a:p>
        </p:txBody>
      </p:sp>
      <p:sp>
        <p:nvSpPr>
          <p:cNvPr id="30724" name="AutoShape 4" descr="Digital Transformation Infographics :: Behanc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26" name="AutoShape 6" descr="Digital Transformation Infographics :: Behanc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28" name="Picture 8" descr="Digital Transformation | Infographic | ISAC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14876" y="2000240"/>
            <a:ext cx="4000528" cy="400052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24" y="0"/>
            <a:ext cx="7772400" cy="1143000"/>
          </a:xfrm>
        </p:spPr>
        <p:txBody>
          <a:bodyPr/>
          <a:lstStyle/>
          <a:p>
            <a:r>
              <a:rPr lang="en-US" dirty="0" smtClean="0"/>
              <a:t>Software Development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Main Activities</a:t>
            </a:r>
          </a:p>
          <a:p>
            <a:r>
              <a:rPr lang="en-US" dirty="0" smtClean="0"/>
              <a:t>Communication </a:t>
            </a:r>
          </a:p>
          <a:p>
            <a:r>
              <a:rPr lang="en-US" dirty="0" smtClean="0"/>
              <a:t>Requirement Gathering </a:t>
            </a:r>
          </a:p>
          <a:p>
            <a:r>
              <a:rPr lang="en-US" dirty="0" smtClean="0"/>
              <a:t>Feasibility Study </a:t>
            </a:r>
          </a:p>
          <a:p>
            <a:r>
              <a:rPr lang="en-US" dirty="0" smtClean="0"/>
              <a:t>System Analysis </a:t>
            </a:r>
          </a:p>
          <a:p>
            <a:r>
              <a:rPr lang="en-US" dirty="0" smtClean="0"/>
              <a:t>Design </a:t>
            </a:r>
          </a:p>
          <a:p>
            <a:r>
              <a:rPr lang="en-US" dirty="0" smtClean="0"/>
              <a:t>Coding </a:t>
            </a:r>
          </a:p>
          <a:p>
            <a:r>
              <a:rPr lang="en-US" dirty="0" smtClean="0"/>
              <a:t>Testing </a:t>
            </a:r>
          </a:p>
          <a:p>
            <a:r>
              <a:rPr lang="en-US" dirty="0" smtClean="0"/>
              <a:t>Integration </a:t>
            </a:r>
          </a:p>
          <a:p>
            <a:r>
              <a:rPr lang="en-US" dirty="0" smtClean="0"/>
              <a:t>Deployment </a:t>
            </a:r>
          </a:p>
          <a:p>
            <a:r>
              <a:rPr lang="en-US" dirty="0" smtClean="0"/>
              <a:t>Maintenance </a:t>
            </a:r>
          </a:p>
          <a:p>
            <a:r>
              <a:rPr lang="en-US" dirty="0" smtClean="0"/>
              <a:t>These activities help ensure the software meets user requirements and quality standards. </a:t>
            </a:r>
          </a:p>
          <a:p>
            <a:endParaRPr lang="en-US" dirty="0"/>
          </a:p>
        </p:txBody>
      </p:sp>
      <p:pic>
        <p:nvPicPr>
          <p:cNvPr id="31746" name="Picture 2" descr="Free Flowchart Maker | Create Flow Charts Easily With SmartDraw's Flow Chart  Creator &amp; Softwa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9058" y="1194061"/>
            <a:ext cx="3357586" cy="38780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Software Development Life Cycle (SDLC)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What is SDLC?</a:t>
            </a:r>
          </a:p>
          <a:p>
            <a:r>
              <a:rPr lang="en-US" dirty="0" smtClean="0"/>
              <a:t>SDLC is a structured framework that guides software development from concept to retirement. It helps teams deliver software efficiently while controlling cost, quality, and risks. </a:t>
            </a:r>
          </a:p>
          <a:p>
            <a:r>
              <a:rPr lang="en-US" b="1" dirty="0" smtClean="0"/>
              <a:t>Objectives</a:t>
            </a:r>
          </a:p>
          <a:p>
            <a:r>
              <a:rPr lang="en-US" dirty="0" smtClean="0"/>
              <a:t>Improve quality </a:t>
            </a:r>
          </a:p>
          <a:p>
            <a:r>
              <a:rPr lang="en-US" dirty="0" smtClean="0"/>
              <a:t>Reduce risks </a:t>
            </a:r>
          </a:p>
          <a:p>
            <a:r>
              <a:rPr lang="en-US" dirty="0" smtClean="0"/>
              <a:t>Meet deadlines </a:t>
            </a:r>
          </a:p>
          <a:p>
            <a:r>
              <a:rPr lang="en-US" dirty="0" smtClean="0"/>
              <a:t>Enhance customer satisfaction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744" y="3286124"/>
            <a:ext cx="4515902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 Gathering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Purpose</a:t>
            </a:r>
          </a:p>
          <a:p>
            <a:r>
              <a:rPr lang="en-US" dirty="0" smtClean="0"/>
              <a:t>Understand customer and stakeholder needs.</a:t>
            </a:r>
          </a:p>
          <a:p>
            <a:r>
              <a:rPr lang="en-US" b="1" dirty="0" smtClean="0"/>
              <a:t>Techniques</a:t>
            </a:r>
          </a:p>
          <a:p>
            <a:r>
              <a:rPr lang="en-US" dirty="0" smtClean="0"/>
              <a:t>Interviews </a:t>
            </a:r>
          </a:p>
          <a:p>
            <a:r>
              <a:rPr lang="en-US" dirty="0" smtClean="0"/>
              <a:t>Surveys </a:t>
            </a:r>
          </a:p>
          <a:p>
            <a:r>
              <a:rPr lang="en-US" dirty="0" smtClean="0"/>
              <a:t>Questionnaires </a:t>
            </a:r>
          </a:p>
          <a:p>
            <a:r>
              <a:rPr lang="en-US" dirty="0" smtClean="0"/>
              <a:t>Existing system analysis </a:t>
            </a:r>
          </a:p>
          <a:p>
            <a:r>
              <a:rPr lang="en-US" dirty="0" smtClean="0"/>
              <a:t>Stakeholder discussions </a:t>
            </a:r>
          </a:p>
          <a:p>
            <a:r>
              <a:rPr lang="en-US" b="1" dirty="0" smtClean="0"/>
              <a:t>Deliverables</a:t>
            </a:r>
          </a:p>
          <a:p>
            <a:r>
              <a:rPr lang="en-US" dirty="0" smtClean="0"/>
              <a:t>User Requirements </a:t>
            </a:r>
          </a:p>
          <a:p>
            <a:r>
              <a:rPr lang="en-US" dirty="0" smtClean="0"/>
              <a:t>Functional Requirements </a:t>
            </a:r>
          </a:p>
          <a:p>
            <a:r>
              <a:rPr lang="en-US" dirty="0" smtClean="0"/>
              <a:t>System Requirements</a:t>
            </a:r>
          </a:p>
          <a:p>
            <a:endParaRPr lang="en-US" dirty="0"/>
          </a:p>
        </p:txBody>
      </p:sp>
      <p:pic>
        <p:nvPicPr>
          <p:cNvPr id="43010" name="Picture 2" descr="How to plan for Requirement Gathering Sessions - Explained with exampl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6248" y="2500305"/>
            <a:ext cx="4357718" cy="290690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Feasibility Study and Planning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Objective</a:t>
            </a:r>
          </a:p>
          <a:p>
            <a:r>
              <a:rPr lang="en-US" dirty="0" smtClean="0"/>
              <a:t>Determine whether the project is practical and achievable.</a:t>
            </a:r>
          </a:p>
          <a:p>
            <a:r>
              <a:rPr lang="en-US" b="1" dirty="0" smtClean="0"/>
              <a:t>Types of Feasibility</a:t>
            </a:r>
          </a:p>
          <a:p>
            <a:r>
              <a:rPr lang="en-US" dirty="0" smtClean="0"/>
              <a:t>Technical Feasibility </a:t>
            </a:r>
          </a:p>
          <a:p>
            <a:r>
              <a:rPr lang="en-US" dirty="0" smtClean="0"/>
              <a:t>Economic Feasibility </a:t>
            </a:r>
          </a:p>
          <a:p>
            <a:r>
              <a:rPr lang="en-US" dirty="0" smtClean="0"/>
              <a:t>Operational Feasibility </a:t>
            </a:r>
          </a:p>
          <a:p>
            <a:r>
              <a:rPr lang="en-US" dirty="0" smtClean="0"/>
              <a:t>Schedule Feasibility </a:t>
            </a:r>
          </a:p>
          <a:p>
            <a:r>
              <a:rPr lang="en-US" b="1" dirty="0" smtClean="0"/>
              <a:t>Outcomes</a:t>
            </a:r>
          </a:p>
          <a:p>
            <a:r>
              <a:rPr lang="en-US" dirty="0" smtClean="0"/>
              <a:t>Project Plan </a:t>
            </a:r>
          </a:p>
          <a:p>
            <a:r>
              <a:rPr lang="en-US" dirty="0" smtClean="0"/>
              <a:t>Cost Estimation </a:t>
            </a:r>
          </a:p>
          <a:p>
            <a:r>
              <a:rPr lang="en-US" dirty="0" smtClean="0"/>
              <a:t>Risk Assessment </a:t>
            </a:r>
          </a:p>
          <a:p>
            <a:endParaRPr lang="en-US" dirty="0"/>
          </a:p>
        </p:txBody>
      </p:sp>
      <p:pic>
        <p:nvPicPr>
          <p:cNvPr id="41988" name="Picture 4" descr="Project Management Dashboard PowerPoint and Google Slid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6182" y="2857496"/>
            <a:ext cx="5076806" cy="28557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Analysis and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System Analysis</a:t>
            </a:r>
          </a:p>
          <a:p>
            <a:r>
              <a:rPr lang="en-US" dirty="0" smtClean="0"/>
              <a:t>Understand business needs </a:t>
            </a:r>
          </a:p>
          <a:p>
            <a:r>
              <a:rPr lang="en-US" dirty="0" smtClean="0"/>
              <a:t>Identify limitations </a:t>
            </a:r>
          </a:p>
          <a:p>
            <a:r>
              <a:rPr lang="en-US" dirty="0" smtClean="0"/>
              <a:t>Define project scope </a:t>
            </a:r>
          </a:p>
          <a:p>
            <a:r>
              <a:rPr lang="en-US" b="1" dirty="0" smtClean="0"/>
              <a:t>System Design</a:t>
            </a:r>
          </a:p>
          <a:p>
            <a:r>
              <a:rPr lang="en-US" dirty="0" smtClean="0"/>
              <a:t>Database Design </a:t>
            </a:r>
          </a:p>
          <a:p>
            <a:r>
              <a:rPr lang="en-US" dirty="0" smtClean="0"/>
              <a:t>User Interface Design </a:t>
            </a:r>
          </a:p>
          <a:p>
            <a:r>
              <a:rPr lang="en-US" dirty="0" smtClean="0"/>
              <a:t>Architecture Design </a:t>
            </a:r>
          </a:p>
          <a:p>
            <a:r>
              <a:rPr lang="en-US" dirty="0" smtClean="0"/>
              <a:t>Security Design </a:t>
            </a:r>
          </a:p>
          <a:p>
            <a:r>
              <a:rPr lang="en-US" b="1" dirty="0" smtClean="0"/>
              <a:t>Outputs</a:t>
            </a:r>
          </a:p>
          <a:p>
            <a:r>
              <a:rPr lang="en-US" dirty="0" smtClean="0"/>
              <a:t>Logical Design </a:t>
            </a:r>
          </a:p>
          <a:p>
            <a:r>
              <a:rPr lang="en-US" dirty="0" smtClean="0"/>
              <a:t>Physical Design </a:t>
            </a:r>
          </a:p>
          <a:p>
            <a:r>
              <a:rPr lang="en-US" dirty="0" smtClean="0"/>
              <a:t>Design Documents</a:t>
            </a:r>
          </a:p>
          <a:p>
            <a:endParaRPr lang="en-US" dirty="0"/>
          </a:p>
        </p:txBody>
      </p:sp>
      <p:pic>
        <p:nvPicPr>
          <p:cNvPr id="40962" name="Picture 2" descr="https://images.openai.com/static-rsc-4/6KzaYc_CQ3RqIVGv3oDxuTMmfnV1MUtUqDxsX304kD9FLYBqKroFKHKxXrxCExPQX9V_8ln0r-6xXiKS6LX4XIEJ4nsSiPmRYZX0O35bhx7q7KK5cTNXPfwEPPoJcTJOBFP_1g183QUP921TzsuzSjqbbxXN6b6_-ndr_yg0ZvEwRNXzHm1Uc_jAtEs7GNmb?purpose=fullsiz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43372" y="1428736"/>
            <a:ext cx="4202111" cy="2099034"/>
          </a:xfrm>
          <a:prstGeom prst="rect">
            <a:avLst/>
          </a:prstGeom>
          <a:noFill/>
        </p:spPr>
      </p:pic>
      <p:pic>
        <p:nvPicPr>
          <p:cNvPr id="40964" name="Picture 4" descr="Database desig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28926" y="4357694"/>
            <a:ext cx="2357454" cy="1571636"/>
          </a:xfrm>
          <a:prstGeom prst="rect">
            <a:avLst/>
          </a:prstGeom>
          <a:noFill/>
        </p:spPr>
      </p:pic>
      <p:pic>
        <p:nvPicPr>
          <p:cNvPr id="40966" name="Picture 6" descr="UI/UX design concept showing wireframe interface development on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72066" y="3786190"/>
            <a:ext cx="3643338" cy="24288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Coding and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Development Phase</a:t>
            </a:r>
          </a:p>
          <a:p>
            <a:r>
              <a:rPr lang="en-US" dirty="0" smtClean="0"/>
              <a:t>Developers convert designs into executable software.</a:t>
            </a:r>
          </a:p>
          <a:p>
            <a:r>
              <a:rPr lang="en-US" b="1" dirty="0" smtClean="0"/>
              <a:t>Activities</a:t>
            </a:r>
          </a:p>
          <a:p>
            <a:r>
              <a:rPr lang="en-US" dirty="0" smtClean="0"/>
              <a:t>Programming </a:t>
            </a:r>
          </a:p>
          <a:p>
            <a:r>
              <a:rPr lang="en-US" dirty="0" smtClean="0"/>
              <a:t>Code Reviews </a:t>
            </a:r>
          </a:p>
          <a:p>
            <a:r>
              <a:rPr lang="en-US" dirty="0" smtClean="0"/>
              <a:t>Version Control </a:t>
            </a:r>
          </a:p>
          <a:p>
            <a:r>
              <a:rPr lang="en-US" dirty="0" smtClean="0"/>
              <a:t>Module Development </a:t>
            </a:r>
          </a:p>
          <a:p>
            <a:r>
              <a:rPr lang="en-US" b="1" dirty="0" smtClean="0"/>
              <a:t>Popular Languages</a:t>
            </a:r>
          </a:p>
          <a:p>
            <a:r>
              <a:rPr lang="en-US" dirty="0" smtClean="0"/>
              <a:t>Java </a:t>
            </a:r>
          </a:p>
          <a:p>
            <a:r>
              <a:rPr lang="en-US" dirty="0" smtClean="0"/>
              <a:t>Python </a:t>
            </a:r>
          </a:p>
          <a:p>
            <a:r>
              <a:rPr lang="en-US" dirty="0" smtClean="0"/>
              <a:t>JavaScript </a:t>
            </a:r>
          </a:p>
          <a:p>
            <a:r>
              <a:rPr lang="en-US" dirty="0" smtClean="0"/>
              <a:t>C# </a:t>
            </a:r>
          </a:p>
          <a:p>
            <a:r>
              <a:rPr lang="en-US" dirty="0" smtClean="0"/>
              <a:t>C++ </a:t>
            </a:r>
          </a:p>
          <a:p>
            <a:endParaRPr lang="en-US" dirty="0"/>
          </a:p>
        </p:txBody>
      </p:sp>
      <p:pic>
        <p:nvPicPr>
          <p:cNvPr id="39938" name="Picture 2" descr="What Skills Do You Need to Be a Software Developer?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744" y="2428868"/>
            <a:ext cx="4905375" cy="36957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 and Quality Assurance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Purpose</a:t>
            </a:r>
          </a:p>
          <a:p>
            <a:r>
              <a:rPr lang="en-US" dirty="0" smtClean="0"/>
              <a:t>Ensure software works correctly and meets requirements.</a:t>
            </a:r>
          </a:p>
          <a:p>
            <a:r>
              <a:rPr lang="en-US" b="1" dirty="0" smtClean="0"/>
              <a:t>Types of Testing</a:t>
            </a:r>
          </a:p>
          <a:p>
            <a:r>
              <a:rPr lang="en-US" dirty="0" smtClean="0"/>
              <a:t>Unit Testing </a:t>
            </a:r>
          </a:p>
          <a:p>
            <a:r>
              <a:rPr lang="en-US" dirty="0" smtClean="0"/>
              <a:t>Integration Testing </a:t>
            </a:r>
          </a:p>
          <a:p>
            <a:r>
              <a:rPr lang="en-US" dirty="0" smtClean="0"/>
              <a:t>System Testing </a:t>
            </a:r>
          </a:p>
          <a:p>
            <a:r>
              <a:rPr lang="en-US" dirty="0" smtClean="0"/>
              <a:t>Acceptance Testing </a:t>
            </a:r>
          </a:p>
          <a:p>
            <a:r>
              <a:rPr lang="en-US" dirty="0" smtClean="0"/>
              <a:t>Performance Testing </a:t>
            </a:r>
          </a:p>
          <a:p>
            <a:r>
              <a:rPr lang="en-US" b="1" dirty="0" smtClean="0"/>
              <a:t>Benefits</a:t>
            </a:r>
          </a:p>
          <a:p>
            <a:r>
              <a:rPr lang="en-US" dirty="0" smtClean="0"/>
              <a:t>Error Detection </a:t>
            </a:r>
          </a:p>
          <a:p>
            <a:r>
              <a:rPr lang="en-US" dirty="0" smtClean="0"/>
              <a:t>Improved Reliability </a:t>
            </a:r>
          </a:p>
          <a:p>
            <a:r>
              <a:rPr lang="en-US" dirty="0" smtClean="0"/>
              <a:t>Better User Experience</a:t>
            </a:r>
          </a:p>
          <a:p>
            <a:endParaRPr lang="en-US" dirty="0"/>
          </a:p>
        </p:txBody>
      </p:sp>
      <p:pic>
        <p:nvPicPr>
          <p:cNvPr id="38914" name="Picture 2" descr="Testing Dashboard - SlideTea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57620" y="2500306"/>
            <a:ext cx="4689556" cy="26432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Integration and Deployment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Integration</a:t>
            </a:r>
          </a:p>
          <a:p>
            <a:r>
              <a:rPr lang="en-US" dirty="0" smtClean="0"/>
              <a:t>Combining software modules and external systems.</a:t>
            </a:r>
          </a:p>
          <a:p>
            <a:r>
              <a:rPr lang="en-US" b="1" dirty="0" smtClean="0"/>
              <a:t>Deployment</a:t>
            </a:r>
          </a:p>
          <a:p>
            <a:r>
              <a:rPr lang="en-US" dirty="0" smtClean="0"/>
              <a:t>Installing and releasing software to users.</a:t>
            </a:r>
          </a:p>
          <a:p>
            <a:r>
              <a:rPr lang="en-US" b="1" dirty="0" smtClean="0"/>
              <a:t>Activities</a:t>
            </a:r>
          </a:p>
          <a:p>
            <a:r>
              <a:rPr lang="en-US" dirty="0" smtClean="0"/>
              <a:t>Configuration </a:t>
            </a:r>
          </a:p>
          <a:p>
            <a:r>
              <a:rPr lang="en-US" dirty="0" smtClean="0"/>
              <a:t>Installation </a:t>
            </a:r>
          </a:p>
          <a:p>
            <a:r>
              <a:rPr lang="en-US" dirty="0" smtClean="0"/>
              <a:t>Data Migration </a:t>
            </a:r>
          </a:p>
          <a:p>
            <a:r>
              <a:rPr lang="en-US" dirty="0" smtClean="0"/>
              <a:t>Environment Setup </a:t>
            </a:r>
          </a:p>
          <a:p>
            <a:endParaRPr lang="en-US" dirty="0"/>
          </a:p>
        </p:txBody>
      </p:sp>
      <p:sp>
        <p:nvSpPr>
          <p:cNvPr id="37890" name="AutoShape 2" descr="Cloud Deployment Models: Main Types and Detailed Comparis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892" name="AutoShape 4" descr="Cloud Deployment Models: Main Types and Detailed Comparis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789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00496" y="2500306"/>
            <a:ext cx="4857784" cy="252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Maintenance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Post-Deployment Activities</a:t>
            </a:r>
          </a:p>
          <a:p>
            <a:r>
              <a:rPr lang="en-US" dirty="0" smtClean="0"/>
              <a:t>Software requires continuous updates and improvements.</a:t>
            </a:r>
          </a:p>
          <a:p>
            <a:r>
              <a:rPr lang="en-US" b="1" dirty="0" smtClean="0"/>
              <a:t>Types of Maintenance</a:t>
            </a:r>
          </a:p>
          <a:p>
            <a:r>
              <a:rPr lang="en-US" dirty="0" smtClean="0"/>
              <a:t>Corrective Maintenance </a:t>
            </a:r>
          </a:p>
          <a:p>
            <a:r>
              <a:rPr lang="en-US" dirty="0" smtClean="0"/>
              <a:t>Adaptive Maintenance </a:t>
            </a:r>
          </a:p>
          <a:p>
            <a:r>
              <a:rPr lang="en-US" dirty="0" smtClean="0"/>
              <a:t>Perfective Maintenance </a:t>
            </a:r>
          </a:p>
          <a:p>
            <a:r>
              <a:rPr lang="en-US" dirty="0" smtClean="0"/>
              <a:t>Preventive Maintenance </a:t>
            </a:r>
          </a:p>
          <a:p>
            <a:r>
              <a:rPr lang="en-US" b="1" dirty="0" smtClean="0"/>
              <a:t>Examples</a:t>
            </a:r>
          </a:p>
          <a:p>
            <a:r>
              <a:rPr lang="en-US" dirty="0" smtClean="0"/>
              <a:t>Bug Fixes </a:t>
            </a:r>
          </a:p>
          <a:p>
            <a:r>
              <a:rPr lang="en-US" dirty="0" smtClean="0"/>
              <a:t>Security Updates </a:t>
            </a:r>
          </a:p>
          <a:p>
            <a:r>
              <a:rPr lang="en-US" dirty="0" smtClean="0"/>
              <a:t>Feature Enhancements </a:t>
            </a:r>
          </a:p>
          <a:p>
            <a:endParaRPr lang="en-US" dirty="0"/>
          </a:p>
        </p:txBody>
      </p:sp>
      <p:pic>
        <p:nvPicPr>
          <p:cNvPr id="36866" name="Picture 2" descr="Software update flat illustration editable vector | Premium Vecto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6248" y="2428868"/>
            <a:ext cx="4176732" cy="292237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Development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Common SDLC Models</a:t>
            </a:r>
          </a:p>
          <a:p>
            <a:r>
              <a:rPr lang="en-US" b="1" dirty="0" smtClean="0"/>
              <a:t>Waterfall Model</a:t>
            </a:r>
          </a:p>
          <a:p>
            <a:r>
              <a:rPr lang="en-US" dirty="0" smtClean="0"/>
              <a:t>Sequential development process.</a:t>
            </a:r>
          </a:p>
          <a:p>
            <a:r>
              <a:rPr lang="en-US" b="1" dirty="0" smtClean="0"/>
              <a:t>Iterative Model</a:t>
            </a:r>
          </a:p>
          <a:p>
            <a:r>
              <a:rPr lang="en-US" dirty="0" smtClean="0"/>
              <a:t>Development through repeated cycles.</a:t>
            </a:r>
          </a:p>
          <a:p>
            <a:r>
              <a:rPr lang="en-US" b="1" dirty="0" smtClean="0"/>
              <a:t>Spiral Model</a:t>
            </a:r>
          </a:p>
          <a:p>
            <a:r>
              <a:rPr lang="en-US" dirty="0" smtClean="0"/>
              <a:t>Risk-focused iterative approach.</a:t>
            </a:r>
          </a:p>
          <a:p>
            <a:r>
              <a:rPr lang="en-US" b="1" dirty="0" smtClean="0"/>
              <a:t>V-Model</a:t>
            </a:r>
          </a:p>
          <a:p>
            <a:r>
              <a:rPr lang="en-US" dirty="0" smtClean="0"/>
              <a:t>Verification and validation at every stage.</a:t>
            </a:r>
          </a:p>
          <a:p>
            <a:r>
              <a:rPr lang="en-US" b="1" dirty="0" smtClean="0"/>
              <a:t>Big Bang Model</a:t>
            </a:r>
          </a:p>
          <a:p>
            <a:r>
              <a:rPr lang="en-US" dirty="0" smtClean="0"/>
              <a:t>Minimal planning and rapid experimentation.</a:t>
            </a:r>
          </a:p>
          <a:p>
            <a:endParaRPr lang="en-US" dirty="0"/>
          </a:p>
        </p:txBody>
      </p:sp>
      <p:pic>
        <p:nvPicPr>
          <p:cNvPr id="35844" name="Picture 4" descr="Software Engineering — Software Process and Software Process Models (Part  2) | by Omar Elgabry | OmarElgabry's Blog | Mediu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00694" y="1643050"/>
            <a:ext cx="3429024" cy="324821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in Software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Key Team Members</a:t>
            </a:r>
          </a:p>
          <a:p>
            <a:r>
              <a:rPr lang="en-US" b="1" dirty="0" smtClean="0"/>
              <a:t>Business Analyst</a:t>
            </a:r>
          </a:p>
          <a:p>
            <a:r>
              <a:rPr lang="en-US" dirty="0" smtClean="0"/>
              <a:t>Collects and analyzes requirements.</a:t>
            </a:r>
          </a:p>
          <a:p>
            <a:r>
              <a:rPr lang="en-US" b="1" dirty="0" smtClean="0"/>
              <a:t>Project Manager</a:t>
            </a:r>
          </a:p>
          <a:p>
            <a:r>
              <a:rPr lang="en-US" dirty="0" smtClean="0"/>
              <a:t>Plans and manages projects.</a:t>
            </a:r>
          </a:p>
          <a:p>
            <a:r>
              <a:rPr lang="en-US" b="1" dirty="0" smtClean="0"/>
              <a:t>Software Developer</a:t>
            </a:r>
          </a:p>
          <a:p>
            <a:r>
              <a:rPr lang="en-US" dirty="0" smtClean="0"/>
              <a:t>Builds software applications.</a:t>
            </a:r>
          </a:p>
          <a:p>
            <a:r>
              <a:rPr lang="en-US" b="1" dirty="0" smtClean="0"/>
              <a:t>UI/UX Designer</a:t>
            </a:r>
          </a:p>
          <a:p>
            <a:r>
              <a:rPr lang="en-US" dirty="0" smtClean="0"/>
              <a:t>Designs user interfaces.</a:t>
            </a:r>
          </a:p>
          <a:p>
            <a:r>
              <a:rPr lang="en-US" b="1" dirty="0" smtClean="0"/>
              <a:t>QA Engineer</a:t>
            </a:r>
          </a:p>
          <a:p>
            <a:r>
              <a:rPr lang="en-US" dirty="0" smtClean="0"/>
              <a:t>Tests software quality.</a:t>
            </a:r>
          </a:p>
          <a:p>
            <a:r>
              <a:rPr lang="en-US" b="1" dirty="0" err="1" smtClean="0"/>
              <a:t>DevOps</a:t>
            </a:r>
            <a:r>
              <a:rPr lang="en-US" b="1" dirty="0" smtClean="0"/>
              <a:t> Engineer</a:t>
            </a:r>
          </a:p>
          <a:p>
            <a:r>
              <a:rPr lang="en-US" dirty="0" smtClean="0"/>
              <a:t>Handles deployment and operations.</a:t>
            </a:r>
          </a:p>
          <a:p>
            <a:endParaRPr lang="en-US" dirty="0"/>
          </a:p>
        </p:txBody>
      </p:sp>
      <p:pic>
        <p:nvPicPr>
          <p:cNvPr id="34818" name="Picture 2" descr="8 most important roles in software development team structu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14810" y="2500306"/>
            <a:ext cx="4500594" cy="30003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 and Best Practices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872442" cy="4695844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 smtClean="0"/>
              <a:t>Common Challenges</a:t>
            </a:r>
          </a:p>
          <a:p>
            <a:r>
              <a:rPr lang="en-US" dirty="0" smtClean="0"/>
              <a:t>Changing requirements </a:t>
            </a:r>
          </a:p>
          <a:p>
            <a:r>
              <a:rPr lang="en-US" dirty="0" smtClean="0"/>
              <a:t>Budget limitations </a:t>
            </a:r>
          </a:p>
          <a:p>
            <a:r>
              <a:rPr lang="en-US" dirty="0" smtClean="0"/>
              <a:t>Security concerns </a:t>
            </a:r>
          </a:p>
          <a:p>
            <a:r>
              <a:rPr lang="en-US" dirty="0" smtClean="0"/>
              <a:t>Tight schedules </a:t>
            </a:r>
          </a:p>
          <a:p>
            <a:r>
              <a:rPr lang="en-US" dirty="0" smtClean="0"/>
              <a:t>Software defects </a:t>
            </a:r>
          </a:p>
          <a:p>
            <a:r>
              <a:rPr lang="en-US" b="1" dirty="0" smtClean="0"/>
              <a:t>Best Practices</a:t>
            </a:r>
          </a:p>
          <a:p>
            <a:r>
              <a:rPr lang="en-US" dirty="0" smtClean="0"/>
              <a:t>✔ Clear Requirements</a:t>
            </a:r>
          </a:p>
          <a:p>
            <a:r>
              <a:rPr lang="en-US" dirty="0" smtClean="0"/>
              <a:t>✔ Proper Documentation</a:t>
            </a:r>
          </a:p>
          <a:p>
            <a:r>
              <a:rPr lang="en-US" dirty="0" smtClean="0"/>
              <a:t>✔ Continuous Testing</a:t>
            </a:r>
          </a:p>
          <a:p>
            <a:r>
              <a:rPr lang="en-US" dirty="0" smtClean="0"/>
              <a:t>✔ Version Control</a:t>
            </a:r>
          </a:p>
          <a:p>
            <a:r>
              <a:rPr lang="en-US" dirty="0" smtClean="0"/>
              <a:t>✔ Team Collaboration</a:t>
            </a:r>
          </a:p>
          <a:p>
            <a:r>
              <a:rPr lang="en-US" dirty="0" smtClean="0"/>
              <a:t>✔ Regular Maintenance</a:t>
            </a:r>
          </a:p>
          <a:p>
            <a:r>
              <a:rPr lang="en-US" b="1" dirty="0" smtClean="0"/>
              <a:t>Conclusion</a:t>
            </a:r>
          </a:p>
          <a:p>
            <a:r>
              <a:rPr lang="en-US" b="1" dirty="0" smtClean="0"/>
              <a:t>Successful software development requires planning, communication, quality assurance, teamwork, and continuous improvement</a:t>
            </a:r>
            <a:r>
              <a:rPr lang="en-US" b="1" dirty="0" smtClean="0"/>
              <a:t>.</a:t>
            </a:r>
            <a:endParaRPr lang="en-US" dirty="0" smtClean="0"/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744" y="2214554"/>
            <a:ext cx="4857784" cy="2683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REFERENCES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https://</a:t>
            </a:r>
            <a:r>
              <a:rPr lang="en-US" dirty="0" smtClean="0"/>
              <a:t>www.google.com/search?q=Software+Development+Tutorial&amp;rlz=1C1CHBD_enIN1039IN1039&amp;oq=Software+Development+Tutorial&amp;gs_lcrp=EgZjaHJvbWUqBggAEEUYOzIGCAAQRRg7MgcIARAAGIAEMggIAhAAGBYYHjIICAMQABgWGB4yCAgEEAAYFhgeMggIBRAAGBYYHjIICAYQABgWGB4yCAgHEAAYFhgeMggICBAAGBYYHjIICAkQABgWGB7SAQoxOTk5N2owajE1qAIAsAIA&amp;sourceid=chrome&amp;ie=UTF-8</a:t>
            </a:r>
          </a:p>
          <a:p>
            <a:r>
              <a:rPr lang="en-US" dirty="0" smtClean="0"/>
              <a:t>notes </a:t>
            </a:r>
            <a:r>
              <a:rPr lang="en-US" dirty="0" err="1" smtClean="0"/>
              <a:t>Notes</a:t>
            </a:r>
            <a:r>
              <a:rPr lang="en-US" dirty="0" smtClean="0"/>
              <a:t> </a:t>
            </a:r>
            <a:r>
              <a:rPr lang="en-US" dirty="0" err="1" smtClean="0"/>
              <a:t>NOTES</a:t>
            </a:r>
            <a:r>
              <a:rPr lang="en-US" smtClean="0"/>
              <a:t> ( Notes 1 To Notes 6 ) : https://github.com/Narthana-Elysium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116</TotalTime>
  <Words>1110</Words>
  <Application>Microsoft Office PowerPoint</Application>
  <PresentationFormat>On-screen Show (4:3)</PresentationFormat>
  <Paragraphs>384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Equity</vt:lpstr>
      <vt:lpstr>Software Development</vt:lpstr>
      <vt:lpstr>Topics Covered</vt:lpstr>
      <vt:lpstr>What is Software Development Cont.. </vt:lpstr>
      <vt:lpstr>Importance of Software Development</vt:lpstr>
      <vt:lpstr>Types of Software Development</vt:lpstr>
      <vt:lpstr>Software Development Life Cycle (SDLC)</vt:lpstr>
      <vt:lpstr>Requirement Gathering</vt:lpstr>
      <vt:lpstr>Planning and Feasibility Study</vt:lpstr>
      <vt:lpstr>Software Design</vt:lpstr>
      <vt:lpstr>Development ( Coding )</vt:lpstr>
      <vt:lpstr>Software Testing</vt:lpstr>
      <vt:lpstr>Maintenance</vt:lpstr>
      <vt:lpstr>Software Development Methodologies</vt:lpstr>
      <vt:lpstr>Roles in Software Development</vt:lpstr>
      <vt:lpstr>Challenges and Best Practices</vt:lpstr>
      <vt:lpstr>Transforming Ideas into Software Solutions</vt:lpstr>
      <vt:lpstr>Introduction to Software Development</vt:lpstr>
      <vt:lpstr>Importance of Software Development</vt:lpstr>
      <vt:lpstr>Software Development Process</vt:lpstr>
      <vt:lpstr>Software Development Life Cycle (SDLC)</vt:lpstr>
      <vt:lpstr>Requirement Gathering</vt:lpstr>
      <vt:lpstr>Feasibility Study and Planning</vt:lpstr>
      <vt:lpstr>System Analysis and Design</vt:lpstr>
      <vt:lpstr>Coding and Development</vt:lpstr>
      <vt:lpstr>Testing and Quality Assurance</vt:lpstr>
      <vt:lpstr>Integration and Deployment</vt:lpstr>
      <vt:lpstr>Maintenance</vt:lpstr>
      <vt:lpstr>Software Development Models</vt:lpstr>
      <vt:lpstr>Roles in Software Development</vt:lpstr>
      <vt:lpstr>Challenges and Best Practices</vt:lpstr>
      <vt:lpstr>REFERENCES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140</cp:revision>
  <dcterms:created xsi:type="dcterms:W3CDTF">2026-06-09T14:09:31Z</dcterms:created>
  <dcterms:modified xsi:type="dcterms:W3CDTF">2026-06-09T16:06:12Z</dcterms:modified>
</cp:coreProperties>
</file>