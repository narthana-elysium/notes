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8D9D62A-7E3C-46EA-AAC1-68A6498C7321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26371FF-D997-4DDB-B1C5-96884E9029B0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MERN Stack </a:t>
            </a:r>
            <a:r>
              <a:rPr lang="en-US" dirty="0" smtClean="0"/>
              <a:t>Development By Elysium Academy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Building Modern </a:t>
            </a:r>
            <a:r>
              <a:rPr lang="en-US" dirty="0" smtClean="0"/>
              <a:t>Full - Stack </a:t>
            </a:r>
            <a:r>
              <a:rPr lang="en-US" dirty="0" smtClean="0"/>
              <a:t>Web Applications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MERN </a:t>
            </a:r>
            <a:r>
              <a:rPr lang="en-US" dirty="0" smtClean="0"/>
              <a:t>Stack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MERN is a full-stack JavaScript technology stack. Used to build modern web applications. Uses a single programming language across frontend and backend. Supports rapid and scalable application development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MERN Components: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</a:p>
          <a:p>
            <a:r>
              <a:rPr lang="en-US" dirty="0" smtClean="0"/>
              <a:t>Express.js </a:t>
            </a:r>
          </a:p>
          <a:p>
            <a:r>
              <a:rPr lang="en-US" dirty="0" smtClean="0"/>
              <a:t>React.js </a:t>
            </a:r>
          </a:p>
          <a:p>
            <a:r>
              <a:rPr lang="en-US" dirty="0" smtClean="0"/>
              <a:t>Node.js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1143000"/>
          </a:xfrm>
        </p:spPr>
        <p:txBody>
          <a:bodyPr/>
          <a:lstStyle/>
          <a:p>
            <a:r>
              <a:rPr lang="en-US" dirty="0" smtClean="0"/>
              <a:t>Why MERN </a:t>
            </a:r>
            <a:r>
              <a:rPr lang="en-US" dirty="0" smtClean="0"/>
              <a:t>Stack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428736"/>
            <a:ext cx="6900882" cy="120776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Single language (JavaScript) Faster development Reusable code Large community support Scalable applications High performance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571744"/>
            <a:ext cx="3500462" cy="2166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 descr="Why JavaScript is Still King for Front-End Development | by Akshay Tyagi | Mediu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0298" y="4935692"/>
            <a:ext cx="3262335" cy="1779456"/>
          </a:xfrm>
          <a:prstGeom prst="rect">
            <a:avLst/>
          </a:prstGeom>
          <a:noFill/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2643182"/>
            <a:ext cx="2928958" cy="198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MERN Stack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Frontend → Backend → Database</a:t>
            </a:r>
          </a:p>
          <a:p>
            <a:r>
              <a:rPr lang="en-US" dirty="0" smtClean="0"/>
              <a:t>User → React → Express → Node → </a:t>
            </a:r>
            <a:r>
              <a:rPr lang="en-US" dirty="0" err="1" smtClean="0"/>
              <a:t>MongoDB</a:t>
            </a:r>
            <a:endParaRPr lang="en-US" dirty="0" smtClean="0"/>
          </a:p>
          <a:p>
            <a:r>
              <a:rPr lang="en-US" dirty="0" smtClean="0"/>
              <a:t>User interacts with frontend </a:t>
            </a:r>
          </a:p>
          <a:p>
            <a:r>
              <a:rPr lang="en-US" dirty="0" smtClean="0"/>
              <a:t>Requests processed by backend </a:t>
            </a:r>
          </a:p>
          <a:p>
            <a:r>
              <a:rPr lang="en-US" dirty="0" smtClean="0"/>
              <a:t>Data stored and retrieved from database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Working Flow of MERN Stack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4500570"/>
            <a:ext cx="2143140" cy="212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 descr="Request-Response Cycle in backend Communica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43174" y="4643446"/>
            <a:ext cx="3429024" cy="1896803"/>
          </a:xfrm>
          <a:prstGeom prst="rect">
            <a:avLst/>
          </a:prstGeom>
          <a:noFill/>
        </p:spPr>
      </p:pic>
      <p:pic>
        <p:nvPicPr>
          <p:cNvPr id="17414" name="Picture 6" descr="Web app development: types of web apps you can creat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072198" y="4786322"/>
            <a:ext cx="2746549" cy="1809742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571472" y="2143116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User sends request</a:t>
            </a:r>
          </a:p>
          <a:p>
            <a:r>
              <a:rPr lang="en-US" dirty="0" smtClean="0"/>
              <a:t>React handles UI</a:t>
            </a:r>
          </a:p>
          <a:p>
            <a:r>
              <a:rPr lang="en-US" dirty="0" smtClean="0"/>
              <a:t>Express receives request</a:t>
            </a:r>
          </a:p>
          <a:p>
            <a:r>
              <a:rPr lang="en-US" dirty="0" smtClean="0"/>
              <a:t>Node processes business logic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stores / retrieves data</a:t>
            </a:r>
          </a:p>
          <a:p>
            <a:r>
              <a:rPr lang="en-US" dirty="0" smtClean="0"/>
              <a:t>Response returned to user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</a:t>
            </a:r>
            <a:r>
              <a:rPr lang="en-US" dirty="0" err="1" smtClean="0"/>
              <a:t>MongoDB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 smtClean="0"/>
              <a:t>MongoDB</a:t>
            </a:r>
            <a:endParaRPr lang="en-US" b="1" dirty="0" smtClean="0"/>
          </a:p>
          <a:p>
            <a:r>
              <a:rPr lang="en-US" dirty="0" err="1" smtClean="0"/>
              <a:t>NoSQL</a:t>
            </a:r>
            <a:r>
              <a:rPr lang="en-US" dirty="0" smtClean="0"/>
              <a:t> Database </a:t>
            </a:r>
          </a:p>
          <a:p>
            <a:r>
              <a:rPr lang="en-US" dirty="0" smtClean="0"/>
              <a:t>Stores data as documents </a:t>
            </a:r>
          </a:p>
          <a:p>
            <a:r>
              <a:rPr lang="en-US" dirty="0" smtClean="0"/>
              <a:t>JSON-like structure </a:t>
            </a:r>
          </a:p>
          <a:p>
            <a:r>
              <a:rPr lang="en-US" dirty="0" smtClean="0"/>
              <a:t>Flexible schema </a:t>
            </a:r>
          </a:p>
          <a:p>
            <a:r>
              <a:rPr lang="en-US" dirty="0" smtClean="0"/>
              <a:t>Highly scalable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</a:t>
            </a:r>
            <a:r>
              <a:rPr lang="en-US" dirty="0" err="1" smtClean="0"/>
              <a:t>MongoDB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4786322"/>
            <a:ext cx="2428891" cy="18037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6" name="Picture 4" descr="Relational and non relational database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488" y="4786322"/>
            <a:ext cx="3286148" cy="1730362"/>
          </a:xfrm>
          <a:prstGeom prst="rect">
            <a:avLst/>
          </a:prstGeom>
          <a:noFill/>
        </p:spPr>
      </p:pic>
      <p:pic>
        <p:nvPicPr>
          <p:cNvPr id="18438" name="Picture 6" descr="Relational and non relational database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88" y="4714884"/>
            <a:ext cx="2428892" cy="152754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714348" y="2571744"/>
            <a:ext cx="59293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Document-oriented storage</a:t>
            </a:r>
          </a:p>
          <a:p>
            <a:r>
              <a:rPr lang="en-US" dirty="0" smtClean="0"/>
              <a:t>Schema flexibility</a:t>
            </a:r>
          </a:p>
          <a:p>
            <a:r>
              <a:rPr lang="en-US" dirty="0" smtClean="0"/>
              <a:t>High availability</a:t>
            </a:r>
          </a:p>
          <a:p>
            <a:r>
              <a:rPr lang="en-US" dirty="0" smtClean="0"/>
              <a:t>Horizontal scaling</a:t>
            </a:r>
          </a:p>
          <a:p>
            <a:r>
              <a:rPr lang="en-US" dirty="0" smtClean="0"/>
              <a:t>Fast data retrieval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MongoDB</a:t>
            </a:r>
            <a:r>
              <a:rPr lang="en-US" dirty="0" smtClean="0"/>
              <a:t> Operations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Basic Operations</a:t>
            </a:r>
          </a:p>
          <a:p>
            <a:r>
              <a:rPr lang="en-US" dirty="0" smtClean="0"/>
              <a:t>Create Database </a:t>
            </a:r>
          </a:p>
          <a:p>
            <a:r>
              <a:rPr lang="en-US" dirty="0" smtClean="0"/>
              <a:t>Create Collection </a:t>
            </a:r>
          </a:p>
          <a:p>
            <a:r>
              <a:rPr lang="en-US" dirty="0" smtClean="0"/>
              <a:t>Insert Documents </a:t>
            </a:r>
          </a:p>
          <a:p>
            <a:r>
              <a:rPr lang="en-US" dirty="0" smtClean="0"/>
              <a:t>Query Documents </a:t>
            </a:r>
          </a:p>
          <a:p>
            <a:r>
              <a:rPr lang="en-US" dirty="0" smtClean="0"/>
              <a:t>Update Documents </a:t>
            </a:r>
          </a:p>
          <a:p>
            <a:r>
              <a:rPr lang="en-US" dirty="0" smtClean="0"/>
              <a:t>Delete Documents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Express.js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Express.js</a:t>
            </a:r>
          </a:p>
          <a:p>
            <a:r>
              <a:rPr lang="en-US" dirty="0" smtClean="0"/>
              <a:t>Backend framework for Node.js </a:t>
            </a:r>
          </a:p>
          <a:p>
            <a:r>
              <a:rPr lang="en-US" dirty="0" smtClean="0"/>
              <a:t>Simplifies API development </a:t>
            </a:r>
          </a:p>
          <a:p>
            <a:r>
              <a:rPr lang="en-US" dirty="0" smtClean="0"/>
              <a:t>Handles routing </a:t>
            </a:r>
          </a:p>
          <a:p>
            <a:r>
              <a:rPr lang="en-US" dirty="0" smtClean="0"/>
              <a:t>Supports middleware </a:t>
            </a:r>
          </a:p>
          <a:p>
            <a:r>
              <a:rPr lang="en-US" dirty="0" smtClean="0"/>
              <a:t>Lightweight and fast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4298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Features </a:t>
            </a:r>
            <a:r>
              <a:rPr lang="en-US" b="1" dirty="0" smtClean="0"/>
              <a:t>of Express.js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5400684" cy="1136330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Routing support</a:t>
            </a:r>
          </a:p>
          <a:p>
            <a:r>
              <a:rPr lang="en-US" dirty="0" smtClean="0"/>
              <a:t>Middleware integration</a:t>
            </a:r>
          </a:p>
          <a:p>
            <a:r>
              <a:rPr lang="en-US" dirty="0" smtClean="0"/>
              <a:t>REST API development</a:t>
            </a:r>
          </a:p>
          <a:p>
            <a:r>
              <a:rPr lang="en-US" dirty="0" smtClean="0"/>
              <a:t>Error handling</a:t>
            </a:r>
          </a:p>
          <a:p>
            <a:r>
              <a:rPr lang="en-US" dirty="0" smtClean="0"/>
              <a:t>Scalability</a:t>
            </a:r>
            <a:endParaRPr lang="en-US" dirty="0"/>
          </a:p>
        </p:txBody>
      </p:sp>
      <p:pic>
        <p:nvPicPr>
          <p:cNvPr id="20482" name="Picture 2" descr="https://images.openai.com/static-rsc-4/N1AjTJ0yoo7VQ2QutUHVqTwGZoQaFeDlHwjJ45xEkB6j4UK7fDp9D0xjh7LmiBCvwI5xyWxBVfGFUJ83ekwxtenGV3-ikjXW8yBFsqolhs-MxmrFRf74KRLIFaCLRv3g-kc-CE8AFG97CU4csNLhkZL3Y7PIelb6QvMCbRQmcZK2B41jDa4iX16XLu0SCrxB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3357562"/>
            <a:ext cx="4179122" cy="2786082"/>
          </a:xfrm>
          <a:prstGeom prst="rect">
            <a:avLst/>
          </a:prstGeom>
          <a:noFill/>
        </p:spPr>
      </p:pic>
      <p:pic>
        <p:nvPicPr>
          <p:cNvPr id="20484" name="Picture 4" descr="What is the backend?. An easy intro to the Backend, Servers… | by Rio Edwards | Medi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1571612"/>
            <a:ext cx="4450803" cy="2714644"/>
          </a:xfrm>
          <a:prstGeom prst="rect">
            <a:avLst/>
          </a:prstGeom>
          <a:noFill/>
        </p:spPr>
      </p:pic>
      <p:pic>
        <p:nvPicPr>
          <p:cNvPr id="2048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4429132"/>
            <a:ext cx="4105170" cy="17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smtClean="0"/>
              <a:t>Middleware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Middleware</a:t>
            </a:r>
          </a:p>
          <a:p>
            <a:r>
              <a:rPr lang="en-US" dirty="0" smtClean="0"/>
              <a:t>Functions executed between:</a:t>
            </a:r>
          </a:p>
          <a:p>
            <a:r>
              <a:rPr lang="en-US" dirty="0" smtClean="0"/>
              <a:t>Request → Server → Response</a:t>
            </a:r>
          </a:p>
          <a:p>
            <a:r>
              <a:rPr lang="en-US" dirty="0" smtClean="0"/>
              <a:t>Uses:</a:t>
            </a:r>
          </a:p>
          <a:p>
            <a:r>
              <a:rPr lang="en-US" dirty="0" smtClean="0"/>
              <a:t>Authentication </a:t>
            </a:r>
          </a:p>
          <a:p>
            <a:r>
              <a:rPr lang="en-US" dirty="0" smtClean="0"/>
              <a:t>Logging </a:t>
            </a:r>
          </a:p>
          <a:p>
            <a:r>
              <a:rPr lang="en-US" dirty="0" smtClean="0"/>
              <a:t>Validation </a:t>
            </a:r>
          </a:p>
          <a:p>
            <a:r>
              <a:rPr lang="en-US" dirty="0" smtClean="0"/>
              <a:t>Error Handling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Node.js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Node.js</a:t>
            </a:r>
          </a:p>
          <a:p>
            <a:r>
              <a:rPr lang="en-US" dirty="0" smtClean="0"/>
              <a:t>JavaScript Runtime Environment </a:t>
            </a:r>
          </a:p>
          <a:p>
            <a:r>
              <a:rPr lang="en-US" dirty="0" smtClean="0"/>
              <a:t>Executes JavaScript on server </a:t>
            </a:r>
          </a:p>
          <a:p>
            <a:r>
              <a:rPr lang="en-US" dirty="0" smtClean="0"/>
              <a:t>Event-driven architecture </a:t>
            </a:r>
          </a:p>
          <a:p>
            <a:r>
              <a:rPr lang="en-US" dirty="0" smtClean="0"/>
              <a:t>Non-blocking operations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472" y="100010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Features of Node.js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034" y="1643050"/>
            <a:ext cx="8229600" cy="4389120"/>
          </a:xfrm>
        </p:spPr>
        <p:txBody>
          <a:bodyPr/>
          <a:lstStyle/>
          <a:p>
            <a:r>
              <a:rPr lang="en-US" dirty="0" smtClean="0"/>
              <a:t>Fast execution V8 Engine Asynchronous processing Scalable applications Large package ecosystem</a:t>
            </a:r>
            <a:endParaRPr lang="en-US" dirty="0"/>
          </a:p>
        </p:txBody>
      </p:sp>
      <p:pic>
        <p:nvPicPr>
          <p:cNvPr id="23554" name="Picture 2" descr="https://images.openai.com/static-rsc-4/M1w25hDCq3A41FqaVtbhU1mL9D5DGUr6zyCK29-JEJCVe65zgtjvRcEgZOoubK_o5CN05WrVC4y4bPTlsLcwlf3tD8K1IlM_0CPN9ZPCTdw5z5re8qnrmIyf2Ja86NcMRwx-lpE8lDoGXE1wAdWbXvcv4e9oXhz-2dlcx8g1fyx9kPNkuGEv8WX6K56Gohwd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714620"/>
            <a:ext cx="4067127" cy="3049459"/>
          </a:xfrm>
          <a:prstGeom prst="rect">
            <a:avLst/>
          </a:prstGeom>
          <a:noFill/>
        </p:spPr>
      </p:pic>
      <p:pic>
        <p:nvPicPr>
          <p:cNvPr id="23556" name="Picture 4" descr="How to create a server in Node.js without using Express | by Johan Thestrup | Medi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2643182"/>
            <a:ext cx="3929090" cy="2355614"/>
          </a:xfrm>
          <a:prstGeom prst="rect">
            <a:avLst/>
          </a:prstGeom>
          <a:noFill/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6" y="5143511"/>
            <a:ext cx="3071834" cy="1465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Node.js Event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Event Loop</a:t>
            </a:r>
          </a:p>
          <a:p>
            <a:r>
              <a:rPr lang="en-US" dirty="0" smtClean="0"/>
              <a:t>Handles multiple requests </a:t>
            </a:r>
          </a:p>
          <a:p>
            <a:r>
              <a:rPr lang="en-US" dirty="0" smtClean="0"/>
              <a:t>Non-blocking architecture </a:t>
            </a:r>
          </a:p>
          <a:p>
            <a:r>
              <a:rPr lang="en-US" dirty="0" smtClean="0"/>
              <a:t>Efficient resource utilization </a:t>
            </a:r>
          </a:p>
          <a:p>
            <a:r>
              <a:rPr lang="en-US" dirty="0" smtClean="0"/>
              <a:t>Improves performance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React.js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React.js</a:t>
            </a:r>
          </a:p>
          <a:p>
            <a:r>
              <a:rPr lang="en-US" dirty="0" smtClean="0"/>
              <a:t>JavaScript UI Library </a:t>
            </a:r>
          </a:p>
          <a:p>
            <a:r>
              <a:rPr lang="en-US" dirty="0" smtClean="0"/>
              <a:t>Creates dynamic interfaces </a:t>
            </a:r>
          </a:p>
          <a:p>
            <a:r>
              <a:rPr lang="en-US" dirty="0" smtClean="0"/>
              <a:t>Component-based architecture </a:t>
            </a:r>
          </a:p>
          <a:p>
            <a:r>
              <a:rPr lang="en-US" dirty="0" smtClean="0"/>
              <a:t>Used for Single Page Applications</a:t>
            </a:r>
          </a:p>
          <a:p>
            <a:endParaRPr lang="en-US" dirty="0"/>
          </a:p>
        </p:txBody>
      </p:sp>
      <p:pic>
        <p:nvPicPr>
          <p:cNvPr id="27650" name="Picture 2" descr="Front end development. Website interface, front end developer, web page design, user experience. Flat concept great for social media promotional material. Website banner on white background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4500570"/>
            <a:ext cx="5214974" cy="1942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React.js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3857628"/>
            <a:ext cx="3929090" cy="239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3571876"/>
            <a:ext cx="4176719" cy="262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714348" y="1928802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Virtual DOM</a:t>
            </a:r>
          </a:p>
          <a:p>
            <a:r>
              <a:rPr lang="en-US" dirty="0" smtClean="0"/>
              <a:t>JSX Syntax</a:t>
            </a:r>
          </a:p>
          <a:p>
            <a:r>
              <a:rPr lang="en-US" dirty="0" smtClean="0"/>
              <a:t>Reusable Components</a:t>
            </a:r>
          </a:p>
          <a:p>
            <a:r>
              <a:rPr lang="en-US" dirty="0" smtClean="0"/>
              <a:t>Fast Rendering</a:t>
            </a:r>
          </a:p>
          <a:p>
            <a:r>
              <a:rPr lang="en-US" dirty="0" smtClean="0"/>
              <a:t>State Management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React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Types of Components</a:t>
            </a:r>
          </a:p>
          <a:p>
            <a:r>
              <a:rPr lang="en-US" dirty="0" smtClean="0"/>
              <a:t>Functional Components </a:t>
            </a:r>
          </a:p>
          <a:p>
            <a:r>
              <a:rPr lang="en-US" dirty="0" smtClean="0"/>
              <a:t>Class Components </a:t>
            </a:r>
          </a:p>
          <a:p>
            <a:r>
              <a:rPr lang="en-US" dirty="0" smtClean="0"/>
              <a:t>Benefits:</a:t>
            </a:r>
          </a:p>
          <a:p>
            <a:r>
              <a:rPr lang="en-US" dirty="0" smtClean="0"/>
              <a:t>Reusability </a:t>
            </a:r>
          </a:p>
          <a:p>
            <a:r>
              <a:rPr lang="en-US" dirty="0" smtClean="0"/>
              <a:t>Maintainability </a:t>
            </a:r>
          </a:p>
          <a:p>
            <a:r>
              <a:rPr lang="en-US" dirty="0" smtClean="0"/>
              <a:t>Modularity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Virtual </a:t>
            </a:r>
            <a:r>
              <a:rPr lang="en-US" dirty="0" smtClean="0"/>
              <a:t>DOM Document Object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Virtual DOM</a:t>
            </a:r>
          </a:p>
          <a:p>
            <a:r>
              <a:rPr lang="en-US" dirty="0" smtClean="0"/>
              <a:t>Lightweight copy of real DOM </a:t>
            </a:r>
          </a:p>
          <a:p>
            <a:r>
              <a:rPr lang="en-US" dirty="0" smtClean="0"/>
              <a:t>Detects changes efficiently </a:t>
            </a:r>
          </a:p>
          <a:p>
            <a:r>
              <a:rPr lang="en-US" dirty="0" smtClean="0"/>
              <a:t>Improves rendering speed </a:t>
            </a:r>
          </a:p>
          <a:p>
            <a:r>
              <a:rPr lang="en-US" dirty="0" smtClean="0"/>
              <a:t>Better user experience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MERN Development 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 HTML</a:t>
            </a:r>
          </a:p>
          <a:p>
            <a:r>
              <a:rPr lang="en-US" dirty="0" smtClean="0"/>
              <a:t>Learn CSS</a:t>
            </a:r>
          </a:p>
          <a:p>
            <a:r>
              <a:rPr lang="en-US" dirty="0" smtClean="0"/>
              <a:t>Learn JavaScript</a:t>
            </a:r>
          </a:p>
          <a:p>
            <a:r>
              <a:rPr lang="en-US" dirty="0" smtClean="0"/>
              <a:t>Learn React</a:t>
            </a:r>
          </a:p>
          <a:p>
            <a:r>
              <a:rPr lang="en-US" dirty="0" smtClean="0"/>
              <a:t>Learn Node.js</a:t>
            </a:r>
          </a:p>
          <a:p>
            <a:r>
              <a:rPr lang="en-US" dirty="0" smtClean="0"/>
              <a:t>Learn Express.js</a:t>
            </a:r>
          </a:p>
          <a:p>
            <a:r>
              <a:rPr lang="en-US" dirty="0" smtClean="0"/>
              <a:t>Learn </a:t>
            </a:r>
            <a:r>
              <a:rPr lang="en-US" dirty="0" err="1" smtClean="0"/>
              <a:t>MongoDB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500042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Setting Up Development Environment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4186238" cy="1707834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Requirements:</a:t>
            </a:r>
          </a:p>
          <a:p>
            <a:r>
              <a:rPr lang="en-US" dirty="0" smtClean="0"/>
              <a:t>Node.js </a:t>
            </a:r>
          </a:p>
          <a:p>
            <a:r>
              <a:rPr lang="en-US" dirty="0" smtClean="0"/>
              <a:t>Code Editor </a:t>
            </a:r>
          </a:p>
          <a:p>
            <a:r>
              <a:rPr lang="en-US" dirty="0" smtClean="0"/>
              <a:t>Browser 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</a:t>
            </a:r>
          </a:p>
          <a:p>
            <a:r>
              <a:rPr lang="en-US" dirty="0" smtClean="0"/>
              <a:t>Internet Connection</a:t>
            </a:r>
          </a:p>
          <a:p>
            <a:endParaRPr lang="en-US" dirty="0"/>
          </a:p>
        </p:txBody>
      </p:sp>
      <p:pic>
        <p:nvPicPr>
          <p:cNvPr id="5" name="Picture 2" descr="https://images.openai.com/static-rsc-4/khIt8HnkL2SYLylYRjyluaHKwNbpwttIr1LSPOdh3Ni6ThZbPQaNSqUsojS658ma2tJ4jjT4Z7BpWWn1UjS6OFVAWS04siOxjvePq9xzsz-AqAKoNpFA4SDf9AjjsUdyiNng4ScmZrIENsgwBwhlVJfIBUWIkInmOANUuf_-hF74alUnZ-mRJMbdnHNCa8Rl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786190"/>
            <a:ext cx="3214674" cy="2143116"/>
          </a:xfrm>
          <a:prstGeom prst="rect">
            <a:avLst/>
          </a:prstGeom>
          <a:noFill/>
        </p:spPr>
      </p:pic>
      <p:pic>
        <p:nvPicPr>
          <p:cNvPr id="29700" name="Picture 4" descr="https://images.openai.com/static-rsc-4/qji9A_UqQNlucRdS6HV7Cde1ibktyGwSGcLDvPJbax0yrMTMnRVRUTVjHb_EDmfjDL1aibdbxQSB0FRd8_Ld4QXFsew47_xI59wTunfF7lTPhbUh85sovmVUj1Kom3_zF-foN9mr5fbDIoQSMonXTTx7hC22Zt_iwqR-jevZIWLds5bwDGC7R7FKUUU1d_5o?purpose=fullsiz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1643050"/>
            <a:ext cx="4071966" cy="3053975"/>
          </a:xfrm>
          <a:prstGeom prst="rect">
            <a:avLst/>
          </a:prstGeom>
          <a:noFill/>
        </p:spPr>
      </p:pic>
      <p:pic>
        <p:nvPicPr>
          <p:cNvPr id="29702" name="Picture 6" descr="Choose the Best Laptop for Coding Under 30,000 Rupee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14876" y="4929198"/>
            <a:ext cx="3143272" cy="163286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MERN Project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Project</a:t>
            </a:r>
            <a:br>
              <a:rPr lang="en-US" dirty="0" smtClean="0"/>
            </a:br>
            <a:r>
              <a:rPr lang="en-US" dirty="0" smtClean="0"/>
              <a:t>│</a:t>
            </a:r>
            <a:br>
              <a:rPr lang="en-US" dirty="0" smtClean="0"/>
            </a:br>
            <a:r>
              <a:rPr lang="en-US" dirty="0" smtClean="0"/>
              <a:t>├── frontend</a:t>
            </a:r>
            <a:br>
              <a:rPr lang="en-US" dirty="0" smtClean="0"/>
            </a:br>
            <a:r>
              <a:rPr lang="en-US" dirty="0" smtClean="0"/>
              <a:t>│ └── React App</a:t>
            </a:r>
            <a:br>
              <a:rPr lang="en-US" dirty="0" smtClean="0"/>
            </a:br>
            <a:r>
              <a:rPr lang="en-US" dirty="0" smtClean="0"/>
              <a:t>│</a:t>
            </a:r>
            <a:br>
              <a:rPr lang="en-US" dirty="0" smtClean="0"/>
            </a:br>
            <a:r>
              <a:rPr lang="en-US" dirty="0" smtClean="0"/>
              <a:t>└── backend</a:t>
            </a:r>
            <a:br>
              <a:rPr lang="en-US" dirty="0" smtClean="0"/>
            </a:br>
            <a:r>
              <a:rPr lang="en-US" dirty="0" smtClean="0"/>
              <a:t>└── Node + Express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Frontend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React Handles:</a:t>
            </a:r>
          </a:p>
          <a:p>
            <a:r>
              <a:rPr lang="en-US" dirty="0" smtClean="0"/>
              <a:t>UI Design </a:t>
            </a:r>
          </a:p>
          <a:p>
            <a:r>
              <a:rPr lang="en-US" dirty="0" smtClean="0"/>
              <a:t>User Interaction </a:t>
            </a:r>
          </a:p>
          <a:p>
            <a:r>
              <a:rPr lang="en-US" dirty="0" smtClean="0"/>
              <a:t>Form Handling </a:t>
            </a:r>
          </a:p>
          <a:p>
            <a:r>
              <a:rPr lang="en-US" dirty="0" smtClean="0"/>
              <a:t>API Calls </a:t>
            </a:r>
          </a:p>
          <a:p>
            <a:r>
              <a:rPr lang="en-US" dirty="0" smtClean="0"/>
              <a:t>State Management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Backend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Node + Express Handles:</a:t>
            </a:r>
          </a:p>
          <a:p>
            <a:r>
              <a:rPr lang="en-US" dirty="0" smtClean="0"/>
              <a:t>Business Logic </a:t>
            </a:r>
          </a:p>
          <a:p>
            <a:r>
              <a:rPr lang="en-US" dirty="0" smtClean="0"/>
              <a:t>Authentication </a:t>
            </a:r>
          </a:p>
          <a:p>
            <a:r>
              <a:rPr lang="en-US" dirty="0" smtClean="0"/>
              <a:t>Routing </a:t>
            </a:r>
          </a:p>
          <a:p>
            <a:r>
              <a:rPr lang="en-US" dirty="0" smtClean="0"/>
              <a:t>API Development </a:t>
            </a:r>
          </a:p>
          <a:p>
            <a:r>
              <a:rPr lang="en-US" dirty="0" smtClean="0"/>
              <a:t>Data Processing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 Responsibilities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MongoDB</a:t>
            </a:r>
            <a:r>
              <a:rPr lang="en-US" dirty="0" smtClean="0"/>
              <a:t> Handles:</a:t>
            </a:r>
          </a:p>
          <a:p>
            <a:r>
              <a:rPr lang="en-US" dirty="0" smtClean="0"/>
              <a:t>Data Storage </a:t>
            </a:r>
          </a:p>
          <a:p>
            <a:r>
              <a:rPr lang="en-US" dirty="0" smtClean="0"/>
              <a:t>Data Retrieval </a:t>
            </a:r>
          </a:p>
          <a:p>
            <a:r>
              <a:rPr lang="en-US" dirty="0" smtClean="0"/>
              <a:t>Data Updates </a:t>
            </a:r>
          </a:p>
          <a:p>
            <a:r>
              <a:rPr lang="en-US" dirty="0" smtClean="0"/>
              <a:t>Data Security </a:t>
            </a:r>
          </a:p>
          <a:p>
            <a:r>
              <a:rPr lang="en-US" dirty="0" smtClean="0"/>
              <a:t>Scalability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MERN API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4757742" cy="135064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 smtClean="0"/>
              <a:t>Flow</a:t>
            </a:r>
          </a:p>
          <a:p>
            <a:r>
              <a:rPr lang="en-US" dirty="0" smtClean="0"/>
              <a:t>React → API Request</a:t>
            </a:r>
          </a:p>
          <a:p>
            <a:r>
              <a:rPr lang="en-US" dirty="0" smtClean="0"/>
              <a:t>Express → Route Processing</a:t>
            </a:r>
          </a:p>
          <a:p>
            <a:r>
              <a:rPr lang="en-US" dirty="0" smtClean="0"/>
              <a:t>Node → Logic Execution</a:t>
            </a:r>
          </a:p>
          <a:p>
            <a:r>
              <a:rPr lang="en-US" dirty="0" err="1" smtClean="0"/>
              <a:t>MongoDB</a:t>
            </a:r>
            <a:r>
              <a:rPr lang="en-US" dirty="0" smtClean="0"/>
              <a:t> → Database Operations</a:t>
            </a:r>
          </a:p>
          <a:p>
            <a:r>
              <a:rPr lang="en-US" dirty="0" smtClean="0"/>
              <a:t>Response → React</a:t>
            </a:r>
          </a:p>
          <a:p>
            <a:endParaRPr lang="en-US" dirty="0"/>
          </a:p>
        </p:txBody>
      </p:sp>
      <p:pic>
        <p:nvPicPr>
          <p:cNvPr id="33794" name="Picture 2" descr="Rest API Yapısı ve HTTP ile İletişim | by Selim Gökhan Sobacı | Med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4143380"/>
            <a:ext cx="5286412" cy="2310707"/>
          </a:xfrm>
          <a:prstGeom prst="rect">
            <a:avLst/>
          </a:prstGeom>
          <a:noFill/>
        </p:spPr>
      </p:pic>
      <p:pic>
        <p:nvPicPr>
          <p:cNvPr id="3379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0496" y="2000240"/>
            <a:ext cx="4327660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43570" y="4786322"/>
            <a:ext cx="3071834" cy="1718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Advantages of MERN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Full-stack JavaScript</a:t>
            </a:r>
          </a:p>
          <a:p>
            <a:r>
              <a:rPr lang="en-US" dirty="0" smtClean="0"/>
              <a:t>Faster Development</a:t>
            </a:r>
          </a:p>
          <a:p>
            <a:r>
              <a:rPr lang="en-US" dirty="0" smtClean="0"/>
              <a:t>Open Source</a:t>
            </a:r>
          </a:p>
          <a:p>
            <a:r>
              <a:rPr lang="en-US" dirty="0" smtClean="0"/>
              <a:t>High Performance</a:t>
            </a:r>
          </a:p>
          <a:p>
            <a:r>
              <a:rPr lang="en-US" dirty="0" smtClean="0"/>
              <a:t>Easy Maintenance</a:t>
            </a:r>
          </a:p>
          <a:p>
            <a:r>
              <a:rPr lang="en-US" dirty="0" smtClean="0"/>
              <a:t>Strong Community Support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 - World </a:t>
            </a:r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2400288" cy="1136330"/>
          </a:xfrm>
        </p:spPr>
        <p:txBody>
          <a:bodyPr>
            <a:normAutofit fontScale="40000" lnSpcReduction="20000"/>
          </a:bodyPr>
          <a:lstStyle/>
          <a:p>
            <a:r>
              <a:rPr lang="en-US" dirty="0" smtClean="0"/>
              <a:t>MERN Stack is used for:</a:t>
            </a:r>
          </a:p>
          <a:p>
            <a:r>
              <a:rPr lang="en-US" dirty="0" smtClean="0"/>
              <a:t>E-Commerce Platforms </a:t>
            </a:r>
          </a:p>
          <a:p>
            <a:r>
              <a:rPr lang="en-US" dirty="0" smtClean="0"/>
              <a:t>Social Media Apps </a:t>
            </a:r>
          </a:p>
          <a:p>
            <a:r>
              <a:rPr lang="en-US" dirty="0" smtClean="0"/>
              <a:t>Learning Platforms </a:t>
            </a:r>
          </a:p>
          <a:p>
            <a:r>
              <a:rPr lang="en-US" dirty="0" smtClean="0"/>
              <a:t>Hospital Management Systems </a:t>
            </a:r>
          </a:p>
          <a:p>
            <a:r>
              <a:rPr lang="en-US" dirty="0" smtClean="0"/>
              <a:t>Portfolio Applications </a:t>
            </a:r>
          </a:p>
          <a:p>
            <a:r>
              <a:rPr lang="en-US" dirty="0" smtClean="0"/>
              <a:t>Business Dashboards</a:t>
            </a:r>
          </a:p>
          <a:p>
            <a:endParaRPr lang="en-US" dirty="0"/>
          </a:p>
        </p:txBody>
      </p:sp>
      <p:pic>
        <p:nvPicPr>
          <p:cNvPr id="38914" name="Picture 2" descr="https://images.openai.com/static-rsc-4/X7p6wlCA9XF-GgF_g3aA1jQuKoMd451mL2XdI5EF9vo7mbrTA2F1WnBG-AadYPNswrWABWqgUSp7o4KMwxD0Zp1rmce8aZxeohIxnqUtG-GgFy56KltxRgDNW1fjsiVjBGBoeejw0pYoIz-nhFceMNdvElsXJAAlTz9Nxqb2RYc_YptqeF25HUdmWRur2d2L?purpose=fullsiz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9124" y="2000240"/>
            <a:ext cx="4393437" cy="2928958"/>
          </a:xfrm>
          <a:prstGeom prst="rect">
            <a:avLst/>
          </a:prstGeom>
          <a:noFill/>
        </p:spPr>
      </p:pic>
      <p:pic>
        <p:nvPicPr>
          <p:cNvPr id="38916" name="Picture 4" descr="Social selling: como usar as redes sociais para vender mai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143248"/>
            <a:ext cx="3964809" cy="2643206"/>
          </a:xfrm>
          <a:prstGeom prst="rect">
            <a:avLst/>
          </a:prstGeom>
          <a:noFill/>
        </p:spPr>
      </p:pic>
      <p:pic>
        <p:nvPicPr>
          <p:cNvPr id="38918" name="Picture 6" descr="Hospital Administration Management System | Hospital ERP - CSM Tech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000628" y="5214950"/>
            <a:ext cx="3282001" cy="12858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Challenges in MERN Development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Learning Curve </a:t>
            </a:r>
          </a:p>
          <a:p>
            <a:r>
              <a:rPr lang="en-US" dirty="0" smtClean="0"/>
              <a:t>State Management Complexity </a:t>
            </a:r>
          </a:p>
          <a:p>
            <a:r>
              <a:rPr lang="en-US" dirty="0" smtClean="0"/>
              <a:t>Security Implementation </a:t>
            </a:r>
          </a:p>
          <a:p>
            <a:r>
              <a:rPr lang="en-US" dirty="0" smtClean="0"/>
              <a:t>Performance Optimization </a:t>
            </a:r>
          </a:p>
          <a:p>
            <a:r>
              <a:rPr lang="en-US" dirty="0" smtClean="0"/>
              <a:t>Database Design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Career Opportunities</a:t>
            </a:r>
            <a:endParaRPr lang="en-US" dirty="0"/>
          </a:p>
        </p:txBody>
      </p:sp>
      <p:pic>
        <p:nvPicPr>
          <p:cNvPr id="409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4929198"/>
            <a:ext cx="1857388" cy="1650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64" name="Picture 4" descr="What Is a Full Stack Developer, and Required Skills? | Simplilear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357694"/>
            <a:ext cx="4064028" cy="2286016"/>
          </a:xfrm>
          <a:prstGeom prst="rect">
            <a:avLst/>
          </a:prstGeom>
          <a:noFill/>
        </p:spPr>
      </p:pic>
      <p:pic>
        <p:nvPicPr>
          <p:cNvPr id="40967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00826" y="4929198"/>
            <a:ext cx="2455036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500034" y="2071678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MERN Developer</a:t>
            </a:r>
          </a:p>
          <a:p>
            <a:r>
              <a:rPr lang="en-US" dirty="0" smtClean="0"/>
              <a:t>Frontend Developer</a:t>
            </a:r>
          </a:p>
          <a:p>
            <a:r>
              <a:rPr lang="en-US" dirty="0" smtClean="0"/>
              <a:t>Backend Developer</a:t>
            </a:r>
          </a:p>
          <a:p>
            <a:r>
              <a:rPr lang="en-US" dirty="0" smtClean="0"/>
              <a:t>Full Stack Developer</a:t>
            </a:r>
          </a:p>
          <a:p>
            <a:r>
              <a:rPr lang="en-US" dirty="0" smtClean="0"/>
              <a:t>Software Engineer</a:t>
            </a:r>
          </a:p>
          <a:p>
            <a:r>
              <a:rPr lang="en-US" dirty="0" smtClean="0"/>
              <a:t>Web Application Developer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MERN Stack Recap</a:t>
            </a:r>
          </a:p>
          <a:p>
            <a:r>
              <a:rPr lang="en-US" dirty="0" smtClean="0"/>
              <a:t>✓ </a:t>
            </a:r>
            <a:r>
              <a:rPr lang="en-US" dirty="0" err="1" smtClean="0"/>
              <a:t>MongoDB</a:t>
            </a:r>
            <a:r>
              <a:rPr lang="en-US" dirty="0" smtClean="0"/>
              <a:t> – Database</a:t>
            </a:r>
          </a:p>
          <a:p>
            <a:r>
              <a:rPr lang="en-US" dirty="0" smtClean="0"/>
              <a:t>✓ Express.js – Backend Framework</a:t>
            </a:r>
          </a:p>
          <a:p>
            <a:r>
              <a:rPr lang="en-US" dirty="0" smtClean="0"/>
              <a:t>✓ React.js – Frontend Library</a:t>
            </a:r>
          </a:p>
          <a:p>
            <a:r>
              <a:rPr lang="en-US" dirty="0" smtClean="0"/>
              <a:t>✓ Node.js – Runtime Environment</a:t>
            </a:r>
          </a:p>
          <a:p>
            <a:r>
              <a:rPr lang="en-US" b="1" dirty="0" smtClean="0"/>
              <a:t>Key Takeaway</a:t>
            </a:r>
          </a:p>
          <a:p>
            <a:r>
              <a:rPr lang="en-US" dirty="0" smtClean="0"/>
              <a:t>"One Language, Complete Full-Stack Development"</a:t>
            </a:r>
          </a:p>
          <a:p>
            <a:r>
              <a:rPr lang="en-US" dirty="0" smtClean="0"/>
              <a:t>Source concepts adapted from MERN Stack overview and component descriptions.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https://</a:t>
            </a:r>
            <a:r>
              <a:rPr lang="en-US" dirty="0" smtClean="0"/>
              <a:t>www.google.com/search?q=MERN+Stack+Tutorial&amp;rlz=1C1CHBD_enIN1039IN1039&amp;oq=mern+stack+tutorial&amp;gs_lcrp=EgZjaHJvbWUqBggAEEUYOzIGCAAQRRg7MgcIARAAGIAEMgcIAhAAGIAEMggIAxAAGBYYHjIICAQQABgWGB4yCAgFEAAYFhgeMggIBhAAGBYYHjIICAcQABgWGB4yCAgIEAAYFhgeMggICRAAGBYYHtIBCTcwMDZqMGoxNagCCLACAfEFO0xPI4StHrg&amp;sourceid=chrome&amp;ie=UTF-8</a:t>
            </a:r>
          </a:p>
          <a:p>
            <a:r>
              <a:rPr lang="en-US" dirty="0" smtClean="0"/>
              <a:t>notes </a:t>
            </a:r>
            <a:r>
              <a:rPr lang="en-US" dirty="0" err="1" smtClean="0"/>
              <a:t>Notes</a:t>
            </a:r>
            <a:r>
              <a:rPr lang="en-US" dirty="0" smtClean="0"/>
              <a:t> </a:t>
            </a:r>
            <a:r>
              <a:rPr lang="en-US" dirty="0" err="1" smtClean="0"/>
              <a:t>NOTES</a:t>
            </a:r>
            <a:r>
              <a:rPr lang="en-US" dirty="0" smtClean="0"/>
              <a:t> ( Notes 1 To Notes 6 ) - https://github.com/Narthana-Elysium</a:t>
            </a:r>
          </a:p>
          <a:p>
            <a:endParaRPr lang="en-US" smtClean="0"/>
          </a:p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1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FF0000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37</TotalTime>
  <Words>574</Words>
  <Application>Microsoft Office PowerPoint</Application>
  <PresentationFormat>On-screen Show (4:3)</PresentationFormat>
  <Paragraphs>192</Paragraphs>
  <Slides>31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Flow</vt:lpstr>
      <vt:lpstr>MERN Stack Development By Elysium Academy </vt:lpstr>
      <vt:lpstr>What is MERN Stack ?</vt:lpstr>
      <vt:lpstr>Why MERN Stack ?</vt:lpstr>
      <vt:lpstr>MERN Stack Architecture</vt:lpstr>
      <vt:lpstr>Working Flow of MERN Stack</vt:lpstr>
      <vt:lpstr>Introduction to MongoDB</vt:lpstr>
      <vt:lpstr>Features of MongoDB</vt:lpstr>
      <vt:lpstr>MongoDB Operations</vt:lpstr>
      <vt:lpstr>Introduction to Express.js</vt:lpstr>
      <vt:lpstr> Features of Express.js </vt:lpstr>
      <vt:lpstr>What is Middleware ?</vt:lpstr>
      <vt:lpstr>Introduction to Node.js</vt:lpstr>
      <vt:lpstr>Features of Node.js </vt:lpstr>
      <vt:lpstr>Node.js Event Loop</vt:lpstr>
      <vt:lpstr>Introduction to React.js</vt:lpstr>
      <vt:lpstr>Features of React.js</vt:lpstr>
      <vt:lpstr>React Components</vt:lpstr>
      <vt:lpstr>Virtual DOM Document Object Model</vt:lpstr>
      <vt:lpstr>MERN Development Roadmap</vt:lpstr>
      <vt:lpstr>Setting Up Development Environment</vt:lpstr>
      <vt:lpstr>MERN Project Structure</vt:lpstr>
      <vt:lpstr>Frontend Responsibilities</vt:lpstr>
      <vt:lpstr>Backend Responsibilities</vt:lpstr>
      <vt:lpstr>Database Responsibilities</vt:lpstr>
      <vt:lpstr>MERN API Communication</vt:lpstr>
      <vt:lpstr>Advantages of MERN Stack</vt:lpstr>
      <vt:lpstr>Real - World Applications</vt:lpstr>
      <vt:lpstr>Challenges in MERN Development</vt:lpstr>
      <vt:lpstr>Career Opportunities</vt:lpstr>
      <vt:lpstr>Summary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115</cp:revision>
  <dcterms:created xsi:type="dcterms:W3CDTF">2026-06-11T07:53:34Z</dcterms:created>
  <dcterms:modified xsi:type="dcterms:W3CDTF">2026-06-11T08:31:05Z</dcterms:modified>
</cp:coreProperties>
</file>