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3"/>
    <p:sldId id="257" r:id="rId4"/>
    <p:sldId id="258" r:id="rId5"/>
    <p:sldId id="260" r:id="rId6"/>
    <p:sldId id="261" r:id="rId7"/>
    <p:sldId id="259" r:id="rId8"/>
    <p:sldId id="262" r:id="rId9"/>
    <p:sldId id="263" r:id="rId10"/>
    <p:sldId id="264" r:id="rId11"/>
    <p:sldId id="265" r:id="rId12"/>
    <p:sldId id="266" r:id="rId13"/>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30" r:id="rId77"/>
    <p:sldId id="331" r:id="rId78"/>
    <p:sldId id="332" r:id="rId79"/>
    <p:sldId id="333" r:id="rId80"/>
    <p:sldId id="334" r:id="rId81"/>
    <p:sldId id="335" r:id="rId8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E440"/>
    <a:srgbClr val="EEF5FF"/>
    <a:srgbClr val="FFFFFF"/>
    <a:srgbClr val="1E550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showGuides="1">
      <p:cViewPr>
        <p:scale>
          <a:sx n="81" d="100"/>
          <a:sy n="81" d="100"/>
        </p:scale>
        <p:origin x="-300"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5" Type="http://schemas.openxmlformats.org/officeDocument/2006/relationships/tableStyles" Target="tableStyles.xml"/><Relationship Id="rId84" Type="http://schemas.openxmlformats.org/officeDocument/2006/relationships/viewProps" Target="viewProps.xml"/><Relationship Id="rId83" Type="http://schemas.openxmlformats.org/officeDocument/2006/relationships/presProps" Target="presProps.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notesMaster" Target="notesMasters/notesMaster1.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C0AED00-FFFE-4A57-AC67-CC96F35D459C}"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4FCCBBED-C7C4-48C7-BC77-3EA5AEF2E7BC}"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CC0AED00-FFFE-4A57-AC67-CC96F35D459C}"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FCCBBED-C7C4-48C7-BC77-3EA5AEF2E7BC}"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CC0AED00-FFFE-4A57-AC67-CC96F35D459C}"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FCCBBED-C7C4-48C7-BC77-3EA5AEF2E7BC}"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Date Placeholder 4"/>
          <p:cNvSpPr>
            <a:spLocks noGrp="1"/>
          </p:cNvSpPr>
          <p:nvPr>
            <p:ph type="dt" sz="half" idx="10"/>
          </p:nvPr>
        </p:nvSpPr>
        <p:spPr/>
        <p:txBody>
          <a:bodyPr/>
          <a:lstStyle/>
          <a:p>
            <a:fld id="{CC0AED00-FFFE-4A57-AC67-CC96F35D459C}"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4FCCBBED-C7C4-48C7-BC77-3EA5AEF2E7BC}"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Date Placeholder 6"/>
          <p:cNvSpPr>
            <a:spLocks noGrp="1"/>
          </p:cNvSpPr>
          <p:nvPr>
            <p:ph type="dt" sz="half" idx="10"/>
          </p:nvPr>
        </p:nvSpPr>
        <p:spPr/>
        <p:txBody>
          <a:bodyPr/>
          <a:lstStyle/>
          <a:p>
            <a:fld id="{CC0AED00-FFFE-4A57-AC67-CC96F35D459C}"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4FCCBBED-C7C4-48C7-BC77-3EA5AEF2E7BC}"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C0AED00-FFFE-4A57-AC67-CC96F35D459C}"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4FCCBBED-C7C4-48C7-BC77-3EA5AEF2E7BC}"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0AED00-FFFE-4A57-AC67-CC96F35D459C}"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4FCCBBED-C7C4-48C7-BC77-3EA5AEF2E7BC}"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CC0AED00-FFFE-4A57-AC67-CC96F35D459C}"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4FCCBBED-C7C4-48C7-BC77-3EA5AEF2E7BC}"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CC0AED00-FFFE-4A57-AC67-CC96F35D459C}"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FCCBBED-C7C4-48C7-BC77-3EA5AEF2E7BC}"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CC0AED00-FFFE-4A57-AC67-CC96F35D459C}"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FCCBBED-C7C4-48C7-BC77-3EA5AEF2E7BC}"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endParaRPr lang="en-US" smtClean="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CC0AED00-FFFE-4A57-AC67-CC96F35D459C}"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FCCBBED-C7C4-48C7-BC77-3EA5AEF2E7BC}" type="slidenum">
              <a:rPr lang="en-US" smtClean="0"/>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CC0AED00-FFFE-4A57-AC67-CC96F35D459C}"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FCCBBED-C7C4-48C7-BC77-3EA5AEF2E7BC}"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endParaRPr lang="en-US" smtClean="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CC0AED00-FFFE-4A57-AC67-CC96F35D459C}"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FCCBBED-C7C4-48C7-BC77-3EA5AEF2E7BC}" type="slidenum">
              <a:rPr lang="en-US" smtClean="0"/>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endParaRPr lang="en-US" smtClean="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CC0AED00-FFFE-4A57-AC67-CC96F35D459C}"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FCCBBED-C7C4-48C7-BC77-3EA5AEF2E7BC}"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CC0AED00-FFFE-4A57-AC67-CC96F35D459C}"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FCCBBED-C7C4-48C7-BC77-3EA5AEF2E7BC}"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CC0AED00-FFFE-4A57-AC67-CC96F35D459C}"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FCCBBED-C7C4-48C7-BC77-3EA5AEF2E7BC}"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CC0AED00-FFFE-4A57-AC67-CC96F35D459C}" type="datetimeFigureOut">
              <a:rPr lang="en-US" smtClean="0"/>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4FCCBBED-C7C4-48C7-BC77-3EA5AEF2E7BC}"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hyperlink" Target="https://www.python.org/downloads/" TargetMode="Externa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6.jpe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7.jpe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4.png"/><Relationship Id="rId1"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5.png"/><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6.png"/><Relationship Id="rId1"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7.png"/><Relationship Id="rId1"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8.png"/><Relationship Id="rId1" Type="http://schemas.openxmlformats.org/officeDocument/2006/relationships/image" Target="../media/image2.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9.png"/><Relationship Id="rId1"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0.png"/><Relationship Id="rId1"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1.png"/><Relationship Id="rId1" Type="http://schemas.openxmlformats.org/officeDocument/2006/relationships/image" Target="../media/image2.png"/></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4.png"/><Relationship Id="rId1" Type="http://schemas.openxmlformats.org/officeDocument/2006/relationships/image" Target="../media/image2.png"/></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7.png"/><Relationship Id="rId1" Type="http://schemas.openxmlformats.org/officeDocument/2006/relationships/image" Target="../media/image2.png"/></Relationships>
</file>

<file path=ppt/slides/_rels/slide3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png"/></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2.png"/><Relationship Id="rId1"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3.png"/><Relationship Id="rId1" Type="http://schemas.openxmlformats.org/officeDocument/2006/relationships/image" Target="../media/image2.png"/></Relationships>
</file>

<file path=ppt/slides/_rels/slide4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2.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6.png"/><Relationship Id="rId1" Type="http://schemas.openxmlformats.org/officeDocument/2006/relationships/image" Target="../media/image2.png"/></Relationships>
</file>

<file path=ppt/slides/_rels/slide4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2.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2.png"/></Relationships>
</file>

<file path=ppt/slides/_rels/slide4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image" Target="../media/image2.png"/></Relationships>
</file>

<file path=ppt/slides/_rels/slide4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image" Target="../media/image2.png"/></Relationships>
</file>

<file path=ppt/slides/_rels/slide5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image" Target="../media/image2.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5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image" Target="../media/image2.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5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image" Target="../media/image2.png"/></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1.png"/><Relationship Id="rId1" Type="http://schemas.openxmlformats.org/officeDocument/2006/relationships/image" Target="../media/image2.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5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image" Target="../media/image2.png"/></Relationships>
</file>

<file path=ppt/slides/_rels/slide5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image" Target="../media/image2.png"/></Relationships>
</file>

<file path=ppt/slides/_rels/slide6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image" Target="../media/image2.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6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image" Target="../media/image2.png"/></Relationships>
</file>

<file path=ppt/slides/_rels/slide6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image" Target="../media/image2.png"/></Relationships>
</file>

<file path=ppt/slides/_rels/slide6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image" Target="../media/image2.png"/></Relationships>
</file>

<file path=ppt/slides/_rels/slide6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image" Target="../media/image2.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6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image" Target="../media/image2.png"/></Relationships>
</file>

<file path=ppt/slides/_rels/slide6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image" Target="../media/image2.png"/></Relationships>
</file>

<file path=ppt/slides/_rels/slide7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image" Target="../media/image2.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7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image" Target="../media/image2.png"/></Relationships>
</file>

<file path=ppt/slides/_rels/slide7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image" Target="../media/image2.pn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7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image" Target="../media/image2.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8.png"/><Relationship Id="rId1" Type="http://schemas.openxmlformats.org/officeDocument/2006/relationships/hyperlink" Target="https://www.jetbrains.com/pycharm/download/download-thanks.html?platform=windows" TargetMode="Externa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9.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720236" y="666868"/>
            <a:ext cx="5513915" cy="5513915"/>
          </a:xfrm>
          <a:prstGeom prst="rect">
            <a:avLst/>
          </a:prstGeom>
        </p:spPr>
      </p:pic>
      <p:pic>
        <p:nvPicPr>
          <p:cNvPr id="9" name="Picture 8" descr="D:\GOWTHAMI\OTHERS\ACADEMY IMAGES &amp; LOGOS\EA_logo_transpran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44504" y="115910"/>
            <a:ext cx="8915399" cy="962696"/>
          </a:xfrm>
        </p:spPr>
        <p:txBody>
          <a:bodyPr>
            <a:normAutofit/>
          </a:bodyPr>
          <a:lstStyle/>
          <a:p>
            <a:r>
              <a:rPr lang="en-US" sz="4400" b="1" dirty="0" smtClean="0">
                <a:solidFill>
                  <a:schemeClr val="bg2">
                    <a:lumMod val="25000"/>
                  </a:schemeClr>
                </a:solidFill>
                <a:latin typeface="Plantagenet Cherokee" panose="02020602070100000000" pitchFamily="18" charset="0"/>
              </a:rPr>
              <a:t>Overview</a:t>
            </a:r>
            <a:endParaRPr lang="en-US" sz="4400" b="1" dirty="0">
              <a:solidFill>
                <a:schemeClr val="bg2">
                  <a:lumMod val="25000"/>
                </a:schemeClr>
              </a:solidFill>
              <a:latin typeface="Plantagenet Cherokee" panose="02020602070100000000" pitchFamily="18" charset="0"/>
            </a:endParaRPr>
          </a:p>
        </p:txBody>
      </p:sp>
      <p:sp>
        <p:nvSpPr>
          <p:cNvPr id="3" name="Subtitle 2"/>
          <p:cNvSpPr>
            <a:spLocks noGrp="1"/>
          </p:cNvSpPr>
          <p:nvPr>
            <p:ph type="subTitle" idx="1"/>
          </p:nvPr>
        </p:nvSpPr>
        <p:spPr>
          <a:xfrm>
            <a:off x="2627291" y="1078606"/>
            <a:ext cx="9276567" cy="4332439"/>
          </a:xfrm>
        </p:spPr>
        <p:txBody>
          <a:bodyPr>
            <a:noAutofit/>
          </a:bodyPr>
          <a:lstStyle/>
          <a:p>
            <a:pPr marL="1257300" lvl="2" indent="-342900" algn="l">
              <a:buFont typeface="Wingdings" panose="05000000000000000000" pitchFamily="2" charset="2"/>
              <a:buChar char="Ø"/>
            </a:pPr>
            <a:r>
              <a:rPr lang="en-US" sz="2400" dirty="0" smtClean="0">
                <a:solidFill>
                  <a:srgbClr val="002060"/>
                </a:solidFill>
                <a:latin typeface="Georgia" panose="02040502050405020303" pitchFamily="18" charset="0"/>
              </a:rPr>
              <a:t>Introduction</a:t>
            </a:r>
            <a:endParaRPr lang="en-US" sz="2400" dirty="0" smtClean="0">
              <a:solidFill>
                <a:srgbClr val="002060"/>
              </a:solidFill>
              <a:latin typeface="Georgia" panose="02040502050405020303" pitchFamily="18" charset="0"/>
            </a:endParaRPr>
          </a:p>
          <a:p>
            <a:pPr marL="1257300" lvl="2" indent="-342900" algn="l">
              <a:buFont typeface="Wingdings" panose="05000000000000000000" pitchFamily="2" charset="2"/>
              <a:buChar char="Ø"/>
            </a:pPr>
            <a:r>
              <a:rPr lang="en-US" sz="2400" dirty="0" smtClean="0">
                <a:solidFill>
                  <a:srgbClr val="002060"/>
                </a:solidFill>
                <a:latin typeface="Georgia" panose="02040502050405020303" pitchFamily="18" charset="0"/>
              </a:rPr>
              <a:t>History of Python</a:t>
            </a:r>
            <a:endParaRPr lang="en-US" sz="2400" dirty="0" smtClean="0">
              <a:solidFill>
                <a:srgbClr val="002060"/>
              </a:solidFill>
              <a:latin typeface="Georgia" panose="02040502050405020303" pitchFamily="18" charset="0"/>
            </a:endParaRPr>
          </a:p>
          <a:p>
            <a:pPr marL="1257300" lvl="2" indent="-342900" algn="l">
              <a:buFont typeface="Wingdings" panose="05000000000000000000" pitchFamily="2" charset="2"/>
              <a:buChar char="Ø"/>
            </a:pPr>
            <a:r>
              <a:rPr lang="en-US" sz="2400" dirty="0">
                <a:solidFill>
                  <a:srgbClr val="002060"/>
                </a:solidFill>
                <a:latin typeface="Georgia" panose="02040502050405020303" pitchFamily="18" charset="0"/>
              </a:rPr>
              <a:t>Advantages of Python</a:t>
            </a:r>
            <a:endParaRPr lang="en-US" sz="2400" dirty="0" smtClean="0">
              <a:solidFill>
                <a:srgbClr val="002060"/>
              </a:solidFill>
              <a:latin typeface="Georgia" panose="02040502050405020303" pitchFamily="18" charset="0"/>
            </a:endParaRPr>
          </a:p>
          <a:p>
            <a:pPr marL="1257300" lvl="2" indent="-342900" algn="l">
              <a:buFont typeface="Wingdings" panose="05000000000000000000" pitchFamily="2" charset="2"/>
              <a:buChar char="Ø"/>
            </a:pPr>
            <a:r>
              <a:rPr lang="en-US" sz="2400" dirty="0" smtClean="0">
                <a:solidFill>
                  <a:srgbClr val="002060"/>
                </a:solidFill>
                <a:latin typeface="Georgia" panose="02040502050405020303" pitchFamily="18" charset="0"/>
              </a:rPr>
              <a:t>Software Installation</a:t>
            </a:r>
            <a:endParaRPr lang="en-US" sz="2400" dirty="0" smtClean="0">
              <a:solidFill>
                <a:srgbClr val="002060"/>
              </a:solidFill>
              <a:latin typeface="Georgia" panose="02040502050405020303" pitchFamily="18" charset="0"/>
            </a:endParaRPr>
          </a:p>
          <a:p>
            <a:pPr marL="1257300" lvl="2" indent="-342900" algn="l">
              <a:buFont typeface="Wingdings" panose="05000000000000000000" pitchFamily="2" charset="2"/>
              <a:buChar char="Ø"/>
            </a:pPr>
            <a:r>
              <a:rPr lang="en-US" sz="2400" dirty="0" smtClean="0">
                <a:solidFill>
                  <a:srgbClr val="002060"/>
                </a:solidFill>
                <a:latin typeface="Georgia" panose="02040502050405020303" pitchFamily="18" charset="0"/>
              </a:rPr>
              <a:t>Basic Syntax </a:t>
            </a:r>
            <a:endParaRPr lang="en-US" sz="2400" dirty="0" smtClean="0">
              <a:solidFill>
                <a:srgbClr val="002060"/>
              </a:solidFill>
              <a:latin typeface="Georgia" panose="02040502050405020303" pitchFamily="18" charset="0"/>
            </a:endParaRPr>
          </a:p>
          <a:p>
            <a:pPr marL="1257300" lvl="2" indent="-342900" algn="l">
              <a:buFont typeface="Wingdings" panose="05000000000000000000" pitchFamily="2" charset="2"/>
              <a:buChar char="Ø"/>
            </a:pPr>
            <a:r>
              <a:rPr lang="en-US" sz="2400" dirty="0" smtClean="0">
                <a:solidFill>
                  <a:srgbClr val="002060"/>
                </a:solidFill>
                <a:latin typeface="Georgia" panose="02040502050405020303" pitchFamily="18" charset="0"/>
              </a:rPr>
              <a:t>Basic programs </a:t>
            </a:r>
            <a:r>
              <a:rPr lang="en-US" sz="2400" dirty="0">
                <a:solidFill>
                  <a:srgbClr val="002060"/>
                </a:solidFill>
                <a:latin typeface="Georgia" panose="02040502050405020303" pitchFamily="18" charset="0"/>
              </a:rPr>
              <a:t>using </a:t>
            </a:r>
            <a:r>
              <a:rPr lang="en-US" sz="2400" dirty="0" smtClean="0">
                <a:solidFill>
                  <a:srgbClr val="002060"/>
                </a:solidFill>
                <a:latin typeface="Georgia" panose="02040502050405020303" pitchFamily="18" charset="0"/>
              </a:rPr>
              <a:t>python</a:t>
            </a:r>
            <a:endParaRPr lang="en-US" sz="2400" dirty="0" smtClean="0">
              <a:solidFill>
                <a:srgbClr val="002060"/>
              </a:solidFill>
              <a:latin typeface="Georgia" panose="02040502050405020303" pitchFamily="18" charset="0"/>
            </a:endParaRPr>
          </a:p>
          <a:p>
            <a:pPr marL="1257300" lvl="2" indent="-342900" algn="l">
              <a:buFont typeface="Wingdings" panose="05000000000000000000" pitchFamily="2" charset="2"/>
              <a:buChar char="Ø"/>
            </a:pPr>
            <a:r>
              <a:rPr lang="en-US" sz="2400" dirty="0" smtClean="0">
                <a:solidFill>
                  <a:srgbClr val="002060"/>
                </a:solidFill>
                <a:latin typeface="Georgia" panose="02040502050405020303" pitchFamily="18" charset="0"/>
              </a:rPr>
              <a:t>Strings in Python</a:t>
            </a:r>
            <a:endParaRPr lang="en-US" sz="2400" dirty="0" smtClean="0">
              <a:solidFill>
                <a:srgbClr val="002060"/>
              </a:solidFill>
              <a:latin typeface="Georgia" panose="02040502050405020303" pitchFamily="18" charset="0"/>
            </a:endParaRPr>
          </a:p>
          <a:p>
            <a:pPr marL="1257300" lvl="2" indent="-342900" algn="l">
              <a:buFont typeface="Wingdings" panose="05000000000000000000" pitchFamily="2" charset="2"/>
              <a:buChar char="Ø"/>
            </a:pPr>
            <a:r>
              <a:rPr lang="en-US" sz="2400" dirty="0" smtClean="0">
                <a:solidFill>
                  <a:srgbClr val="002060"/>
                </a:solidFill>
                <a:latin typeface="Georgia" panose="02040502050405020303" pitchFamily="18" charset="0"/>
              </a:rPr>
              <a:t>Lists &amp; Tuples</a:t>
            </a:r>
            <a:endParaRPr lang="en-US" sz="2400" dirty="0" smtClean="0">
              <a:solidFill>
                <a:srgbClr val="002060"/>
              </a:solidFill>
              <a:latin typeface="Georgia" panose="02040502050405020303" pitchFamily="18" charset="0"/>
            </a:endParaRPr>
          </a:p>
          <a:p>
            <a:pPr marL="1257300" lvl="2" indent="-342900" algn="l">
              <a:buFont typeface="Wingdings" panose="05000000000000000000" pitchFamily="2" charset="2"/>
              <a:buChar char="Ø"/>
            </a:pPr>
            <a:r>
              <a:rPr lang="en-US" sz="2400" dirty="0" smtClean="0">
                <a:solidFill>
                  <a:srgbClr val="002060"/>
                </a:solidFill>
                <a:latin typeface="Georgia" panose="02040502050405020303" pitchFamily="18" charset="0"/>
              </a:rPr>
              <a:t>Dictionary</a:t>
            </a:r>
            <a:endParaRPr lang="en-US" sz="2400" dirty="0" smtClean="0">
              <a:solidFill>
                <a:srgbClr val="002060"/>
              </a:solidFill>
              <a:latin typeface="Georgia" panose="02040502050405020303" pitchFamily="18" charset="0"/>
            </a:endParaRPr>
          </a:p>
          <a:p>
            <a:pPr marL="1257300" lvl="2" indent="-342900" algn="l">
              <a:buFont typeface="Wingdings" panose="05000000000000000000" pitchFamily="2" charset="2"/>
              <a:buChar char="Ø"/>
            </a:pPr>
            <a:r>
              <a:rPr lang="en-US" sz="2400" dirty="0" smtClean="0">
                <a:solidFill>
                  <a:srgbClr val="002060"/>
                </a:solidFill>
                <a:latin typeface="Georgia" panose="02040502050405020303" pitchFamily="18" charset="0"/>
              </a:rPr>
              <a:t>Oops Concepts in Python</a:t>
            </a:r>
            <a:endParaRPr lang="en-US" sz="2400" dirty="0" smtClean="0">
              <a:solidFill>
                <a:srgbClr val="002060"/>
              </a:solidFill>
              <a:latin typeface="Georgia" panose="02040502050405020303" pitchFamily="18" charset="0"/>
            </a:endParaRPr>
          </a:p>
          <a:p>
            <a:pPr marL="1257300" lvl="2" indent="-342900" algn="l">
              <a:buFont typeface="Wingdings" panose="05000000000000000000" pitchFamily="2" charset="2"/>
              <a:buChar char="Ø"/>
            </a:pPr>
            <a:r>
              <a:rPr lang="en-US" sz="2400" dirty="0" smtClean="0">
                <a:solidFill>
                  <a:srgbClr val="002060"/>
                </a:solidFill>
                <a:latin typeface="Georgia" panose="02040502050405020303" pitchFamily="18" charset="0"/>
              </a:rPr>
              <a:t>Practical programs </a:t>
            </a:r>
            <a:endParaRPr lang="en-US" sz="2400" dirty="0" smtClean="0">
              <a:solidFill>
                <a:srgbClr val="002060"/>
              </a:solidFill>
              <a:latin typeface="Georgia" panose="02040502050405020303" pitchFamily="18" charset="0"/>
            </a:endParaRPr>
          </a:p>
          <a:p>
            <a:pPr marL="342900" indent="-342900">
              <a:buFont typeface="Wingdings" panose="05000000000000000000" pitchFamily="2" charset="2"/>
              <a:buChar char="Ø"/>
            </a:pPr>
            <a:endParaRPr lang="en-US" sz="2400" dirty="0" smtClean="0">
              <a:solidFill>
                <a:srgbClr val="002060"/>
              </a:solidFill>
              <a:latin typeface="Georgia" panose="02040502050405020303" pitchFamily="18" charset="0"/>
            </a:endParaRPr>
          </a:p>
          <a:p>
            <a:endParaRPr lang="en-US" sz="2400" dirty="0" smtClean="0">
              <a:solidFill>
                <a:srgbClr val="002060"/>
              </a:solidFill>
              <a:latin typeface="Georgia" panose="02040502050405020303" pitchFamily="18" charset="0"/>
            </a:endParaRPr>
          </a:p>
          <a:p>
            <a:endParaRPr lang="en-US" sz="2400" dirty="0">
              <a:solidFill>
                <a:schemeClr val="bg2">
                  <a:lumMod val="25000"/>
                </a:schemeClr>
              </a:solidFill>
              <a:latin typeface="Georgia" panose="02040502050405020303" pitchFamily="18" charset="0"/>
            </a:endParaRPr>
          </a:p>
        </p:txBody>
      </p:sp>
      <p:pic>
        <p:nvPicPr>
          <p:cNvPr id="4" name="Picture 3"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92988" y="270456"/>
            <a:ext cx="8915399" cy="962696"/>
          </a:xfrm>
        </p:spPr>
        <p:txBody>
          <a:bodyPr>
            <a:normAutofit/>
          </a:bodyPr>
          <a:lstStyle/>
          <a:p>
            <a:r>
              <a:rPr lang="en-US" sz="4400" b="1" dirty="0" smtClean="0">
                <a:solidFill>
                  <a:schemeClr val="bg2">
                    <a:lumMod val="25000"/>
                  </a:schemeClr>
                </a:solidFill>
                <a:latin typeface="Plantagenet Cherokee" panose="02020602070100000000" pitchFamily="18" charset="0"/>
              </a:rPr>
              <a:t>What is Python???</a:t>
            </a:r>
            <a:endParaRPr lang="en-US" sz="4400" b="1" dirty="0">
              <a:solidFill>
                <a:schemeClr val="bg2">
                  <a:lumMod val="25000"/>
                </a:schemeClr>
              </a:solidFill>
              <a:latin typeface="Plantagenet Cherokee" panose="02020602070100000000" pitchFamily="18" charset="0"/>
            </a:endParaRPr>
          </a:p>
        </p:txBody>
      </p:sp>
      <p:sp>
        <p:nvSpPr>
          <p:cNvPr id="3" name="Subtitle 2"/>
          <p:cNvSpPr>
            <a:spLocks noGrp="1"/>
          </p:cNvSpPr>
          <p:nvPr>
            <p:ph type="subTitle" idx="1"/>
          </p:nvPr>
        </p:nvSpPr>
        <p:spPr>
          <a:xfrm>
            <a:off x="2331076" y="2060620"/>
            <a:ext cx="9276567" cy="4332439"/>
          </a:xfrm>
        </p:spPr>
        <p:txBody>
          <a:bodyPr>
            <a:normAutofit fontScale="92500" lnSpcReduction="20000"/>
          </a:bodyPr>
          <a:lstStyle/>
          <a:p>
            <a:pPr marL="1257300" lvl="2" indent="-342900" algn="l">
              <a:buFont typeface="Wingdings" panose="05000000000000000000" pitchFamily="2" charset="2"/>
              <a:buChar char="Ø"/>
            </a:pPr>
            <a:r>
              <a:rPr lang="en-US" sz="2400" dirty="0" smtClean="0">
                <a:solidFill>
                  <a:srgbClr val="002060"/>
                </a:solidFill>
                <a:latin typeface="Georgia" panose="02040502050405020303" pitchFamily="18" charset="0"/>
              </a:rPr>
              <a:t>Multi – purpose (Web, GUI, Scripting, etc...)</a:t>
            </a:r>
            <a:endParaRPr lang="en-US" sz="2400" dirty="0" smtClean="0">
              <a:solidFill>
                <a:srgbClr val="002060"/>
              </a:solidFill>
              <a:latin typeface="Georgia" panose="02040502050405020303" pitchFamily="18" charset="0"/>
            </a:endParaRPr>
          </a:p>
          <a:p>
            <a:pPr marL="1257300" lvl="2" indent="-342900" algn="l">
              <a:buFont typeface="Wingdings" panose="05000000000000000000" pitchFamily="2" charset="2"/>
              <a:buChar char="Ø"/>
            </a:pPr>
            <a:r>
              <a:rPr lang="en-US" sz="2400" dirty="0" smtClean="0">
                <a:solidFill>
                  <a:srgbClr val="002060"/>
                </a:solidFill>
                <a:latin typeface="Georgia" panose="02040502050405020303" pitchFamily="18" charset="0"/>
              </a:rPr>
              <a:t>High level</a:t>
            </a:r>
            <a:endParaRPr lang="en-US" sz="2400" dirty="0" smtClean="0">
              <a:solidFill>
                <a:srgbClr val="002060"/>
              </a:solidFill>
              <a:latin typeface="Georgia" panose="02040502050405020303" pitchFamily="18" charset="0"/>
            </a:endParaRPr>
          </a:p>
          <a:p>
            <a:pPr marL="1257300" lvl="2" indent="-342900" algn="l">
              <a:buFont typeface="Wingdings" panose="05000000000000000000" pitchFamily="2" charset="2"/>
              <a:buChar char="Ø"/>
            </a:pPr>
            <a:r>
              <a:rPr lang="en-US" sz="2400" dirty="0" smtClean="0">
                <a:solidFill>
                  <a:srgbClr val="002060"/>
                </a:solidFill>
                <a:latin typeface="Georgia" panose="02040502050405020303" pitchFamily="18" charset="0"/>
              </a:rPr>
              <a:t>Free &amp; open source</a:t>
            </a:r>
            <a:endParaRPr lang="en-US" sz="2400" dirty="0" smtClean="0">
              <a:solidFill>
                <a:srgbClr val="002060"/>
              </a:solidFill>
              <a:latin typeface="Georgia" panose="02040502050405020303" pitchFamily="18" charset="0"/>
            </a:endParaRPr>
          </a:p>
          <a:p>
            <a:pPr marL="1257300" lvl="2" indent="-342900" algn="l">
              <a:buFont typeface="Wingdings" panose="05000000000000000000" pitchFamily="2" charset="2"/>
              <a:buChar char="Ø"/>
            </a:pPr>
            <a:r>
              <a:rPr lang="en-US" sz="2400" dirty="0" smtClean="0">
                <a:solidFill>
                  <a:srgbClr val="002060"/>
                </a:solidFill>
                <a:latin typeface="Georgia" panose="02040502050405020303" pitchFamily="18" charset="0"/>
              </a:rPr>
              <a:t>Extensible (Add new modules like C/C++/Java…) </a:t>
            </a:r>
            <a:endParaRPr lang="en-US" sz="2400" dirty="0" smtClean="0">
              <a:solidFill>
                <a:srgbClr val="002060"/>
              </a:solidFill>
              <a:latin typeface="Georgia" panose="02040502050405020303" pitchFamily="18" charset="0"/>
            </a:endParaRPr>
          </a:p>
          <a:p>
            <a:pPr marL="1257300" lvl="2" indent="-342900" algn="l">
              <a:buFont typeface="Wingdings" panose="05000000000000000000" pitchFamily="2" charset="2"/>
              <a:buChar char="Ø"/>
            </a:pPr>
            <a:r>
              <a:rPr lang="en-US" altLang="en-US" sz="2400" dirty="0">
                <a:solidFill>
                  <a:schemeClr val="bg2">
                    <a:lumMod val="25000"/>
                  </a:schemeClr>
                </a:solidFill>
                <a:latin typeface="Georgia" panose="02040502050405020303" pitchFamily="18" charset="0"/>
              </a:rPr>
              <a:t>Python is case sensitive </a:t>
            </a:r>
            <a:r>
              <a:rPr lang="en-US" altLang="en-US" sz="2400" dirty="0" smtClean="0">
                <a:solidFill>
                  <a:schemeClr val="bg2">
                    <a:lumMod val="25000"/>
                  </a:schemeClr>
                </a:solidFill>
                <a:latin typeface="Georgia" panose="02040502050405020303" pitchFamily="18" charset="0"/>
              </a:rPr>
              <a:t>language</a:t>
            </a:r>
            <a:endParaRPr lang="en-US" altLang="en-US" sz="2400" dirty="0" smtClean="0">
              <a:solidFill>
                <a:schemeClr val="bg2">
                  <a:lumMod val="25000"/>
                </a:schemeClr>
              </a:solidFill>
              <a:latin typeface="Georgia" panose="02040502050405020303" pitchFamily="18" charset="0"/>
            </a:endParaRPr>
          </a:p>
          <a:p>
            <a:pPr marL="1257300" lvl="2" indent="-342900" algn="l">
              <a:buFont typeface="Wingdings" panose="05000000000000000000" pitchFamily="2" charset="2"/>
              <a:buChar char="Ø"/>
            </a:pPr>
            <a:r>
              <a:rPr lang="en-US" sz="2400" dirty="0" smtClean="0">
                <a:solidFill>
                  <a:schemeClr val="bg2">
                    <a:lumMod val="25000"/>
                  </a:schemeClr>
                </a:solidFill>
                <a:latin typeface="Georgia" panose="02040502050405020303" pitchFamily="18" charset="0"/>
              </a:rPr>
              <a:t>Machine Learning</a:t>
            </a:r>
            <a:endParaRPr lang="en-US" sz="2400" dirty="0" smtClean="0">
              <a:solidFill>
                <a:schemeClr val="bg2">
                  <a:lumMod val="25000"/>
                </a:schemeClr>
              </a:solidFill>
              <a:latin typeface="Georgia" panose="02040502050405020303" pitchFamily="18" charset="0"/>
            </a:endParaRPr>
          </a:p>
          <a:p>
            <a:pPr marL="1257300" lvl="2" indent="-342900" algn="l">
              <a:buFont typeface="Wingdings" panose="05000000000000000000" pitchFamily="2" charset="2"/>
              <a:buChar char="Ø"/>
            </a:pPr>
            <a:r>
              <a:rPr lang="en-US" sz="2400" dirty="0" smtClean="0">
                <a:solidFill>
                  <a:schemeClr val="bg2">
                    <a:lumMod val="25000"/>
                  </a:schemeClr>
                </a:solidFill>
                <a:latin typeface="Georgia" panose="02040502050405020303" pitchFamily="18" charset="0"/>
              </a:rPr>
              <a:t>AI</a:t>
            </a:r>
            <a:endParaRPr lang="en-US" sz="2400" dirty="0" smtClean="0">
              <a:solidFill>
                <a:schemeClr val="bg2">
                  <a:lumMod val="25000"/>
                </a:schemeClr>
              </a:solidFill>
              <a:latin typeface="Georgia" panose="02040502050405020303" pitchFamily="18" charset="0"/>
            </a:endParaRPr>
          </a:p>
          <a:p>
            <a:pPr marL="1257300" lvl="2" indent="-342900" algn="l">
              <a:buFont typeface="Wingdings" panose="05000000000000000000" pitchFamily="2" charset="2"/>
              <a:buChar char="Ø"/>
            </a:pPr>
            <a:r>
              <a:rPr lang="en-US" sz="2400" dirty="0" smtClean="0">
                <a:solidFill>
                  <a:schemeClr val="bg2">
                    <a:lumMod val="25000"/>
                  </a:schemeClr>
                </a:solidFill>
                <a:latin typeface="Georgia" panose="02040502050405020303" pitchFamily="18" charset="0"/>
              </a:rPr>
              <a:t>Game Development</a:t>
            </a:r>
            <a:endParaRPr lang="en-US" sz="2400" dirty="0" smtClean="0">
              <a:solidFill>
                <a:schemeClr val="bg2">
                  <a:lumMod val="25000"/>
                </a:schemeClr>
              </a:solidFill>
              <a:latin typeface="Georgia" panose="02040502050405020303" pitchFamily="18" charset="0"/>
            </a:endParaRPr>
          </a:p>
          <a:p>
            <a:pPr marL="1257300" lvl="2" indent="-342900" algn="l">
              <a:buFont typeface="Wingdings" panose="05000000000000000000" pitchFamily="2" charset="2"/>
              <a:buChar char="Ø"/>
            </a:pPr>
            <a:r>
              <a:rPr lang="en-US" sz="2400" dirty="0" smtClean="0">
                <a:solidFill>
                  <a:schemeClr val="bg2">
                    <a:lumMod val="25000"/>
                  </a:schemeClr>
                </a:solidFill>
                <a:latin typeface="Georgia" panose="02040502050405020303" pitchFamily="18" charset="0"/>
              </a:rPr>
              <a:t>Web Site</a:t>
            </a:r>
            <a:endParaRPr lang="en-US" sz="2400" dirty="0" smtClean="0">
              <a:solidFill>
                <a:schemeClr val="bg2">
                  <a:lumMod val="25000"/>
                </a:schemeClr>
              </a:solidFill>
              <a:latin typeface="Georgia" panose="02040502050405020303" pitchFamily="18" charset="0"/>
            </a:endParaRPr>
          </a:p>
          <a:p>
            <a:pPr marL="1257300" lvl="2" indent="-342900" algn="l">
              <a:buFont typeface="Wingdings" panose="05000000000000000000" pitchFamily="2" charset="2"/>
              <a:buChar char="Ø"/>
            </a:pPr>
            <a:r>
              <a:rPr lang="en-US" sz="2400" dirty="0" smtClean="0">
                <a:solidFill>
                  <a:srgbClr val="002060"/>
                </a:solidFill>
                <a:latin typeface="Georgia" panose="02040502050405020303" pitchFamily="18" charset="0"/>
              </a:rPr>
              <a:t>Web Application</a:t>
            </a:r>
            <a:endParaRPr lang="en-US" sz="2400" dirty="0" smtClean="0">
              <a:solidFill>
                <a:srgbClr val="002060"/>
              </a:solidFill>
              <a:latin typeface="Georgia" panose="02040502050405020303" pitchFamily="18" charset="0"/>
            </a:endParaRPr>
          </a:p>
          <a:p>
            <a:pPr marL="1257300" lvl="2" indent="-342900" algn="l">
              <a:buFont typeface="Wingdings" panose="05000000000000000000" pitchFamily="2" charset="2"/>
              <a:buChar char="Ø"/>
            </a:pPr>
            <a:r>
              <a:rPr lang="en-US" sz="2400" dirty="0" smtClean="0">
                <a:solidFill>
                  <a:srgbClr val="002060"/>
                </a:solidFill>
                <a:latin typeface="Georgia" panose="02040502050405020303" pitchFamily="18" charset="0"/>
              </a:rPr>
              <a:t>IOT</a:t>
            </a:r>
            <a:endParaRPr lang="en-US" sz="2400" dirty="0" smtClean="0">
              <a:solidFill>
                <a:srgbClr val="002060"/>
              </a:solidFill>
              <a:latin typeface="Georgia" panose="02040502050405020303" pitchFamily="18" charset="0"/>
            </a:endParaRPr>
          </a:p>
          <a:p>
            <a:endParaRPr lang="en-US" sz="2400" dirty="0" smtClean="0">
              <a:solidFill>
                <a:srgbClr val="002060"/>
              </a:solidFill>
              <a:latin typeface="Georgia" panose="02040502050405020303" pitchFamily="18" charset="0"/>
            </a:endParaRPr>
          </a:p>
          <a:p>
            <a:endParaRPr lang="en-US" dirty="0">
              <a:solidFill>
                <a:schemeClr val="bg2">
                  <a:lumMod val="25000"/>
                </a:schemeClr>
              </a:solidFill>
              <a:latin typeface="Georgia" panose="02040502050405020303" pitchFamily="18" charset="0"/>
            </a:endParaRPr>
          </a:p>
        </p:txBody>
      </p:sp>
      <p:pic>
        <p:nvPicPr>
          <p:cNvPr id="4" name="Picture 3"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92988" y="270456"/>
            <a:ext cx="8915399" cy="962696"/>
          </a:xfrm>
        </p:spPr>
        <p:txBody>
          <a:bodyPr>
            <a:normAutofit/>
          </a:bodyPr>
          <a:lstStyle/>
          <a:p>
            <a:r>
              <a:rPr lang="en-US" sz="4400" b="1" dirty="0" smtClean="0">
                <a:solidFill>
                  <a:schemeClr val="bg2">
                    <a:lumMod val="25000"/>
                  </a:schemeClr>
                </a:solidFill>
                <a:latin typeface="Plantagenet Cherokee" panose="02020602070100000000" pitchFamily="18" charset="0"/>
              </a:rPr>
              <a:t>History of Python???</a:t>
            </a:r>
            <a:endParaRPr lang="en-US" sz="4400" b="1" dirty="0">
              <a:solidFill>
                <a:schemeClr val="bg2">
                  <a:lumMod val="25000"/>
                </a:schemeClr>
              </a:solidFill>
              <a:latin typeface="Plantagenet Cherokee" panose="02020602070100000000" pitchFamily="18" charset="0"/>
            </a:endParaRPr>
          </a:p>
        </p:txBody>
      </p:sp>
      <p:sp>
        <p:nvSpPr>
          <p:cNvPr id="3" name="Subtitle 2"/>
          <p:cNvSpPr>
            <a:spLocks noGrp="1"/>
          </p:cNvSpPr>
          <p:nvPr>
            <p:ph type="subTitle" idx="1"/>
          </p:nvPr>
        </p:nvSpPr>
        <p:spPr>
          <a:xfrm>
            <a:off x="1378040" y="2060620"/>
            <a:ext cx="10229604" cy="4332439"/>
          </a:xfrm>
        </p:spPr>
        <p:txBody>
          <a:bodyPr>
            <a:normAutofit/>
          </a:bodyPr>
          <a:lstStyle/>
          <a:p>
            <a:pPr marL="1257300" lvl="2" indent="-342900" algn="l">
              <a:buFont typeface="Wingdings" panose="05000000000000000000" pitchFamily="2" charset="2"/>
              <a:buChar char="Ø"/>
            </a:pPr>
            <a:r>
              <a:rPr lang="en-US" sz="2400" dirty="0" smtClean="0">
                <a:solidFill>
                  <a:srgbClr val="002060"/>
                </a:solidFill>
                <a:latin typeface="Georgia" panose="02040502050405020303" pitchFamily="18" charset="0"/>
              </a:rPr>
              <a:t>Created by Guido Van </a:t>
            </a:r>
            <a:r>
              <a:rPr lang="en-US" sz="2400" dirty="0" err="1" smtClean="0">
                <a:solidFill>
                  <a:srgbClr val="002060"/>
                </a:solidFill>
                <a:latin typeface="Georgia" panose="02040502050405020303" pitchFamily="18" charset="0"/>
              </a:rPr>
              <a:t>Rossum</a:t>
            </a:r>
            <a:r>
              <a:rPr lang="en-US" sz="2400" dirty="0" smtClean="0">
                <a:solidFill>
                  <a:srgbClr val="002060"/>
                </a:solidFill>
                <a:latin typeface="Georgia" panose="02040502050405020303" pitchFamily="18" charset="0"/>
              </a:rPr>
              <a:t> in 1989</a:t>
            </a:r>
            <a:endParaRPr lang="en-US" sz="2400" dirty="0" smtClean="0">
              <a:solidFill>
                <a:srgbClr val="002060"/>
              </a:solidFill>
              <a:latin typeface="Georgia" panose="02040502050405020303" pitchFamily="18" charset="0"/>
            </a:endParaRPr>
          </a:p>
          <a:p>
            <a:pPr marL="1257300" lvl="2" indent="-342900" algn="l">
              <a:buFont typeface="Wingdings" panose="05000000000000000000" pitchFamily="2" charset="2"/>
              <a:buChar char="Ø"/>
            </a:pPr>
            <a:r>
              <a:rPr lang="en-US" sz="2400" dirty="0" smtClean="0">
                <a:solidFill>
                  <a:srgbClr val="002060"/>
                </a:solidFill>
                <a:latin typeface="Georgia" panose="02040502050405020303" pitchFamily="18" charset="0"/>
              </a:rPr>
              <a:t>Python 1.0 released in 1994</a:t>
            </a:r>
            <a:endParaRPr lang="en-US" sz="2400" dirty="0" smtClean="0">
              <a:solidFill>
                <a:srgbClr val="002060"/>
              </a:solidFill>
              <a:latin typeface="Georgia" panose="02040502050405020303" pitchFamily="18" charset="0"/>
            </a:endParaRPr>
          </a:p>
          <a:p>
            <a:pPr marL="1257300" lvl="2" indent="-342900" algn="l">
              <a:buFont typeface="Wingdings" panose="05000000000000000000" pitchFamily="2" charset="2"/>
              <a:buChar char="Ø"/>
            </a:pPr>
            <a:r>
              <a:rPr lang="en-US" sz="2400" dirty="0" smtClean="0">
                <a:solidFill>
                  <a:srgbClr val="002060"/>
                </a:solidFill>
                <a:latin typeface="Georgia" panose="02040502050405020303" pitchFamily="18" charset="0"/>
              </a:rPr>
              <a:t>Python 2.0 </a:t>
            </a:r>
            <a:r>
              <a:rPr lang="en-US" sz="2400" dirty="0">
                <a:solidFill>
                  <a:srgbClr val="002060"/>
                </a:solidFill>
                <a:latin typeface="Georgia" panose="02040502050405020303" pitchFamily="18" charset="0"/>
              </a:rPr>
              <a:t>released in </a:t>
            </a:r>
            <a:r>
              <a:rPr lang="en-US" sz="2400" dirty="0" smtClean="0">
                <a:solidFill>
                  <a:srgbClr val="002060"/>
                </a:solidFill>
                <a:latin typeface="Georgia" panose="02040502050405020303" pitchFamily="18" charset="0"/>
              </a:rPr>
              <a:t>2000</a:t>
            </a:r>
            <a:endParaRPr lang="en-US" sz="2400" dirty="0">
              <a:solidFill>
                <a:srgbClr val="002060"/>
              </a:solidFill>
              <a:latin typeface="Georgia" panose="02040502050405020303" pitchFamily="18" charset="0"/>
            </a:endParaRPr>
          </a:p>
          <a:p>
            <a:pPr marL="1257300" lvl="2" indent="-342900" algn="l">
              <a:buFont typeface="Wingdings" panose="05000000000000000000" pitchFamily="2" charset="2"/>
              <a:buChar char="Ø"/>
            </a:pPr>
            <a:r>
              <a:rPr lang="en-US" sz="2400" dirty="0" smtClean="0">
                <a:solidFill>
                  <a:srgbClr val="002060"/>
                </a:solidFill>
                <a:latin typeface="Georgia" panose="02040502050405020303" pitchFamily="18" charset="0"/>
              </a:rPr>
              <a:t>Python 3.0 </a:t>
            </a:r>
            <a:r>
              <a:rPr lang="en-US" sz="2400" dirty="0">
                <a:solidFill>
                  <a:srgbClr val="002060"/>
                </a:solidFill>
                <a:latin typeface="Georgia" panose="02040502050405020303" pitchFamily="18" charset="0"/>
              </a:rPr>
              <a:t>released in </a:t>
            </a:r>
            <a:r>
              <a:rPr lang="en-US" sz="2400" dirty="0" smtClean="0">
                <a:solidFill>
                  <a:srgbClr val="002060"/>
                </a:solidFill>
                <a:latin typeface="Georgia" panose="02040502050405020303" pitchFamily="18" charset="0"/>
              </a:rPr>
              <a:t>2008</a:t>
            </a:r>
            <a:endParaRPr lang="en-US" sz="2400" dirty="0" smtClean="0">
              <a:solidFill>
                <a:srgbClr val="002060"/>
              </a:solidFill>
              <a:latin typeface="Georgia" panose="02040502050405020303" pitchFamily="18" charset="0"/>
            </a:endParaRPr>
          </a:p>
          <a:p>
            <a:pPr marL="1257300" lvl="2" indent="-342900" algn="l">
              <a:buFont typeface="Wingdings" panose="05000000000000000000" pitchFamily="2" charset="2"/>
              <a:buChar char="Ø"/>
            </a:pPr>
            <a:r>
              <a:rPr lang="en-US" sz="2400" dirty="0" smtClean="0">
                <a:solidFill>
                  <a:srgbClr val="002060"/>
                </a:solidFill>
                <a:latin typeface="Georgia" panose="02040502050405020303" pitchFamily="18" charset="0"/>
              </a:rPr>
              <a:t>Python 2.7 is the recommended version</a:t>
            </a:r>
            <a:endParaRPr lang="en-US" sz="2400" dirty="0" smtClean="0">
              <a:solidFill>
                <a:srgbClr val="002060"/>
              </a:solidFill>
              <a:latin typeface="Georgia" panose="02040502050405020303" pitchFamily="18" charset="0"/>
            </a:endParaRPr>
          </a:p>
          <a:p>
            <a:endParaRPr lang="en-US" sz="2400" dirty="0" smtClean="0">
              <a:solidFill>
                <a:srgbClr val="002060"/>
              </a:solidFill>
              <a:latin typeface="Georgia" panose="02040502050405020303" pitchFamily="18" charset="0"/>
            </a:endParaRPr>
          </a:p>
          <a:p>
            <a:r>
              <a:rPr lang="en-US" sz="2400" dirty="0" smtClean="0">
                <a:solidFill>
                  <a:srgbClr val="002060"/>
                </a:solidFill>
                <a:latin typeface="Georgia" panose="02040502050405020303" pitchFamily="18" charset="0"/>
              </a:rPr>
              <a:t>ABC </a:t>
            </a:r>
            <a:r>
              <a:rPr lang="en-US" sz="2400" dirty="0" smtClean="0">
                <a:solidFill>
                  <a:srgbClr val="002060"/>
                </a:solidFill>
                <a:latin typeface="Georgia" panose="02040502050405020303" pitchFamily="18" charset="0"/>
              </a:rPr>
              <a:t>And C and C++</a:t>
            </a:r>
            <a:endParaRPr lang="en-US" sz="2400" dirty="0" smtClean="0">
              <a:solidFill>
                <a:srgbClr val="002060"/>
              </a:solidFill>
              <a:latin typeface="Georgia" panose="02040502050405020303" pitchFamily="18" charset="0"/>
            </a:endParaRPr>
          </a:p>
          <a:p>
            <a:r>
              <a:rPr lang="en-US" sz="2400" dirty="0" smtClean="0">
                <a:solidFill>
                  <a:srgbClr val="002060"/>
                </a:solidFill>
                <a:latin typeface="Georgia" panose="02040502050405020303" pitchFamily="18" charset="0"/>
              </a:rPr>
              <a:t>programming </a:t>
            </a:r>
            <a:r>
              <a:rPr lang="en-US" sz="2400" dirty="0">
                <a:solidFill>
                  <a:srgbClr val="002060"/>
                </a:solidFill>
                <a:latin typeface="Georgia" panose="02040502050405020303" pitchFamily="18" charset="0"/>
              </a:rPr>
              <a:t>language is said to be the predecessor of Python language</a:t>
            </a:r>
            <a:endParaRPr lang="en-US" sz="2400" dirty="0" smtClean="0">
              <a:solidFill>
                <a:srgbClr val="002060"/>
              </a:solidFill>
              <a:latin typeface="Georgia" panose="02040502050405020303" pitchFamily="18" charset="0"/>
            </a:endParaRPr>
          </a:p>
          <a:p>
            <a:endParaRPr lang="en-US" dirty="0">
              <a:solidFill>
                <a:schemeClr val="bg2">
                  <a:lumMod val="25000"/>
                </a:schemeClr>
              </a:solidFill>
              <a:latin typeface="Georgia" panose="02040502050405020303" pitchFamily="18" charset="0"/>
            </a:endParaRPr>
          </a:p>
        </p:txBody>
      </p:sp>
      <p:pic>
        <p:nvPicPr>
          <p:cNvPr id="4" name="Picture 3"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92988" y="270456"/>
            <a:ext cx="8915399" cy="962696"/>
          </a:xfrm>
        </p:spPr>
        <p:txBody>
          <a:bodyPr>
            <a:normAutofit/>
          </a:bodyPr>
          <a:lstStyle/>
          <a:p>
            <a:r>
              <a:rPr lang="en-US" sz="4400" b="1" dirty="0" smtClean="0">
                <a:solidFill>
                  <a:schemeClr val="bg2">
                    <a:lumMod val="25000"/>
                  </a:schemeClr>
                </a:solidFill>
                <a:latin typeface="Plantagenet Cherokee" panose="02020602070100000000" pitchFamily="18" charset="0"/>
              </a:rPr>
              <a:t>Advantages of Python???</a:t>
            </a:r>
            <a:endParaRPr lang="en-US" sz="4400" b="1" dirty="0">
              <a:solidFill>
                <a:schemeClr val="bg2">
                  <a:lumMod val="25000"/>
                </a:schemeClr>
              </a:solidFill>
              <a:latin typeface="Plantagenet Cherokee" panose="02020602070100000000" pitchFamily="18" charset="0"/>
            </a:endParaRPr>
          </a:p>
        </p:txBody>
      </p:sp>
      <p:sp>
        <p:nvSpPr>
          <p:cNvPr id="3" name="Subtitle 2"/>
          <p:cNvSpPr>
            <a:spLocks noGrp="1"/>
          </p:cNvSpPr>
          <p:nvPr>
            <p:ph type="subTitle" idx="1"/>
          </p:nvPr>
        </p:nvSpPr>
        <p:spPr>
          <a:xfrm>
            <a:off x="2253803" y="2034862"/>
            <a:ext cx="10229604" cy="4332439"/>
          </a:xfrm>
        </p:spPr>
        <p:txBody>
          <a:bodyPr>
            <a:normAutofit/>
          </a:bodyPr>
          <a:lstStyle/>
          <a:p>
            <a:pPr marL="1257300" lvl="2" indent="-342900" algn="l">
              <a:buFont typeface="Wingdings" panose="05000000000000000000" pitchFamily="2" charset="2"/>
              <a:buChar char="Ø"/>
            </a:pPr>
            <a:r>
              <a:rPr lang="en-US" sz="2400" dirty="0" smtClean="0">
                <a:solidFill>
                  <a:srgbClr val="002060"/>
                </a:solidFill>
                <a:latin typeface="Georgia" panose="02040502050405020303" pitchFamily="18" charset="0"/>
              </a:rPr>
              <a:t>Powerful &amp; fast</a:t>
            </a:r>
            <a:endParaRPr lang="en-US" sz="2400" dirty="0" smtClean="0">
              <a:solidFill>
                <a:srgbClr val="002060"/>
              </a:solidFill>
              <a:latin typeface="Georgia" panose="02040502050405020303" pitchFamily="18" charset="0"/>
            </a:endParaRPr>
          </a:p>
          <a:p>
            <a:pPr marL="1257300" lvl="2" indent="-342900" algn="l">
              <a:buFont typeface="Wingdings" panose="05000000000000000000" pitchFamily="2" charset="2"/>
              <a:buChar char="Ø"/>
            </a:pPr>
            <a:r>
              <a:rPr lang="en-US" sz="2400" dirty="0" smtClean="0">
                <a:solidFill>
                  <a:srgbClr val="002060"/>
                </a:solidFill>
                <a:latin typeface="Georgia" panose="02040502050405020303" pitchFamily="18" charset="0"/>
              </a:rPr>
              <a:t>Clear &amp; readable syntax</a:t>
            </a:r>
            <a:endParaRPr lang="en-US" sz="2400" dirty="0" smtClean="0">
              <a:solidFill>
                <a:srgbClr val="002060"/>
              </a:solidFill>
              <a:latin typeface="Georgia" panose="02040502050405020303" pitchFamily="18" charset="0"/>
            </a:endParaRPr>
          </a:p>
          <a:p>
            <a:pPr marL="1257300" lvl="2" indent="-342900" algn="l">
              <a:buFont typeface="Wingdings" panose="05000000000000000000" pitchFamily="2" charset="2"/>
              <a:buChar char="Ø"/>
            </a:pPr>
            <a:r>
              <a:rPr lang="en-US" sz="2400" dirty="0" smtClean="0">
                <a:solidFill>
                  <a:srgbClr val="002060"/>
                </a:solidFill>
                <a:latin typeface="Georgia" panose="02040502050405020303" pitchFamily="18" charset="0"/>
              </a:rPr>
              <a:t>Runs immediately</a:t>
            </a:r>
            <a:endParaRPr lang="en-US" sz="2400" dirty="0" smtClean="0">
              <a:solidFill>
                <a:srgbClr val="002060"/>
              </a:solidFill>
              <a:latin typeface="Georgia" panose="02040502050405020303" pitchFamily="18" charset="0"/>
            </a:endParaRPr>
          </a:p>
          <a:p>
            <a:pPr marL="1257300" lvl="2" indent="-342900" algn="l">
              <a:buFont typeface="Wingdings" panose="05000000000000000000" pitchFamily="2" charset="2"/>
              <a:buChar char="Ø"/>
            </a:pPr>
            <a:r>
              <a:rPr lang="en-US" sz="2400" dirty="0" smtClean="0">
                <a:solidFill>
                  <a:srgbClr val="002060"/>
                </a:solidFill>
                <a:latin typeface="Georgia" panose="02040502050405020303" pitchFamily="18" charset="0"/>
              </a:rPr>
              <a:t>Less coding required</a:t>
            </a:r>
            <a:endParaRPr lang="en-US" sz="2400" dirty="0" smtClean="0">
              <a:solidFill>
                <a:srgbClr val="002060"/>
              </a:solidFill>
              <a:latin typeface="Georgia" panose="02040502050405020303" pitchFamily="18" charset="0"/>
            </a:endParaRPr>
          </a:p>
          <a:p>
            <a:pPr marL="1257300" lvl="2" indent="-342900" algn="l">
              <a:buFont typeface="Wingdings" panose="05000000000000000000" pitchFamily="2" charset="2"/>
              <a:buChar char="Ø"/>
            </a:pPr>
            <a:r>
              <a:rPr lang="en-US" sz="2400" dirty="0" smtClean="0">
                <a:solidFill>
                  <a:srgbClr val="002060"/>
                </a:solidFill>
                <a:latin typeface="Georgia" panose="02040502050405020303" pitchFamily="18" charset="0"/>
              </a:rPr>
              <a:t>Extensive standard libraries</a:t>
            </a:r>
            <a:endParaRPr lang="en-US" sz="2400" dirty="0" smtClean="0">
              <a:solidFill>
                <a:srgbClr val="002060"/>
              </a:solidFill>
              <a:latin typeface="Georgia" panose="02040502050405020303" pitchFamily="18" charset="0"/>
            </a:endParaRPr>
          </a:p>
          <a:p>
            <a:pPr marL="1257300" lvl="2" indent="-342900" algn="l">
              <a:buFont typeface="Wingdings" panose="05000000000000000000" pitchFamily="2" charset="2"/>
              <a:buChar char="Ø"/>
            </a:pPr>
            <a:r>
              <a:rPr lang="en-US" sz="2400" dirty="0" smtClean="0">
                <a:solidFill>
                  <a:srgbClr val="002060"/>
                </a:solidFill>
                <a:latin typeface="Georgia" panose="02040502050405020303" pitchFamily="18" charset="0"/>
              </a:rPr>
              <a:t>Portable</a:t>
            </a:r>
            <a:endParaRPr lang="en-US" dirty="0">
              <a:solidFill>
                <a:schemeClr val="bg2">
                  <a:lumMod val="25000"/>
                </a:schemeClr>
              </a:solidFill>
              <a:latin typeface="Georgia" panose="02040502050405020303" pitchFamily="18" charset="0"/>
            </a:endParaRPr>
          </a:p>
        </p:txBody>
      </p:sp>
      <p:pic>
        <p:nvPicPr>
          <p:cNvPr id="4" name="Picture 3"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92988" y="270456"/>
            <a:ext cx="8915399" cy="962696"/>
          </a:xfrm>
        </p:spPr>
        <p:txBody>
          <a:bodyPr>
            <a:normAutofit/>
          </a:bodyPr>
          <a:lstStyle/>
          <a:p>
            <a:r>
              <a:rPr lang="en-US" sz="4400" b="1" dirty="0" smtClean="0">
                <a:solidFill>
                  <a:schemeClr val="bg2">
                    <a:lumMod val="25000"/>
                  </a:schemeClr>
                </a:solidFill>
                <a:latin typeface="Plantagenet Cherokee" panose="02020602070100000000" pitchFamily="18" charset="0"/>
              </a:rPr>
              <a:t>Who uses Python???</a:t>
            </a:r>
            <a:endParaRPr lang="en-US" sz="4400" b="1" dirty="0">
              <a:solidFill>
                <a:schemeClr val="bg2">
                  <a:lumMod val="25000"/>
                </a:schemeClr>
              </a:solidFill>
              <a:latin typeface="Plantagenet Cherokee" panose="02020602070100000000" pitchFamily="18" charset="0"/>
            </a:endParaRPr>
          </a:p>
        </p:txBody>
      </p:sp>
      <p:sp>
        <p:nvSpPr>
          <p:cNvPr id="3" name="Subtitle 2"/>
          <p:cNvSpPr>
            <a:spLocks noGrp="1"/>
          </p:cNvSpPr>
          <p:nvPr>
            <p:ph type="subTitle" idx="1"/>
          </p:nvPr>
        </p:nvSpPr>
        <p:spPr>
          <a:xfrm>
            <a:off x="3309870" y="2176530"/>
            <a:ext cx="9276567" cy="4332439"/>
          </a:xfrm>
        </p:spPr>
        <p:txBody>
          <a:bodyPr>
            <a:normAutofit/>
          </a:bodyPr>
          <a:lstStyle/>
          <a:p>
            <a:pPr marL="1257300" lvl="2" indent="-342900" algn="l">
              <a:buFont typeface="Wingdings" panose="05000000000000000000" pitchFamily="2" charset="2"/>
              <a:buChar char="Ø"/>
            </a:pPr>
            <a:r>
              <a:rPr lang="en-US" sz="2400" dirty="0" smtClean="0">
                <a:solidFill>
                  <a:srgbClr val="002060"/>
                </a:solidFill>
                <a:latin typeface="Georgia" panose="02040502050405020303" pitchFamily="18" charset="0"/>
              </a:rPr>
              <a:t>Google</a:t>
            </a:r>
            <a:endParaRPr lang="en-US" sz="2400" dirty="0" smtClean="0">
              <a:solidFill>
                <a:srgbClr val="002060"/>
              </a:solidFill>
              <a:latin typeface="Georgia" panose="02040502050405020303" pitchFamily="18" charset="0"/>
            </a:endParaRPr>
          </a:p>
          <a:p>
            <a:pPr marL="1257300" lvl="2" indent="-342900" algn="l">
              <a:buFont typeface="Wingdings" panose="05000000000000000000" pitchFamily="2" charset="2"/>
              <a:buChar char="Ø"/>
            </a:pPr>
            <a:r>
              <a:rPr lang="en-US" sz="2400" dirty="0" smtClean="0">
                <a:solidFill>
                  <a:srgbClr val="002060"/>
                </a:solidFill>
                <a:latin typeface="Georgia" panose="02040502050405020303" pitchFamily="18" charset="0"/>
              </a:rPr>
              <a:t>PBS</a:t>
            </a:r>
            <a:endParaRPr lang="en-US" sz="2400" dirty="0" smtClean="0">
              <a:solidFill>
                <a:srgbClr val="002060"/>
              </a:solidFill>
              <a:latin typeface="Georgia" panose="02040502050405020303" pitchFamily="18" charset="0"/>
            </a:endParaRPr>
          </a:p>
          <a:p>
            <a:pPr marL="1257300" lvl="2" indent="-342900" algn="l">
              <a:buFont typeface="Wingdings" panose="05000000000000000000" pitchFamily="2" charset="2"/>
              <a:buChar char="Ø"/>
            </a:pPr>
            <a:r>
              <a:rPr lang="en-US" sz="2400" dirty="0" smtClean="0">
                <a:solidFill>
                  <a:srgbClr val="002060"/>
                </a:solidFill>
                <a:latin typeface="Georgia" panose="02040502050405020303" pitchFamily="18" charset="0"/>
              </a:rPr>
              <a:t>NASA</a:t>
            </a:r>
            <a:endParaRPr lang="en-US" sz="2400" dirty="0" smtClean="0">
              <a:solidFill>
                <a:srgbClr val="002060"/>
              </a:solidFill>
              <a:latin typeface="Georgia" panose="02040502050405020303" pitchFamily="18" charset="0"/>
            </a:endParaRPr>
          </a:p>
          <a:p>
            <a:pPr marL="1257300" lvl="2" indent="-342900" algn="l">
              <a:buFont typeface="Wingdings" panose="05000000000000000000" pitchFamily="2" charset="2"/>
              <a:buChar char="Ø"/>
            </a:pPr>
            <a:r>
              <a:rPr lang="en-US" sz="2400" dirty="0" smtClean="0">
                <a:solidFill>
                  <a:srgbClr val="002060"/>
                </a:solidFill>
                <a:latin typeface="Georgia" panose="02040502050405020303" pitchFamily="18" charset="0"/>
              </a:rPr>
              <a:t>Library of Congress</a:t>
            </a:r>
            <a:endParaRPr lang="en-US" sz="2400" dirty="0" smtClean="0">
              <a:solidFill>
                <a:srgbClr val="002060"/>
              </a:solidFill>
              <a:latin typeface="Georgia" panose="02040502050405020303" pitchFamily="18" charset="0"/>
            </a:endParaRPr>
          </a:p>
          <a:p>
            <a:pPr marL="1257300" lvl="2" indent="-342900" algn="l">
              <a:buFont typeface="Wingdings" panose="05000000000000000000" pitchFamily="2" charset="2"/>
              <a:buChar char="Ø"/>
            </a:pPr>
            <a:r>
              <a:rPr lang="en-US" sz="2400" dirty="0" smtClean="0">
                <a:solidFill>
                  <a:srgbClr val="002060"/>
                </a:solidFill>
                <a:latin typeface="Georgia" panose="02040502050405020303" pitchFamily="18" charset="0"/>
              </a:rPr>
              <a:t>…the list goes on…</a:t>
            </a:r>
            <a:endParaRPr lang="en-US" sz="2400" dirty="0" smtClean="0">
              <a:solidFill>
                <a:srgbClr val="002060"/>
              </a:solidFill>
              <a:latin typeface="Georgia" panose="02040502050405020303" pitchFamily="18" charset="0"/>
            </a:endParaRPr>
          </a:p>
          <a:p>
            <a:endParaRPr lang="en-US" sz="2400" dirty="0" smtClean="0">
              <a:solidFill>
                <a:srgbClr val="002060"/>
              </a:solidFill>
              <a:latin typeface="Georgia" panose="02040502050405020303" pitchFamily="18" charset="0"/>
            </a:endParaRPr>
          </a:p>
          <a:p>
            <a:endParaRPr lang="en-US" dirty="0">
              <a:solidFill>
                <a:schemeClr val="bg2">
                  <a:lumMod val="25000"/>
                </a:schemeClr>
              </a:solidFill>
              <a:latin typeface="Georgia" panose="02040502050405020303" pitchFamily="18" charset="0"/>
            </a:endParaRPr>
          </a:p>
        </p:txBody>
      </p:sp>
      <p:pic>
        <p:nvPicPr>
          <p:cNvPr id="4" name="Picture 3"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92988" y="270456"/>
            <a:ext cx="8915399" cy="962696"/>
          </a:xfrm>
        </p:spPr>
        <p:txBody>
          <a:bodyPr>
            <a:normAutofit/>
          </a:bodyPr>
          <a:lstStyle/>
          <a:p>
            <a:r>
              <a:rPr lang="en-US" sz="4400" b="1" dirty="0" smtClean="0">
                <a:solidFill>
                  <a:schemeClr val="bg2">
                    <a:lumMod val="25000"/>
                  </a:schemeClr>
                </a:solidFill>
                <a:latin typeface="Plantagenet Cherokee" panose="02020602070100000000" pitchFamily="18" charset="0"/>
              </a:rPr>
              <a:t>Software Installation</a:t>
            </a:r>
            <a:endParaRPr lang="en-US" sz="4400" b="1" dirty="0">
              <a:solidFill>
                <a:schemeClr val="bg2">
                  <a:lumMod val="25000"/>
                </a:schemeClr>
              </a:solidFill>
              <a:latin typeface="Plantagenet Cherokee" panose="02020602070100000000" pitchFamily="18" charset="0"/>
            </a:endParaRPr>
          </a:p>
        </p:txBody>
      </p:sp>
      <p:sp>
        <p:nvSpPr>
          <p:cNvPr id="3" name="Subtitle 2"/>
          <p:cNvSpPr>
            <a:spLocks noGrp="1"/>
          </p:cNvSpPr>
          <p:nvPr>
            <p:ph type="subTitle" idx="1"/>
          </p:nvPr>
        </p:nvSpPr>
        <p:spPr>
          <a:xfrm>
            <a:off x="1300766" y="1233152"/>
            <a:ext cx="9276567" cy="4332439"/>
          </a:xfrm>
        </p:spPr>
        <p:txBody>
          <a:bodyPr>
            <a:normAutofit/>
          </a:bodyPr>
          <a:lstStyle/>
          <a:p>
            <a:r>
              <a:rPr lang="en-US" sz="2400" dirty="0" smtClean="0">
                <a:solidFill>
                  <a:srgbClr val="002060"/>
                </a:solidFill>
                <a:latin typeface="Georgia" panose="02040502050405020303" pitchFamily="18" charset="0"/>
              </a:rPr>
              <a:t>Python version – 3.6.2</a:t>
            </a:r>
            <a:endParaRPr lang="en-US" sz="2400" dirty="0" smtClean="0">
              <a:solidFill>
                <a:srgbClr val="002060"/>
              </a:solidFill>
              <a:latin typeface="Georgia" panose="02040502050405020303" pitchFamily="18" charset="0"/>
            </a:endParaRPr>
          </a:p>
          <a:p>
            <a:pPr marL="800100" lvl="1" indent="-342900" algn="l">
              <a:buFont typeface="Wingdings" panose="05000000000000000000" pitchFamily="2" charset="2"/>
              <a:buChar char="Ø"/>
            </a:pPr>
            <a:r>
              <a:rPr lang="en-US" sz="2200" dirty="0" smtClean="0">
                <a:solidFill>
                  <a:srgbClr val="002060"/>
                </a:solidFill>
                <a:latin typeface="Georgia" panose="02040502050405020303" pitchFamily="18" charset="0"/>
              </a:rPr>
              <a:t>Click </a:t>
            </a:r>
            <a:r>
              <a:rPr lang="en-US" sz="2200" dirty="0" smtClean="0">
                <a:solidFill>
                  <a:srgbClr val="002060"/>
                </a:solidFill>
                <a:latin typeface="Georgia" panose="02040502050405020303" pitchFamily="18" charset="0"/>
                <a:hlinkClick r:id="rId1"/>
              </a:rPr>
              <a:t>https</a:t>
            </a:r>
            <a:r>
              <a:rPr lang="en-US" sz="2200" dirty="0">
                <a:solidFill>
                  <a:srgbClr val="002060"/>
                </a:solidFill>
                <a:latin typeface="Georgia" panose="02040502050405020303" pitchFamily="18" charset="0"/>
                <a:hlinkClick r:id="rId1"/>
              </a:rPr>
              <a:t>://www.python.org/downloads</a:t>
            </a:r>
            <a:r>
              <a:rPr lang="en-US" sz="2200" dirty="0" smtClean="0">
                <a:solidFill>
                  <a:srgbClr val="002060"/>
                </a:solidFill>
                <a:latin typeface="Georgia" panose="02040502050405020303" pitchFamily="18" charset="0"/>
                <a:hlinkClick r:id="rId1"/>
              </a:rPr>
              <a:t>/</a:t>
            </a:r>
            <a:endParaRPr lang="en-US" sz="2200" dirty="0" smtClean="0">
              <a:solidFill>
                <a:srgbClr val="002060"/>
              </a:solidFill>
              <a:latin typeface="Georgia" panose="02040502050405020303" pitchFamily="18" charset="0"/>
            </a:endParaRPr>
          </a:p>
          <a:p>
            <a:pPr marL="800100" lvl="1" indent="-342900" algn="l">
              <a:buFont typeface="Wingdings" panose="05000000000000000000" pitchFamily="2" charset="2"/>
              <a:buChar char="Ø"/>
            </a:pPr>
            <a:endParaRPr lang="en-US" sz="2200" dirty="0" smtClean="0">
              <a:solidFill>
                <a:srgbClr val="002060"/>
              </a:solidFill>
              <a:latin typeface="Georgia" panose="02040502050405020303" pitchFamily="18" charset="0"/>
            </a:endParaRPr>
          </a:p>
          <a:p>
            <a:endParaRPr lang="en-US" dirty="0">
              <a:solidFill>
                <a:schemeClr val="bg2">
                  <a:lumMod val="25000"/>
                </a:schemeClr>
              </a:solidFill>
              <a:latin typeface="Georgia" panose="02040502050405020303" pitchFamily="18" charset="0"/>
            </a:endParaRPr>
          </a:p>
        </p:txBody>
      </p:sp>
      <p:pic>
        <p:nvPicPr>
          <p:cNvPr id="4" name="Picture 3"/>
          <p:cNvPicPr>
            <a:picLocks noChangeAspect="1"/>
          </p:cNvPicPr>
          <p:nvPr/>
        </p:nvPicPr>
        <p:blipFill>
          <a:blip r:embed="rId2"/>
          <a:stretch>
            <a:fillRect/>
          </a:stretch>
        </p:blipFill>
        <p:spPr>
          <a:xfrm>
            <a:off x="3459455" y="2286163"/>
            <a:ext cx="5182270" cy="4242124"/>
          </a:xfrm>
          <a:prstGeom prst="rect">
            <a:avLst/>
          </a:prstGeom>
        </p:spPr>
      </p:pic>
      <p:pic>
        <p:nvPicPr>
          <p:cNvPr id="5" name="Picture 4" descr="D:\GOWTHAMI\OTHERS\ACADEMY IMAGES &amp; LOGOS\EA_logo_transpran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92988" y="270456"/>
            <a:ext cx="8915399" cy="962696"/>
          </a:xfrm>
        </p:spPr>
        <p:txBody>
          <a:bodyPr>
            <a:normAutofit/>
          </a:bodyPr>
          <a:lstStyle/>
          <a:p>
            <a:r>
              <a:rPr lang="en-US" sz="4400" b="1" dirty="0" smtClean="0">
                <a:solidFill>
                  <a:schemeClr val="bg2">
                    <a:lumMod val="25000"/>
                  </a:schemeClr>
                </a:solidFill>
                <a:latin typeface="Plantagenet Cherokee" panose="02020602070100000000" pitchFamily="18" charset="0"/>
              </a:rPr>
              <a:t>Software Installation cont...</a:t>
            </a:r>
            <a:endParaRPr lang="en-US" sz="4400" b="1" dirty="0">
              <a:solidFill>
                <a:schemeClr val="bg2">
                  <a:lumMod val="25000"/>
                </a:schemeClr>
              </a:solidFill>
              <a:latin typeface="Plantagenet Cherokee" panose="02020602070100000000" pitchFamily="18" charset="0"/>
            </a:endParaRPr>
          </a:p>
        </p:txBody>
      </p:sp>
      <p:sp>
        <p:nvSpPr>
          <p:cNvPr id="3" name="Subtitle 2"/>
          <p:cNvSpPr>
            <a:spLocks noGrp="1"/>
          </p:cNvSpPr>
          <p:nvPr>
            <p:ph type="subTitle" idx="1"/>
          </p:nvPr>
        </p:nvSpPr>
        <p:spPr>
          <a:xfrm>
            <a:off x="1300766" y="1233152"/>
            <a:ext cx="9276567" cy="4332439"/>
          </a:xfrm>
        </p:spPr>
        <p:txBody>
          <a:bodyPr>
            <a:normAutofit/>
          </a:bodyPr>
          <a:lstStyle/>
          <a:p>
            <a:pPr marL="800100" lvl="1" indent="-342900" algn="l">
              <a:buFont typeface="Wingdings" panose="05000000000000000000" pitchFamily="2" charset="2"/>
              <a:buChar char="Ø"/>
            </a:pPr>
            <a:r>
              <a:rPr lang="en-US" sz="2200" dirty="0">
                <a:solidFill>
                  <a:srgbClr val="002060"/>
                </a:solidFill>
                <a:latin typeface="Georgia" panose="02040502050405020303" pitchFamily="18" charset="0"/>
              </a:rPr>
              <a:t>Double-click the icon labeling the file python-3.6.2.exe</a:t>
            </a:r>
            <a:r>
              <a:rPr lang="en-US" sz="2200" dirty="0" smtClean="0">
                <a:solidFill>
                  <a:srgbClr val="002060"/>
                </a:solidFill>
                <a:latin typeface="Georgia" panose="02040502050405020303" pitchFamily="18" charset="0"/>
              </a:rPr>
              <a:t>.</a:t>
            </a:r>
            <a:endParaRPr lang="en-US" sz="2200" dirty="0" smtClean="0">
              <a:solidFill>
                <a:srgbClr val="002060"/>
              </a:solidFill>
              <a:latin typeface="Georgia" panose="02040502050405020303" pitchFamily="18" charset="0"/>
            </a:endParaRPr>
          </a:p>
          <a:p>
            <a:pPr marL="800100" lvl="1" indent="-342900" algn="l">
              <a:buFont typeface="Wingdings" panose="05000000000000000000" pitchFamily="2" charset="2"/>
              <a:buChar char="Ø"/>
            </a:pPr>
            <a:r>
              <a:rPr lang="en-US" sz="2200" dirty="0">
                <a:solidFill>
                  <a:srgbClr val="002060"/>
                </a:solidFill>
                <a:latin typeface="Georgia" panose="02040502050405020303" pitchFamily="18" charset="0"/>
              </a:rPr>
              <a:t>Click Run.  </a:t>
            </a:r>
            <a:endParaRPr lang="en-US" sz="2200" dirty="0" smtClean="0">
              <a:solidFill>
                <a:srgbClr val="002060"/>
              </a:solidFill>
              <a:latin typeface="Georgia" panose="02040502050405020303" pitchFamily="18" charset="0"/>
            </a:endParaRPr>
          </a:p>
          <a:p>
            <a:pPr marL="800100" lvl="1" indent="-342900" algn="l">
              <a:buFont typeface="Wingdings" panose="05000000000000000000" pitchFamily="2" charset="2"/>
              <a:buChar char="Ø"/>
            </a:pPr>
            <a:endParaRPr lang="en-US" sz="2200" dirty="0" smtClean="0">
              <a:solidFill>
                <a:srgbClr val="002060"/>
              </a:solidFill>
              <a:latin typeface="Georgia" panose="02040502050405020303" pitchFamily="18" charset="0"/>
            </a:endParaRPr>
          </a:p>
          <a:p>
            <a:endParaRPr lang="en-US" dirty="0">
              <a:solidFill>
                <a:schemeClr val="bg2">
                  <a:lumMod val="25000"/>
                </a:schemeClr>
              </a:solidFill>
              <a:latin typeface="Georgia" panose="02040502050405020303" pitchFamily="18" charset="0"/>
            </a:endParaRPr>
          </a:p>
        </p:txBody>
      </p:sp>
      <p:pic>
        <p:nvPicPr>
          <p:cNvPr id="6" name="Picture 5"/>
          <p:cNvPicPr>
            <a:picLocks noChangeAspect="1"/>
          </p:cNvPicPr>
          <p:nvPr/>
        </p:nvPicPr>
        <p:blipFill>
          <a:blip r:embed="rId1"/>
          <a:stretch>
            <a:fillRect/>
          </a:stretch>
        </p:blipFill>
        <p:spPr>
          <a:xfrm>
            <a:off x="3284324" y="2311758"/>
            <a:ext cx="6391275" cy="3924300"/>
          </a:xfrm>
          <a:prstGeom prst="rect">
            <a:avLst/>
          </a:prstGeom>
        </p:spPr>
      </p:pic>
      <p:pic>
        <p:nvPicPr>
          <p:cNvPr id="5" name="Picture 4" descr="D:\GOWTHAMI\OTHERS\ACADEMY IMAGES &amp; LOGOS\EA_logo_transpran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92988" y="270456"/>
            <a:ext cx="8915399" cy="962696"/>
          </a:xfrm>
        </p:spPr>
        <p:txBody>
          <a:bodyPr>
            <a:normAutofit/>
          </a:bodyPr>
          <a:lstStyle/>
          <a:p>
            <a:r>
              <a:rPr lang="en-US" sz="4400" b="1" dirty="0" smtClean="0">
                <a:solidFill>
                  <a:schemeClr val="bg2">
                    <a:lumMod val="25000"/>
                  </a:schemeClr>
                </a:solidFill>
                <a:latin typeface="Plantagenet Cherokee" panose="02020602070100000000" pitchFamily="18" charset="0"/>
              </a:rPr>
              <a:t>Software Installation cont...</a:t>
            </a:r>
            <a:endParaRPr lang="en-US" sz="4400" b="1" dirty="0">
              <a:solidFill>
                <a:schemeClr val="bg2">
                  <a:lumMod val="25000"/>
                </a:schemeClr>
              </a:solidFill>
              <a:latin typeface="Plantagenet Cherokee" panose="02020602070100000000" pitchFamily="18" charset="0"/>
            </a:endParaRPr>
          </a:p>
        </p:txBody>
      </p:sp>
      <p:sp>
        <p:nvSpPr>
          <p:cNvPr id="3" name="Subtitle 2"/>
          <p:cNvSpPr>
            <a:spLocks noGrp="1"/>
          </p:cNvSpPr>
          <p:nvPr>
            <p:ph type="subTitle" idx="1"/>
          </p:nvPr>
        </p:nvSpPr>
        <p:spPr>
          <a:xfrm>
            <a:off x="1300766" y="1233152"/>
            <a:ext cx="9276567" cy="4332439"/>
          </a:xfrm>
        </p:spPr>
        <p:txBody>
          <a:bodyPr>
            <a:normAutofit/>
          </a:bodyPr>
          <a:lstStyle/>
          <a:p>
            <a:pPr marL="800100" lvl="1" indent="-342900" algn="l">
              <a:buFont typeface="Wingdings" panose="05000000000000000000" pitchFamily="2" charset="2"/>
              <a:buChar char="Ø"/>
            </a:pPr>
            <a:endParaRPr lang="en-US" sz="2200" dirty="0" smtClean="0">
              <a:solidFill>
                <a:srgbClr val="002060"/>
              </a:solidFill>
              <a:latin typeface="Calibri" panose="020F0502020204030204" pitchFamily="34" charset="0"/>
            </a:endParaRPr>
          </a:p>
          <a:p>
            <a:endParaRPr lang="en-US" dirty="0">
              <a:solidFill>
                <a:schemeClr val="bg2">
                  <a:lumMod val="25000"/>
                </a:schemeClr>
              </a:solidFill>
            </a:endParaRPr>
          </a:p>
        </p:txBody>
      </p:sp>
      <p:pic>
        <p:nvPicPr>
          <p:cNvPr id="7" name="Picture 6"/>
          <p:cNvPicPr>
            <a:picLocks noChangeAspect="1"/>
          </p:cNvPicPr>
          <p:nvPr/>
        </p:nvPicPr>
        <p:blipFill>
          <a:blip r:embed="rId1"/>
          <a:stretch>
            <a:fillRect/>
          </a:stretch>
        </p:blipFill>
        <p:spPr>
          <a:xfrm>
            <a:off x="3259159" y="2156503"/>
            <a:ext cx="6381750" cy="3924300"/>
          </a:xfrm>
          <a:prstGeom prst="rect">
            <a:avLst/>
          </a:prstGeom>
        </p:spPr>
      </p:pic>
      <p:sp>
        <p:nvSpPr>
          <p:cNvPr id="8" name="Rectangle 7"/>
          <p:cNvSpPr/>
          <p:nvPr/>
        </p:nvSpPr>
        <p:spPr>
          <a:xfrm>
            <a:off x="1495586" y="1463995"/>
            <a:ext cx="7915950" cy="461665"/>
          </a:xfrm>
          <a:prstGeom prst="rect">
            <a:avLst/>
          </a:prstGeom>
          <a:noFill/>
        </p:spPr>
        <p:txBody>
          <a:bodyPr wrap="none" lIns="91440" tIns="45720" rIns="91440" bIns="45720">
            <a:spAutoFit/>
          </a:bodyPr>
          <a:lstStyle/>
          <a:p>
            <a:pPr marL="342900" indent="-342900" algn="ctr">
              <a:buFont typeface="Wingdings" panose="05000000000000000000" pitchFamily="2" charset="2"/>
              <a:buChar char="Ø"/>
            </a:pPr>
            <a:r>
              <a:rPr lang="en-US" sz="2400" b="0" cap="none" spc="0" dirty="0" smtClean="0">
                <a:ln w="0"/>
                <a:solidFill>
                  <a:schemeClr val="bg2">
                    <a:lumMod val="25000"/>
                  </a:schemeClr>
                </a:solidFill>
                <a:effectLst>
                  <a:outerShdw blurRad="38100" dist="19050" dir="2700000" algn="tl" rotWithShape="0">
                    <a:schemeClr val="dk1">
                      <a:alpha val="40000"/>
                    </a:schemeClr>
                  </a:outerShdw>
                </a:effectLst>
                <a:latin typeface="Georgia" panose="02040502050405020303" pitchFamily="18" charset="0"/>
              </a:rPr>
              <a:t>After </a:t>
            </a:r>
            <a:r>
              <a:rPr lang="en-US" sz="2400" dirty="0" smtClean="0">
                <a:ln w="0"/>
                <a:solidFill>
                  <a:schemeClr val="bg2">
                    <a:lumMod val="25000"/>
                  </a:schemeClr>
                </a:solidFill>
                <a:effectLst>
                  <a:outerShdw blurRad="38100" dist="19050" dir="2700000" algn="tl" rotWithShape="0">
                    <a:schemeClr val="dk1">
                      <a:alpha val="40000"/>
                    </a:schemeClr>
                  </a:outerShdw>
                </a:effectLst>
                <a:latin typeface="Georgia" panose="02040502050405020303" pitchFamily="18" charset="0"/>
              </a:rPr>
              <a:t>click install now the below pop window will open</a:t>
            </a:r>
            <a:endParaRPr lang="en-US" sz="2400" b="0" cap="none" spc="0" dirty="0">
              <a:ln w="0"/>
              <a:solidFill>
                <a:schemeClr val="bg2">
                  <a:lumMod val="25000"/>
                </a:schemeClr>
              </a:solidFill>
              <a:effectLst>
                <a:outerShdw blurRad="38100" dist="19050" dir="2700000" algn="tl" rotWithShape="0">
                  <a:schemeClr val="dk1">
                    <a:alpha val="40000"/>
                  </a:schemeClr>
                </a:outerShdw>
              </a:effectLst>
              <a:latin typeface="Georgia" panose="02040502050405020303" pitchFamily="18" charset="0"/>
            </a:endParaRPr>
          </a:p>
        </p:txBody>
      </p:sp>
      <p:pic>
        <p:nvPicPr>
          <p:cNvPr id="6" name="Picture 5" descr="D:\GOWTHAMI\OTHERS\ACADEMY IMAGES &amp; LOGOS\EA_logo_transpran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92988" y="270456"/>
            <a:ext cx="8915399" cy="962696"/>
          </a:xfrm>
        </p:spPr>
        <p:txBody>
          <a:bodyPr>
            <a:normAutofit/>
          </a:bodyPr>
          <a:lstStyle/>
          <a:p>
            <a:r>
              <a:rPr lang="en-US" sz="4400" b="1" dirty="0" smtClean="0">
                <a:solidFill>
                  <a:schemeClr val="bg2">
                    <a:lumMod val="25000"/>
                  </a:schemeClr>
                </a:solidFill>
                <a:latin typeface="Plantagenet Cherokee" panose="02020602070100000000" pitchFamily="18" charset="0"/>
              </a:rPr>
              <a:t>Basic Syntax</a:t>
            </a:r>
            <a:endParaRPr lang="en-US" sz="4400" b="1" dirty="0">
              <a:solidFill>
                <a:schemeClr val="bg2">
                  <a:lumMod val="25000"/>
                </a:schemeClr>
              </a:solidFill>
              <a:latin typeface="Plantagenet Cherokee" panose="02020602070100000000" pitchFamily="18" charset="0"/>
            </a:endParaRPr>
          </a:p>
        </p:txBody>
      </p:sp>
      <p:sp>
        <p:nvSpPr>
          <p:cNvPr id="3" name="Subtitle 2"/>
          <p:cNvSpPr>
            <a:spLocks noGrp="1"/>
          </p:cNvSpPr>
          <p:nvPr>
            <p:ph type="subTitle" idx="1"/>
          </p:nvPr>
        </p:nvSpPr>
        <p:spPr>
          <a:xfrm>
            <a:off x="1300766" y="1233152"/>
            <a:ext cx="9276567" cy="4332439"/>
          </a:xfrm>
        </p:spPr>
        <p:txBody>
          <a:bodyPr>
            <a:normAutofit/>
          </a:bodyPr>
          <a:lstStyle/>
          <a:p>
            <a:pPr marL="800100" lvl="1" indent="-342900" algn="l">
              <a:buFont typeface="Wingdings" panose="05000000000000000000" pitchFamily="2" charset="2"/>
              <a:buChar char="Ø"/>
            </a:pPr>
            <a:endParaRPr lang="en-US" sz="2200" dirty="0" smtClean="0">
              <a:solidFill>
                <a:srgbClr val="002060"/>
              </a:solidFill>
              <a:latin typeface="Calibri" panose="020F0502020204030204" pitchFamily="34" charset="0"/>
            </a:endParaRPr>
          </a:p>
          <a:p>
            <a:endParaRPr lang="en-US" dirty="0">
              <a:solidFill>
                <a:schemeClr val="bg2">
                  <a:lumMod val="25000"/>
                </a:schemeClr>
              </a:solidFill>
            </a:endParaRPr>
          </a:p>
        </p:txBody>
      </p:sp>
      <p:sp>
        <p:nvSpPr>
          <p:cNvPr id="9" name="Rectangle 8"/>
          <p:cNvSpPr/>
          <p:nvPr/>
        </p:nvSpPr>
        <p:spPr>
          <a:xfrm>
            <a:off x="1644225" y="1644079"/>
            <a:ext cx="6812924" cy="830997"/>
          </a:xfrm>
          <a:prstGeom prst="rect">
            <a:avLst/>
          </a:prstGeom>
        </p:spPr>
        <p:txBody>
          <a:bodyPr wrap="square">
            <a:spAutoFit/>
          </a:bodyPr>
          <a:lstStyle/>
          <a:p>
            <a:r>
              <a:rPr lang="en-US" sz="2400" dirty="0" smtClean="0">
                <a:solidFill>
                  <a:schemeClr val="bg2">
                    <a:lumMod val="25000"/>
                  </a:schemeClr>
                </a:solidFill>
                <a:latin typeface="Georgia" panose="02040502050405020303" pitchFamily="18" charset="0"/>
              </a:rPr>
              <a:t># Python Basic Syntax - Example Program</a:t>
            </a:r>
            <a:endParaRPr lang="en-US" sz="2400" dirty="0" smtClean="0">
              <a:solidFill>
                <a:schemeClr val="bg2">
                  <a:lumMod val="25000"/>
                </a:schemeClr>
              </a:solidFill>
              <a:latin typeface="Georgia" panose="02040502050405020303" pitchFamily="18" charset="0"/>
            </a:endParaRPr>
          </a:p>
          <a:p>
            <a:r>
              <a:rPr lang="en-US" sz="2400" dirty="0" smtClean="0">
                <a:solidFill>
                  <a:schemeClr val="bg2">
                    <a:lumMod val="25000"/>
                  </a:schemeClr>
                </a:solidFill>
                <a:latin typeface="Georgia" panose="02040502050405020303" pitchFamily="18" charset="0"/>
              </a:rPr>
              <a:t>print("Hello Python, I am Python Basic Syntax");</a:t>
            </a:r>
            <a:endParaRPr lang="en-US" sz="2400" dirty="0">
              <a:solidFill>
                <a:schemeClr val="bg2">
                  <a:lumMod val="25000"/>
                </a:schemeClr>
              </a:solidFill>
              <a:latin typeface="Georgia" panose="02040502050405020303" pitchFamily="18" charset="0"/>
            </a:endParaRPr>
          </a:p>
        </p:txBody>
      </p:sp>
      <p:pic>
        <p:nvPicPr>
          <p:cNvPr id="12" name="Picture 1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030326" y="2886002"/>
            <a:ext cx="7447736" cy="3489039"/>
          </a:xfrm>
          <a:prstGeom prst="rect">
            <a:avLst/>
          </a:prstGeom>
        </p:spPr>
      </p:pic>
      <p:pic>
        <p:nvPicPr>
          <p:cNvPr id="6" name="Picture 5" descr="D:\GOWTHAMI\OTHERS\ACADEMY IMAGES &amp; LOGOS\EA_logo_transpran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4" name="Text Box 3"/>
          <p:cNvSpPr txBox="1"/>
          <p:nvPr/>
        </p:nvSpPr>
        <p:spPr>
          <a:xfrm>
            <a:off x="10985500" y="2376805"/>
            <a:ext cx="4064000" cy="368300"/>
          </a:xfrm>
          <a:prstGeom prst="rect">
            <a:avLst/>
          </a:prstGeom>
          <a:noFill/>
        </p:spPr>
        <p:txBody>
          <a:bodyPr wrap="square" rtlCol="0">
            <a:spAutoFit/>
          </a:bodyPr>
          <a:p>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92988" y="270456"/>
            <a:ext cx="8915399" cy="962696"/>
          </a:xfrm>
        </p:spPr>
        <p:txBody>
          <a:bodyPr>
            <a:normAutofit/>
          </a:bodyPr>
          <a:lstStyle/>
          <a:p>
            <a:r>
              <a:rPr lang="en-US" sz="4400" b="1" dirty="0" smtClean="0">
                <a:solidFill>
                  <a:schemeClr val="bg2">
                    <a:lumMod val="25000"/>
                  </a:schemeClr>
                </a:solidFill>
                <a:latin typeface="Plantagenet Cherokee" panose="02020602070100000000" pitchFamily="18" charset="0"/>
              </a:rPr>
              <a:t>Basic Syntax</a:t>
            </a:r>
            <a:endParaRPr lang="en-US" sz="4400" b="1" dirty="0">
              <a:solidFill>
                <a:schemeClr val="bg2">
                  <a:lumMod val="25000"/>
                </a:schemeClr>
              </a:solidFill>
              <a:latin typeface="Plantagenet Cherokee" panose="02020602070100000000" pitchFamily="18" charset="0"/>
            </a:endParaRPr>
          </a:p>
        </p:txBody>
      </p:sp>
      <p:sp>
        <p:nvSpPr>
          <p:cNvPr id="3" name="Subtitle 2"/>
          <p:cNvSpPr>
            <a:spLocks noGrp="1"/>
          </p:cNvSpPr>
          <p:nvPr>
            <p:ph type="subTitle" idx="1"/>
          </p:nvPr>
        </p:nvSpPr>
        <p:spPr>
          <a:xfrm>
            <a:off x="1300766" y="1233152"/>
            <a:ext cx="9276567" cy="4332439"/>
          </a:xfrm>
        </p:spPr>
        <p:txBody>
          <a:bodyPr>
            <a:normAutofit/>
          </a:bodyPr>
          <a:lstStyle/>
          <a:p>
            <a:pPr marL="800100" lvl="1" indent="-342900" algn="l">
              <a:buFont typeface="Wingdings" panose="05000000000000000000" pitchFamily="2" charset="2"/>
              <a:buChar char="Ø"/>
            </a:pPr>
            <a:endParaRPr lang="en-US" sz="2200" dirty="0" smtClean="0">
              <a:solidFill>
                <a:srgbClr val="002060"/>
              </a:solidFill>
              <a:latin typeface="Calibri" panose="020F0502020204030204" pitchFamily="34" charset="0"/>
            </a:endParaRPr>
          </a:p>
          <a:p>
            <a:endParaRPr lang="en-US" dirty="0">
              <a:solidFill>
                <a:schemeClr val="bg2">
                  <a:lumMod val="25000"/>
                </a:schemeClr>
              </a:solidFill>
            </a:endParaRPr>
          </a:p>
        </p:txBody>
      </p:sp>
      <p:sp>
        <p:nvSpPr>
          <p:cNvPr id="7" name="Rectangle 4"/>
          <p:cNvSpPr>
            <a:spLocks noChangeArrowheads="1"/>
          </p:cNvSpPr>
          <p:nvPr/>
        </p:nvSpPr>
        <p:spPr bwMode="auto">
          <a:xfrm>
            <a:off x="2009104" y="1752578"/>
            <a:ext cx="703269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print("This is,\</a:t>
            </a:r>
            <a:r>
              <a:rPr kumimoji="0" lang="en-US" altLang="en-US" sz="2400" b="0" i="0" u="none" strike="noStrike" cap="none" normalizeH="0" baseline="0" dirty="0" err="1" smtClean="0">
                <a:ln>
                  <a:noFill/>
                </a:ln>
                <a:solidFill>
                  <a:schemeClr val="bg2">
                    <a:lumMod val="25000"/>
                  </a:schemeClr>
                </a:solidFill>
                <a:effectLst/>
                <a:latin typeface="Georgia" panose="02040502050405020303" pitchFamily="18" charset="0"/>
              </a:rPr>
              <a:t>nPython</a:t>
            </a: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 basic syntax\</a:t>
            </a:r>
            <a:r>
              <a:rPr kumimoji="0" lang="en-US" altLang="en-US" sz="2400" b="0" i="0" u="none" strike="noStrike" cap="none" normalizeH="0" baseline="0" dirty="0" err="1" smtClean="0">
                <a:ln>
                  <a:noFill/>
                </a:ln>
                <a:solidFill>
                  <a:schemeClr val="bg2">
                    <a:lumMod val="25000"/>
                  </a:schemeClr>
                </a:solidFill>
                <a:effectLst/>
                <a:latin typeface="Georgia" panose="02040502050405020303" pitchFamily="18" charset="0"/>
              </a:rPr>
              <a:t>nExample</a:t>
            </a: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 </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print("You will learn all about Python"); </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p:txBody>
      </p:sp>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056844" y="3103002"/>
            <a:ext cx="7683197" cy="3181888"/>
          </a:xfrm>
          <a:prstGeom prst="rect">
            <a:avLst/>
          </a:prstGeom>
        </p:spPr>
      </p:pic>
      <p:pic>
        <p:nvPicPr>
          <p:cNvPr id="6" name="Picture 5" descr="D:\GOWTHAMI\OTHERS\ACADEMY IMAGES &amp; LOGOS\EA_logo_transpran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28593" y="232377"/>
            <a:ext cx="8915399" cy="962696"/>
          </a:xfrm>
        </p:spPr>
        <p:txBody>
          <a:bodyPr>
            <a:noAutofit/>
          </a:bodyPr>
          <a:lstStyle/>
          <a:p>
            <a:r>
              <a:rPr lang="en-US" sz="3600" b="1" dirty="0">
                <a:solidFill>
                  <a:schemeClr val="bg2">
                    <a:lumMod val="25000"/>
                  </a:schemeClr>
                </a:solidFill>
                <a:latin typeface="Plantagenet Cherokee" panose="02020602070100000000" pitchFamily="18" charset="0"/>
              </a:rPr>
              <a:t>Read User Input from Keyboard in Python</a:t>
            </a:r>
            <a:endParaRPr lang="en-US" sz="3600" b="1" dirty="0">
              <a:solidFill>
                <a:schemeClr val="bg2">
                  <a:lumMod val="25000"/>
                </a:schemeClr>
              </a:solidFill>
              <a:latin typeface="Plantagenet Cherokee" panose="02020602070100000000" pitchFamily="18" charset="0"/>
            </a:endParaRPr>
          </a:p>
        </p:txBody>
      </p:sp>
      <p:sp>
        <p:nvSpPr>
          <p:cNvPr id="3" name="Subtitle 2"/>
          <p:cNvSpPr>
            <a:spLocks noGrp="1"/>
          </p:cNvSpPr>
          <p:nvPr>
            <p:ph type="subTitle" idx="1"/>
          </p:nvPr>
        </p:nvSpPr>
        <p:spPr>
          <a:xfrm>
            <a:off x="1300766" y="1233152"/>
            <a:ext cx="9276567" cy="4332439"/>
          </a:xfrm>
        </p:spPr>
        <p:txBody>
          <a:bodyPr>
            <a:normAutofit/>
          </a:bodyPr>
          <a:lstStyle/>
          <a:p>
            <a:pPr marL="800100" lvl="1" indent="-342900" algn="l">
              <a:buFont typeface="Wingdings" panose="05000000000000000000" pitchFamily="2" charset="2"/>
              <a:buChar char="Ø"/>
            </a:pPr>
            <a:endParaRPr lang="en-US" sz="2200" dirty="0" smtClean="0">
              <a:solidFill>
                <a:srgbClr val="002060"/>
              </a:solidFill>
              <a:latin typeface="Calibri" panose="020F0502020204030204" pitchFamily="34" charset="0"/>
            </a:endParaRPr>
          </a:p>
          <a:p>
            <a:endParaRPr lang="en-US" dirty="0">
              <a:solidFill>
                <a:schemeClr val="bg2">
                  <a:lumMod val="25000"/>
                </a:schemeClr>
              </a:solidFill>
            </a:endParaRPr>
          </a:p>
        </p:txBody>
      </p:sp>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5" name="Rectangle 2"/>
          <p:cNvSpPr>
            <a:spLocks noChangeArrowheads="1"/>
          </p:cNvSpPr>
          <p:nvPr/>
        </p:nvSpPr>
        <p:spPr bwMode="auto">
          <a:xfrm>
            <a:off x="1942911" y="1582831"/>
            <a:ext cx="497304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err="1" smtClean="0">
                <a:ln>
                  <a:noFill/>
                </a:ln>
                <a:solidFill>
                  <a:schemeClr val="bg2">
                    <a:lumMod val="25000"/>
                  </a:schemeClr>
                </a:solidFill>
                <a:effectLst/>
                <a:latin typeface="Georgia" panose="02040502050405020303" pitchFamily="18" charset="0"/>
              </a:rPr>
              <a:t>strn</a:t>
            </a: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 = input("Enter your name: ") </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print("You name is ", </a:t>
            </a:r>
            <a:r>
              <a:rPr kumimoji="0" lang="en-US" altLang="en-US" sz="2400" b="0" i="0" u="none" strike="noStrike" cap="none" normalizeH="0" baseline="0" dirty="0" err="1" smtClean="0">
                <a:ln>
                  <a:noFill/>
                </a:ln>
                <a:solidFill>
                  <a:schemeClr val="bg2">
                    <a:lumMod val="25000"/>
                  </a:schemeClr>
                </a:solidFill>
                <a:effectLst/>
                <a:latin typeface="Georgia" panose="02040502050405020303" pitchFamily="18" charset="0"/>
              </a:rPr>
              <a:t>strn</a:t>
            </a: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 </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p:txBody>
      </p:sp>
      <p:pic>
        <p:nvPicPr>
          <p:cNvPr id="9" name="Picture 8"/>
          <p:cNvPicPr>
            <a:picLocks noChangeAspect="1"/>
          </p:cNvPicPr>
          <p:nvPr/>
        </p:nvPicPr>
        <p:blipFill>
          <a:blip r:embed="rId2"/>
          <a:stretch>
            <a:fillRect/>
          </a:stretch>
        </p:blipFill>
        <p:spPr>
          <a:xfrm>
            <a:off x="3922854" y="3105395"/>
            <a:ext cx="7707479" cy="3007548"/>
          </a:xfrm>
          <a:prstGeom prst="rect">
            <a:avLst/>
          </a:prstGeom>
          <a:ln w="3175" cap="sq" cmpd="thickThin">
            <a:solidFill>
              <a:srgbClr val="000000"/>
            </a:solidFill>
            <a:prstDash val="solid"/>
            <a:miter lim="800000"/>
            <a:headEnd/>
            <a:tailEnd/>
          </a:ln>
          <a:effectLst>
            <a:innerShdw blurRad="76200">
              <a:srgbClr val="000000"/>
            </a:innerShdw>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28593" y="232377"/>
            <a:ext cx="8915399" cy="962696"/>
          </a:xfrm>
        </p:spPr>
        <p:txBody>
          <a:bodyPr>
            <a:noAutofit/>
          </a:bodyPr>
          <a:lstStyle/>
          <a:p>
            <a:r>
              <a:rPr lang="en-US" sz="3600" b="1" dirty="0" smtClean="0">
                <a:solidFill>
                  <a:schemeClr val="bg2">
                    <a:lumMod val="25000"/>
                  </a:schemeClr>
                </a:solidFill>
                <a:latin typeface="Plantagenet Cherokee" panose="02020602070100000000" pitchFamily="18" charset="0"/>
              </a:rPr>
              <a:t>Comments</a:t>
            </a:r>
            <a:endParaRPr lang="en-US" sz="3600" b="1" dirty="0">
              <a:solidFill>
                <a:schemeClr val="bg2">
                  <a:lumMod val="25000"/>
                </a:schemeClr>
              </a:solidFill>
              <a:latin typeface="Plantagenet Cherokee" panose="02020602070100000000" pitchFamily="18" charset="0"/>
            </a:endParaRPr>
          </a:p>
        </p:txBody>
      </p:sp>
      <p:sp>
        <p:nvSpPr>
          <p:cNvPr id="3" name="Subtitle 2"/>
          <p:cNvSpPr>
            <a:spLocks noGrp="1"/>
          </p:cNvSpPr>
          <p:nvPr>
            <p:ph type="subTitle" idx="1"/>
          </p:nvPr>
        </p:nvSpPr>
        <p:spPr>
          <a:xfrm>
            <a:off x="1300766" y="1233152"/>
            <a:ext cx="9276567" cy="4332439"/>
          </a:xfrm>
        </p:spPr>
        <p:txBody>
          <a:bodyPr>
            <a:normAutofit/>
          </a:bodyPr>
          <a:lstStyle/>
          <a:p>
            <a:pPr marL="800100" lvl="1" indent="-342900" algn="l">
              <a:buFont typeface="Wingdings" panose="05000000000000000000" pitchFamily="2" charset="2"/>
              <a:buChar char="Ø"/>
            </a:pPr>
            <a:endParaRPr lang="en-US" sz="2200" dirty="0" smtClean="0">
              <a:solidFill>
                <a:srgbClr val="002060"/>
              </a:solidFill>
              <a:latin typeface="Calibri" panose="020F0502020204030204" pitchFamily="34" charset="0"/>
            </a:endParaRPr>
          </a:p>
          <a:p>
            <a:endParaRPr lang="en-US" dirty="0">
              <a:solidFill>
                <a:schemeClr val="bg2">
                  <a:lumMod val="25000"/>
                </a:schemeClr>
              </a:solidFill>
            </a:endParaRPr>
          </a:p>
        </p:txBody>
      </p:sp>
      <p:sp>
        <p:nvSpPr>
          <p:cNvPr id="7" name="Rectangle 4"/>
          <p:cNvSpPr>
            <a:spLocks noChangeArrowheads="1"/>
          </p:cNvSpPr>
          <p:nvPr/>
        </p:nvSpPr>
        <p:spPr bwMode="auto">
          <a:xfrm>
            <a:off x="1712890" y="1582831"/>
            <a:ext cx="1037335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lvl="0" eaLnBrk="0" fontAlgn="base" hangingPunct="0">
              <a:spcBef>
                <a:spcPct val="0"/>
              </a:spcBef>
              <a:spcAft>
                <a:spcPct val="0"/>
              </a:spcAft>
            </a:pPr>
            <a:r>
              <a:rPr lang="en-US" sz="2400" dirty="0">
                <a:solidFill>
                  <a:schemeClr val="bg2">
                    <a:lumMod val="25000"/>
                  </a:schemeClr>
                </a:solidFill>
                <a:latin typeface="Georgia" panose="02040502050405020303" pitchFamily="18" charset="0"/>
              </a:rPr>
              <a:t>Comments in Python are used by the developer to provide, </a:t>
            </a:r>
            <a:endParaRPr lang="en-US" sz="2400" dirty="0" smtClean="0">
              <a:solidFill>
                <a:schemeClr val="bg2">
                  <a:lumMod val="25000"/>
                </a:schemeClr>
              </a:solidFill>
              <a:latin typeface="Georgia" panose="02040502050405020303" pitchFamily="18" charset="0"/>
            </a:endParaRPr>
          </a:p>
          <a:p>
            <a:pPr lvl="0" eaLnBrk="0" fontAlgn="base" hangingPunct="0">
              <a:spcBef>
                <a:spcPct val="0"/>
              </a:spcBef>
              <a:spcAft>
                <a:spcPct val="0"/>
              </a:spcAft>
            </a:pPr>
            <a:r>
              <a:rPr lang="en-US" sz="2400" dirty="0" smtClean="0">
                <a:solidFill>
                  <a:schemeClr val="bg2">
                    <a:lumMod val="25000"/>
                  </a:schemeClr>
                </a:solidFill>
                <a:latin typeface="Georgia" panose="02040502050405020303" pitchFamily="18" charset="0"/>
              </a:rPr>
              <a:t>give </a:t>
            </a:r>
            <a:r>
              <a:rPr lang="en-US" sz="2400" dirty="0">
                <a:solidFill>
                  <a:schemeClr val="bg2">
                    <a:lumMod val="25000"/>
                  </a:schemeClr>
                </a:solidFill>
                <a:latin typeface="Georgia" panose="02040502050405020303" pitchFamily="18" charset="0"/>
              </a:rPr>
              <a:t>or write some information about some line of code in Python program.</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p:txBody>
      </p:sp>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4" name="Rectangle 3"/>
          <p:cNvSpPr/>
          <p:nvPr/>
        </p:nvSpPr>
        <p:spPr>
          <a:xfrm>
            <a:off x="2305318" y="3104913"/>
            <a:ext cx="8525814" cy="2308324"/>
          </a:xfrm>
          <a:prstGeom prst="rect">
            <a:avLst/>
          </a:prstGeom>
        </p:spPr>
        <p:txBody>
          <a:bodyPr wrap="square">
            <a:spAutoFit/>
          </a:bodyPr>
          <a:lstStyle/>
          <a:p>
            <a:r>
              <a:rPr lang="en-US" sz="2400" b="1" dirty="0">
                <a:solidFill>
                  <a:schemeClr val="bg2">
                    <a:lumMod val="25000"/>
                  </a:schemeClr>
                </a:solidFill>
                <a:latin typeface="Georgia" panose="02040502050405020303" pitchFamily="18" charset="0"/>
              </a:rPr>
              <a:t>Types of Comment in </a:t>
            </a:r>
            <a:r>
              <a:rPr lang="en-US" sz="2400" b="1" dirty="0" smtClean="0">
                <a:solidFill>
                  <a:schemeClr val="bg2">
                    <a:lumMod val="25000"/>
                  </a:schemeClr>
                </a:solidFill>
                <a:latin typeface="Georgia" panose="02040502050405020303" pitchFamily="18" charset="0"/>
              </a:rPr>
              <a:t>Python</a:t>
            </a:r>
            <a:endParaRPr lang="en-US" sz="2400" b="1" dirty="0" smtClean="0">
              <a:solidFill>
                <a:schemeClr val="bg2">
                  <a:lumMod val="25000"/>
                </a:schemeClr>
              </a:solidFill>
              <a:latin typeface="Georgia" panose="02040502050405020303" pitchFamily="18" charset="0"/>
            </a:endParaRPr>
          </a:p>
          <a:p>
            <a:endParaRPr lang="en-US" sz="2400" b="1" dirty="0">
              <a:solidFill>
                <a:schemeClr val="bg2">
                  <a:lumMod val="25000"/>
                </a:schemeClr>
              </a:solidFill>
              <a:latin typeface="Georgia" panose="02040502050405020303" pitchFamily="18" charset="0"/>
            </a:endParaRPr>
          </a:p>
          <a:p>
            <a:pPr lvl="1"/>
            <a:r>
              <a:rPr lang="en-US" sz="2400" dirty="0">
                <a:solidFill>
                  <a:schemeClr val="bg2">
                    <a:lumMod val="25000"/>
                  </a:schemeClr>
                </a:solidFill>
                <a:latin typeface="Georgia" panose="02040502050405020303" pitchFamily="18" charset="0"/>
              </a:rPr>
              <a:t>There are two types of comment available in Python. </a:t>
            </a:r>
            <a:endParaRPr lang="en-US" sz="2400" dirty="0" smtClean="0">
              <a:solidFill>
                <a:schemeClr val="bg2">
                  <a:lumMod val="25000"/>
                </a:schemeClr>
              </a:solidFill>
              <a:latin typeface="Georgia" panose="02040502050405020303" pitchFamily="18" charset="0"/>
            </a:endParaRPr>
          </a:p>
          <a:p>
            <a:pPr lvl="1"/>
            <a:endParaRPr lang="en-US" sz="2400" dirty="0">
              <a:solidFill>
                <a:schemeClr val="bg2">
                  <a:lumMod val="25000"/>
                </a:schemeClr>
              </a:solidFill>
              <a:latin typeface="Georgia" panose="02040502050405020303" pitchFamily="18" charset="0"/>
            </a:endParaRPr>
          </a:p>
          <a:p>
            <a:pPr marL="1714500" lvl="3" indent="-342900">
              <a:buFont typeface="Wingdings" panose="05000000000000000000" pitchFamily="2" charset="2"/>
              <a:buChar char="Ø"/>
            </a:pPr>
            <a:r>
              <a:rPr lang="en-US" sz="2400" dirty="0" smtClean="0">
                <a:solidFill>
                  <a:schemeClr val="bg2">
                    <a:lumMod val="25000"/>
                  </a:schemeClr>
                </a:solidFill>
                <a:latin typeface="Georgia" panose="02040502050405020303" pitchFamily="18" charset="0"/>
              </a:rPr>
              <a:t>   Single </a:t>
            </a:r>
            <a:r>
              <a:rPr lang="en-US" sz="2400" dirty="0">
                <a:solidFill>
                  <a:schemeClr val="bg2">
                    <a:lumMod val="25000"/>
                  </a:schemeClr>
                </a:solidFill>
                <a:latin typeface="Georgia" panose="02040502050405020303" pitchFamily="18" charset="0"/>
              </a:rPr>
              <a:t>line comment</a:t>
            </a:r>
            <a:endParaRPr lang="en-US" sz="2400" dirty="0">
              <a:solidFill>
                <a:schemeClr val="bg2">
                  <a:lumMod val="25000"/>
                </a:schemeClr>
              </a:solidFill>
              <a:latin typeface="Georgia" panose="02040502050405020303" pitchFamily="18" charset="0"/>
            </a:endParaRPr>
          </a:p>
          <a:p>
            <a:pPr marL="1714500" lvl="3" indent="-342900">
              <a:buFont typeface="Wingdings" panose="05000000000000000000" pitchFamily="2" charset="2"/>
              <a:buChar char="Ø"/>
            </a:pPr>
            <a:r>
              <a:rPr lang="en-US" sz="2400" dirty="0" smtClean="0">
                <a:solidFill>
                  <a:schemeClr val="bg2">
                    <a:lumMod val="25000"/>
                  </a:schemeClr>
                </a:solidFill>
                <a:latin typeface="Georgia" panose="02040502050405020303" pitchFamily="18" charset="0"/>
              </a:rPr>
              <a:t>   Multi </a:t>
            </a:r>
            <a:r>
              <a:rPr lang="en-US" sz="2400" dirty="0">
                <a:solidFill>
                  <a:schemeClr val="bg2">
                    <a:lumMod val="25000"/>
                  </a:schemeClr>
                </a:solidFill>
                <a:latin typeface="Georgia" panose="02040502050405020303" pitchFamily="18" charset="0"/>
              </a:rPr>
              <a:t>line comment</a:t>
            </a:r>
            <a:endParaRPr lang="en-US" sz="2400" dirty="0">
              <a:solidFill>
                <a:schemeClr val="bg2">
                  <a:lumMod val="25000"/>
                </a:schemeClr>
              </a:solidFill>
              <a:latin typeface="Georgia" panose="02040502050405020303"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28593" y="232377"/>
            <a:ext cx="8915399" cy="962696"/>
          </a:xfrm>
        </p:spPr>
        <p:txBody>
          <a:bodyPr>
            <a:noAutofit/>
          </a:bodyPr>
          <a:lstStyle/>
          <a:p>
            <a:r>
              <a:rPr lang="en-US" sz="3600" b="1" dirty="0">
                <a:solidFill>
                  <a:schemeClr val="bg2">
                    <a:lumMod val="25000"/>
                  </a:schemeClr>
                </a:solidFill>
                <a:latin typeface="Plantagenet Cherokee" panose="02020602070100000000" pitchFamily="18" charset="0"/>
              </a:rPr>
              <a:t>Single line comment</a:t>
            </a:r>
            <a:endParaRPr lang="en-US" sz="3600" b="1" dirty="0">
              <a:solidFill>
                <a:schemeClr val="bg2">
                  <a:lumMod val="25000"/>
                </a:schemeClr>
              </a:solidFill>
              <a:latin typeface="Plantagenet Cherokee" panose="02020602070100000000" pitchFamily="18" charset="0"/>
            </a:endParaRPr>
          </a:p>
        </p:txBody>
      </p:sp>
      <p:sp>
        <p:nvSpPr>
          <p:cNvPr id="3" name="Subtitle 2"/>
          <p:cNvSpPr>
            <a:spLocks noGrp="1"/>
          </p:cNvSpPr>
          <p:nvPr>
            <p:ph type="subTitle" idx="1"/>
          </p:nvPr>
        </p:nvSpPr>
        <p:spPr>
          <a:xfrm>
            <a:off x="1300766" y="1233152"/>
            <a:ext cx="9276567" cy="4332439"/>
          </a:xfrm>
        </p:spPr>
        <p:txBody>
          <a:bodyPr>
            <a:normAutofit/>
          </a:bodyPr>
          <a:lstStyle/>
          <a:p>
            <a:pPr marL="800100" lvl="1" indent="-342900" algn="l">
              <a:buFont typeface="Wingdings" panose="05000000000000000000" pitchFamily="2" charset="2"/>
              <a:buChar char="Ø"/>
            </a:pPr>
            <a:endParaRPr lang="en-US" sz="2200" dirty="0" smtClean="0">
              <a:solidFill>
                <a:srgbClr val="002060"/>
              </a:solidFill>
              <a:latin typeface="Calibri" panose="020F0502020204030204" pitchFamily="34" charset="0"/>
            </a:endParaRPr>
          </a:p>
          <a:p>
            <a:endParaRPr lang="en-US" dirty="0">
              <a:solidFill>
                <a:schemeClr val="bg2">
                  <a:lumMod val="25000"/>
                </a:schemeClr>
              </a:solidFill>
            </a:endParaRPr>
          </a:p>
        </p:txBody>
      </p:sp>
      <p:sp>
        <p:nvSpPr>
          <p:cNvPr id="7" name="Rectangle 4"/>
          <p:cNvSpPr>
            <a:spLocks noChangeArrowheads="1"/>
          </p:cNvSpPr>
          <p:nvPr/>
        </p:nvSpPr>
        <p:spPr bwMode="auto">
          <a:xfrm>
            <a:off x="1555538" y="1226689"/>
            <a:ext cx="988276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eaLnBrk="0" fontAlgn="base" hangingPunct="0">
              <a:spcBef>
                <a:spcPct val="0"/>
              </a:spcBef>
              <a:spcAft>
                <a:spcPct val="0"/>
              </a:spcAft>
            </a:pPr>
            <a:r>
              <a:rPr lang="en-US" sz="2400" dirty="0" smtClean="0">
                <a:solidFill>
                  <a:schemeClr val="bg2">
                    <a:lumMod val="25000"/>
                  </a:schemeClr>
                </a:solidFill>
                <a:latin typeface="Georgia" panose="02040502050405020303" pitchFamily="18" charset="0"/>
              </a:rPr>
              <a:t>Single </a:t>
            </a:r>
            <a:r>
              <a:rPr lang="en-US" sz="2400" dirty="0">
                <a:solidFill>
                  <a:schemeClr val="bg2">
                    <a:lumMod val="25000"/>
                  </a:schemeClr>
                </a:solidFill>
                <a:latin typeface="Georgia" panose="02040502050405020303" pitchFamily="18" charset="0"/>
              </a:rPr>
              <a:t>line comments are the comments that can be written in only one line with the help of </a:t>
            </a:r>
            <a:r>
              <a:rPr lang="en-US" sz="2400" dirty="0" smtClean="0">
                <a:solidFill>
                  <a:schemeClr val="bg2">
                    <a:lumMod val="25000"/>
                  </a:schemeClr>
                </a:solidFill>
                <a:latin typeface="Georgia" panose="02040502050405020303" pitchFamily="18" charset="0"/>
              </a:rPr>
              <a:t>commenting </a:t>
            </a:r>
            <a:r>
              <a:rPr lang="en-US" sz="2400" dirty="0">
                <a:solidFill>
                  <a:schemeClr val="bg2">
                    <a:lumMod val="25000"/>
                  </a:schemeClr>
                </a:solidFill>
                <a:latin typeface="Georgia" panose="02040502050405020303" pitchFamily="18" charset="0"/>
              </a:rPr>
              <a:t>code </a:t>
            </a:r>
            <a:r>
              <a:rPr lang="en-US" sz="2400" dirty="0" smtClean="0">
                <a:solidFill>
                  <a:schemeClr val="bg2">
                    <a:lumMod val="25000"/>
                  </a:schemeClr>
                </a:solidFill>
                <a:latin typeface="Georgia" panose="02040502050405020303" pitchFamily="18" charset="0"/>
              </a:rPr>
              <a:t>that </a:t>
            </a:r>
            <a:r>
              <a:rPr lang="en-US" sz="2400" dirty="0">
                <a:solidFill>
                  <a:schemeClr val="bg2">
                    <a:lumMod val="25000"/>
                  </a:schemeClr>
                </a:solidFill>
                <a:latin typeface="Georgia" panose="02040502050405020303" pitchFamily="18" charset="0"/>
              </a:rPr>
              <a:t>is used to write at the beginning of comment.</a:t>
            </a:r>
            <a:endParaRPr lang="en-US" altLang="en-US" sz="2400" dirty="0">
              <a:solidFill>
                <a:schemeClr val="bg2">
                  <a:lumMod val="25000"/>
                </a:schemeClr>
              </a:solidFill>
              <a:latin typeface="Georgia" panose="02040502050405020303" pitchFamily="18" charset="0"/>
            </a:endParaRPr>
          </a:p>
        </p:txBody>
      </p:sp>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4" name="Rectangle 3"/>
          <p:cNvSpPr/>
          <p:nvPr/>
        </p:nvSpPr>
        <p:spPr>
          <a:xfrm>
            <a:off x="2482002" y="2465097"/>
            <a:ext cx="8525814" cy="2308324"/>
          </a:xfrm>
          <a:prstGeom prst="rect">
            <a:avLst/>
          </a:prstGeom>
        </p:spPr>
        <p:txBody>
          <a:bodyPr wrap="square">
            <a:spAutoFit/>
          </a:bodyPr>
          <a:lstStyle/>
          <a:p>
            <a:r>
              <a:rPr lang="en-US" sz="2400" b="1" dirty="0" smtClean="0">
                <a:solidFill>
                  <a:schemeClr val="bg2">
                    <a:lumMod val="25000"/>
                  </a:schemeClr>
                </a:solidFill>
                <a:latin typeface="Georgia" panose="02040502050405020303" pitchFamily="18" charset="0"/>
              </a:rPr>
              <a:t>Syntax:</a:t>
            </a:r>
            <a:endParaRPr lang="en-US" sz="2400" b="1" dirty="0" smtClean="0">
              <a:solidFill>
                <a:schemeClr val="bg2">
                  <a:lumMod val="25000"/>
                </a:schemeClr>
              </a:solidFill>
              <a:latin typeface="Georgia" panose="02040502050405020303" pitchFamily="18" charset="0"/>
            </a:endParaRPr>
          </a:p>
          <a:p>
            <a:pPr lvl="0"/>
            <a:r>
              <a:rPr lang="en-US" altLang="en-US" sz="2400" dirty="0" smtClean="0">
                <a:solidFill>
                  <a:schemeClr val="bg2">
                    <a:lumMod val="25000"/>
                  </a:schemeClr>
                </a:solidFill>
                <a:latin typeface="Georgia" panose="02040502050405020303" pitchFamily="18" charset="0"/>
              </a:rPr>
              <a:t># </a:t>
            </a:r>
            <a:r>
              <a:rPr lang="en-US" altLang="en-US" sz="2400" dirty="0">
                <a:solidFill>
                  <a:schemeClr val="bg2">
                    <a:lumMod val="25000"/>
                  </a:schemeClr>
                </a:solidFill>
                <a:latin typeface="Georgia" panose="02040502050405020303" pitchFamily="18" charset="0"/>
              </a:rPr>
              <a:t>Python Basic Syntax - Example </a:t>
            </a:r>
            <a:r>
              <a:rPr lang="en-US" altLang="en-US" sz="2400" dirty="0" smtClean="0">
                <a:solidFill>
                  <a:schemeClr val="bg2">
                    <a:lumMod val="25000"/>
                  </a:schemeClr>
                </a:solidFill>
                <a:latin typeface="Georgia" panose="02040502050405020303" pitchFamily="18" charset="0"/>
              </a:rPr>
              <a:t>Program</a:t>
            </a:r>
            <a:endParaRPr lang="en-US" altLang="en-US" sz="2400" dirty="0" smtClean="0">
              <a:solidFill>
                <a:schemeClr val="bg2">
                  <a:lumMod val="25000"/>
                </a:schemeClr>
              </a:solidFill>
              <a:latin typeface="Georgia" panose="02040502050405020303" pitchFamily="18" charset="0"/>
            </a:endParaRPr>
          </a:p>
          <a:p>
            <a:pPr lvl="0"/>
            <a:r>
              <a:rPr lang="en-US" altLang="en-US" sz="2400" dirty="0" smtClean="0">
                <a:solidFill>
                  <a:schemeClr val="bg2">
                    <a:lumMod val="25000"/>
                  </a:schemeClr>
                </a:solidFill>
                <a:latin typeface="Georgia" panose="02040502050405020303" pitchFamily="18" charset="0"/>
              </a:rPr>
              <a:t># </a:t>
            </a:r>
            <a:r>
              <a:rPr lang="en-US" altLang="en-US" sz="2400" dirty="0">
                <a:solidFill>
                  <a:schemeClr val="bg2">
                    <a:lumMod val="25000"/>
                  </a:schemeClr>
                </a:solidFill>
                <a:latin typeface="Georgia" panose="02040502050405020303" pitchFamily="18" charset="0"/>
              </a:rPr>
              <a:t>We are comments </a:t>
            </a:r>
            <a:endParaRPr lang="en-US" altLang="en-US" sz="2400" dirty="0" smtClean="0">
              <a:solidFill>
                <a:schemeClr val="bg2">
                  <a:lumMod val="25000"/>
                </a:schemeClr>
              </a:solidFill>
              <a:latin typeface="Georgia" panose="02040502050405020303" pitchFamily="18" charset="0"/>
            </a:endParaRPr>
          </a:p>
          <a:p>
            <a:pPr lvl="0"/>
            <a:r>
              <a:rPr lang="en-US" altLang="en-US" sz="2400" dirty="0" smtClean="0">
                <a:solidFill>
                  <a:schemeClr val="bg2">
                    <a:lumMod val="25000"/>
                  </a:schemeClr>
                </a:solidFill>
                <a:latin typeface="Georgia" panose="02040502050405020303" pitchFamily="18" charset="0"/>
              </a:rPr>
              <a:t>print</a:t>
            </a:r>
            <a:r>
              <a:rPr lang="en-US" altLang="en-US" sz="2400" dirty="0">
                <a:solidFill>
                  <a:schemeClr val="bg2">
                    <a:lumMod val="25000"/>
                  </a:schemeClr>
                </a:solidFill>
                <a:latin typeface="Georgia" panose="02040502050405020303" pitchFamily="18" charset="0"/>
              </a:rPr>
              <a:t>("Hello World, I am Python"); </a:t>
            </a:r>
            <a:r>
              <a:rPr lang="en-US" altLang="en-US" sz="2400" dirty="0" smtClean="0">
                <a:solidFill>
                  <a:schemeClr val="bg2">
                    <a:lumMod val="25000"/>
                  </a:schemeClr>
                </a:solidFill>
                <a:latin typeface="Georgia" panose="02040502050405020303" pitchFamily="18" charset="0"/>
              </a:rPr>
              <a:t># </a:t>
            </a:r>
            <a:r>
              <a:rPr lang="en-US" altLang="en-US" sz="2400" dirty="0" err="1">
                <a:solidFill>
                  <a:schemeClr val="bg2">
                    <a:lumMod val="25000"/>
                  </a:schemeClr>
                </a:solidFill>
                <a:latin typeface="Georgia" panose="02040502050405020303" pitchFamily="18" charset="0"/>
              </a:rPr>
              <a:t>i</a:t>
            </a:r>
            <a:r>
              <a:rPr lang="en-US" altLang="en-US" sz="2400" dirty="0">
                <a:solidFill>
                  <a:schemeClr val="bg2">
                    <a:lumMod val="25000"/>
                  </a:schemeClr>
                </a:solidFill>
                <a:latin typeface="Georgia" panose="02040502050405020303" pitchFamily="18" charset="0"/>
              </a:rPr>
              <a:t> am also comment </a:t>
            </a:r>
            <a:endParaRPr lang="en-US" altLang="en-US" sz="2400" dirty="0">
              <a:solidFill>
                <a:schemeClr val="bg2">
                  <a:lumMod val="25000"/>
                </a:schemeClr>
              </a:solidFill>
              <a:latin typeface="Georgia" panose="02040502050405020303" pitchFamily="18" charset="0"/>
            </a:endParaRPr>
          </a:p>
          <a:p>
            <a:endParaRPr lang="en-US" sz="2400" b="1" dirty="0" smtClean="0">
              <a:solidFill>
                <a:schemeClr val="bg2">
                  <a:lumMod val="25000"/>
                </a:schemeClr>
              </a:solidFill>
              <a:latin typeface="Georgia" panose="02040502050405020303" pitchFamily="18" charset="0"/>
            </a:endParaRPr>
          </a:p>
          <a:p>
            <a:endParaRPr lang="en-US" sz="2400" dirty="0">
              <a:solidFill>
                <a:schemeClr val="bg2">
                  <a:lumMod val="25000"/>
                </a:schemeClr>
              </a:solidFill>
              <a:latin typeface="Georgia" panose="02040502050405020303" pitchFamily="18" charset="0"/>
            </a:endParaRPr>
          </a:p>
        </p:txBody>
      </p:sp>
      <p:pic>
        <p:nvPicPr>
          <p:cNvPr id="8" name="Picture 7"/>
          <p:cNvPicPr>
            <a:picLocks noChangeAspect="1"/>
          </p:cNvPicPr>
          <p:nvPr/>
        </p:nvPicPr>
        <p:blipFill>
          <a:blip r:embed="rId2"/>
          <a:stretch>
            <a:fillRect/>
          </a:stretch>
        </p:blipFill>
        <p:spPr>
          <a:xfrm>
            <a:off x="4195582" y="4219852"/>
            <a:ext cx="7214569" cy="2379731"/>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28593" y="232377"/>
            <a:ext cx="8915399" cy="962696"/>
          </a:xfrm>
        </p:spPr>
        <p:txBody>
          <a:bodyPr>
            <a:noAutofit/>
          </a:bodyPr>
          <a:lstStyle/>
          <a:p>
            <a:r>
              <a:rPr lang="en-US" sz="3600" b="1" dirty="0">
                <a:solidFill>
                  <a:schemeClr val="bg2">
                    <a:lumMod val="25000"/>
                  </a:schemeClr>
                </a:solidFill>
                <a:latin typeface="Plantagenet Cherokee" panose="02020602070100000000" pitchFamily="18" charset="0"/>
              </a:rPr>
              <a:t>Multiline </a:t>
            </a:r>
            <a:r>
              <a:rPr lang="en-US" sz="3600" b="1" dirty="0" smtClean="0">
                <a:solidFill>
                  <a:schemeClr val="bg2">
                    <a:lumMod val="25000"/>
                  </a:schemeClr>
                </a:solidFill>
                <a:latin typeface="Plantagenet Cherokee" panose="02020602070100000000" pitchFamily="18" charset="0"/>
              </a:rPr>
              <a:t>Comment</a:t>
            </a:r>
            <a:endParaRPr lang="en-US" sz="3600" b="1" dirty="0">
              <a:solidFill>
                <a:schemeClr val="bg2">
                  <a:lumMod val="25000"/>
                </a:schemeClr>
              </a:solidFill>
              <a:latin typeface="Plantagenet Cherokee" panose="02020602070100000000" pitchFamily="18" charset="0"/>
            </a:endParaRPr>
          </a:p>
        </p:txBody>
      </p:sp>
      <p:sp>
        <p:nvSpPr>
          <p:cNvPr id="3" name="Subtitle 2"/>
          <p:cNvSpPr>
            <a:spLocks noGrp="1"/>
          </p:cNvSpPr>
          <p:nvPr>
            <p:ph type="subTitle" idx="1"/>
          </p:nvPr>
        </p:nvSpPr>
        <p:spPr>
          <a:xfrm>
            <a:off x="1300766" y="1233152"/>
            <a:ext cx="9276567" cy="4332439"/>
          </a:xfrm>
        </p:spPr>
        <p:txBody>
          <a:bodyPr>
            <a:normAutofit/>
          </a:bodyPr>
          <a:lstStyle/>
          <a:p>
            <a:pPr marL="800100" lvl="1" indent="-342900" algn="l">
              <a:buFont typeface="Wingdings" panose="05000000000000000000" pitchFamily="2" charset="2"/>
              <a:buChar char="Ø"/>
            </a:pPr>
            <a:endParaRPr lang="en-US" sz="2200" dirty="0" smtClean="0">
              <a:solidFill>
                <a:srgbClr val="002060"/>
              </a:solidFill>
              <a:latin typeface="Calibri" panose="020F0502020204030204" pitchFamily="34" charset="0"/>
            </a:endParaRPr>
          </a:p>
          <a:p>
            <a:endParaRPr lang="en-US" dirty="0">
              <a:solidFill>
                <a:schemeClr val="bg2">
                  <a:lumMod val="25000"/>
                </a:schemeClr>
              </a:solidFill>
            </a:endParaRPr>
          </a:p>
        </p:txBody>
      </p:sp>
      <p:sp>
        <p:nvSpPr>
          <p:cNvPr id="7" name="Rectangle 4"/>
          <p:cNvSpPr>
            <a:spLocks noChangeArrowheads="1"/>
          </p:cNvSpPr>
          <p:nvPr/>
        </p:nvSpPr>
        <p:spPr bwMode="auto">
          <a:xfrm>
            <a:off x="1133341" y="1398166"/>
            <a:ext cx="1071886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342900" indent="-342900">
              <a:buFont typeface="Wingdings" panose="05000000000000000000" pitchFamily="2" charset="2"/>
              <a:buChar char="Ø"/>
            </a:pPr>
            <a:r>
              <a:rPr lang="en-US" sz="2400" dirty="0">
                <a:solidFill>
                  <a:schemeClr val="bg2">
                    <a:lumMod val="25000"/>
                  </a:schemeClr>
                </a:solidFill>
                <a:latin typeface="Georgia" panose="02040502050405020303" pitchFamily="18" charset="0"/>
              </a:rPr>
              <a:t>Comments that can be written in more than one line with the help </a:t>
            </a:r>
            <a:r>
              <a:rPr lang="en-US" sz="2400" dirty="0" smtClean="0">
                <a:solidFill>
                  <a:schemeClr val="bg2">
                    <a:lumMod val="25000"/>
                  </a:schemeClr>
                </a:solidFill>
                <a:latin typeface="Georgia" panose="02040502050405020303" pitchFamily="18" charset="0"/>
              </a:rPr>
              <a:t>of single </a:t>
            </a:r>
            <a:r>
              <a:rPr lang="en-US" sz="2400" dirty="0">
                <a:solidFill>
                  <a:schemeClr val="bg2">
                    <a:lumMod val="25000"/>
                  </a:schemeClr>
                </a:solidFill>
                <a:latin typeface="Georgia" panose="02040502050405020303" pitchFamily="18" charset="0"/>
              </a:rPr>
              <a:t>commenting code is known as multiline comment in Python.</a:t>
            </a:r>
            <a:endParaRPr lang="en-US" sz="2400" dirty="0">
              <a:solidFill>
                <a:schemeClr val="bg2">
                  <a:lumMod val="25000"/>
                </a:schemeClr>
              </a:solidFill>
              <a:latin typeface="Georgia" panose="02040502050405020303" pitchFamily="18" charset="0"/>
            </a:endParaRPr>
          </a:p>
          <a:p>
            <a:pPr marL="342900" indent="-342900">
              <a:buFont typeface="Wingdings" panose="05000000000000000000" pitchFamily="2" charset="2"/>
              <a:buChar char="Ø"/>
            </a:pPr>
            <a:r>
              <a:rPr lang="en-US" sz="2400" dirty="0">
                <a:solidFill>
                  <a:schemeClr val="bg2">
                    <a:lumMod val="25000"/>
                  </a:schemeClr>
                </a:solidFill>
                <a:latin typeface="Georgia" panose="02040502050405020303" pitchFamily="18" charset="0"/>
              </a:rPr>
              <a:t>Multiline starting commenting code is </a:t>
            </a:r>
            <a:r>
              <a:rPr lang="en-US" sz="2400" b="1" dirty="0">
                <a:solidFill>
                  <a:schemeClr val="bg2">
                    <a:lumMod val="25000"/>
                  </a:schemeClr>
                </a:solidFill>
                <a:latin typeface="Georgia" panose="02040502050405020303" pitchFamily="18" charset="0"/>
              </a:rPr>
              <a:t>'''</a:t>
            </a:r>
            <a:r>
              <a:rPr lang="en-US" sz="2400" dirty="0">
                <a:solidFill>
                  <a:schemeClr val="bg2">
                    <a:lumMod val="25000"/>
                  </a:schemeClr>
                </a:solidFill>
                <a:latin typeface="Georgia" panose="02040502050405020303" pitchFamily="18" charset="0"/>
              </a:rPr>
              <a:t> and ending with same, that is </a:t>
            </a:r>
            <a:r>
              <a:rPr lang="en-US" sz="2400" b="1" dirty="0">
                <a:solidFill>
                  <a:schemeClr val="bg2">
                    <a:lumMod val="25000"/>
                  </a:schemeClr>
                </a:solidFill>
                <a:latin typeface="Georgia" panose="02040502050405020303" pitchFamily="18" charset="0"/>
              </a:rPr>
              <a:t>'''</a:t>
            </a:r>
            <a:r>
              <a:rPr lang="en-US" sz="2400" dirty="0">
                <a:solidFill>
                  <a:schemeClr val="bg2">
                    <a:lumMod val="25000"/>
                  </a:schemeClr>
                </a:solidFill>
                <a:latin typeface="Georgia" panose="02040502050405020303" pitchFamily="18" charset="0"/>
              </a:rPr>
              <a:t>.</a:t>
            </a:r>
            <a:endParaRPr lang="en-US" sz="2400" dirty="0">
              <a:solidFill>
                <a:schemeClr val="bg2">
                  <a:lumMod val="25000"/>
                </a:schemeClr>
              </a:solidFill>
              <a:latin typeface="Georgia" panose="02040502050405020303" pitchFamily="18" charset="0"/>
            </a:endParaRPr>
          </a:p>
        </p:txBody>
      </p:sp>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4" name="Rectangle 3"/>
          <p:cNvSpPr/>
          <p:nvPr/>
        </p:nvSpPr>
        <p:spPr>
          <a:xfrm>
            <a:off x="3094570" y="3145847"/>
            <a:ext cx="8525814" cy="1938992"/>
          </a:xfrm>
          <a:prstGeom prst="rect">
            <a:avLst/>
          </a:prstGeom>
        </p:spPr>
        <p:txBody>
          <a:bodyPr wrap="square">
            <a:spAutoFit/>
          </a:bodyPr>
          <a:lstStyle/>
          <a:p>
            <a:pPr lvl="0" eaLnBrk="0" fontAlgn="base" hangingPunct="0">
              <a:spcBef>
                <a:spcPct val="0"/>
              </a:spcBef>
              <a:spcAft>
                <a:spcPct val="0"/>
              </a:spcAft>
            </a:pPr>
            <a:r>
              <a:rPr lang="en-US" altLang="en-US" sz="2400" b="1" dirty="0" smtClean="0">
                <a:solidFill>
                  <a:schemeClr val="bg2">
                    <a:lumMod val="25000"/>
                  </a:schemeClr>
                </a:solidFill>
                <a:latin typeface="Georgia" panose="02040502050405020303" pitchFamily="18" charset="0"/>
              </a:rPr>
              <a:t>Syntax:</a:t>
            </a:r>
            <a:endParaRPr lang="en-US" altLang="en-US" sz="2400" b="1" dirty="0" smtClean="0">
              <a:solidFill>
                <a:schemeClr val="bg2">
                  <a:lumMod val="25000"/>
                </a:schemeClr>
              </a:solidFill>
              <a:latin typeface="Georgia" panose="02040502050405020303" pitchFamily="18" charset="0"/>
            </a:endParaRPr>
          </a:p>
          <a:p>
            <a:pPr lvl="2" eaLnBrk="0" fontAlgn="base" hangingPunct="0">
              <a:spcBef>
                <a:spcPct val="0"/>
              </a:spcBef>
              <a:spcAft>
                <a:spcPct val="0"/>
              </a:spcAft>
            </a:pPr>
            <a:r>
              <a:rPr lang="en-US" altLang="en-US" sz="2400" dirty="0" smtClean="0">
                <a:solidFill>
                  <a:schemeClr val="bg2">
                    <a:lumMod val="25000"/>
                  </a:schemeClr>
                </a:solidFill>
                <a:latin typeface="Georgia" panose="02040502050405020303" pitchFamily="18" charset="0"/>
              </a:rPr>
              <a:t>''' </a:t>
            </a:r>
            <a:r>
              <a:rPr lang="en-US" altLang="en-US" sz="2400" dirty="0">
                <a:solidFill>
                  <a:schemeClr val="bg2">
                    <a:lumMod val="25000"/>
                  </a:schemeClr>
                </a:solidFill>
                <a:latin typeface="Georgia" panose="02040502050405020303" pitchFamily="18" charset="0"/>
              </a:rPr>
              <a:t>This </a:t>
            </a:r>
            <a:endParaRPr lang="en-US" altLang="en-US" sz="2400" dirty="0" smtClean="0">
              <a:solidFill>
                <a:schemeClr val="bg2">
                  <a:lumMod val="25000"/>
                </a:schemeClr>
              </a:solidFill>
              <a:latin typeface="Georgia" panose="02040502050405020303" pitchFamily="18" charset="0"/>
            </a:endParaRPr>
          </a:p>
          <a:p>
            <a:pPr lvl="2" eaLnBrk="0" fontAlgn="base" hangingPunct="0">
              <a:spcBef>
                <a:spcPct val="0"/>
              </a:spcBef>
              <a:spcAft>
                <a:spcPct val="0"/>
              </a:spcAft>
            </a:pPr>
            <a:r>
              <a:rPr lang="en-US" altLang="en-US" sz="2400" dirty="0" smtClean="0">
                <a:solidFill>
                  <a:schemeClr val="bg2">
                    <a:lumMod val="25000"/>
                  </a:schemeClr>
                </a:solidFill>
                <a:latin typeface="Georgia" panose="02040502050405020303" pitchFamily="18" charset="0"/>
              </a:rPr>
              <a:t>    is </a:t>
            </a:r>
            <a:endParaRPr lang="en-US" altLang="en-US" sz="2400" dirty="0" smtClean="0">
              <a:solidFill>
                <a:schemeClr val="bg2">
                  <a:lumMod val="25000"/>
                </a:schemeClr>
              </a:solidFill>
              <a:latin typeface="Georgia" panose="02040502050405020303" pitchFamily="18" charset="0"/>
            </a:endParaRPr>
          </a:p>
          <a:p>
            <a:pPr lvl="2" eaLnBrk="0" fontAlgn="base" hangingPunct="0">
              <a:spcBef>
                <a:spcPct val="0"/>
              </a:spcBef>
              <a:spcAft>
                <a:spcPct val="0"/>
              </a:spcAft>
            </a:pPr>
            <a:r>
              <a:rPr lang="en-US" altLang="en-US" sz="2400" dirty="0">
                <a:solidFill>
                  <a:schemeClr val="bg2">
                    <a:lumMod val="25000"/>
                  </a:schemeClr>
                </a:solidFill>
                <a:latin typeface="Georgia" panose="02040502050405020303" pitchFamily="18" charset="0"/>
              </a:rPr>
              <a:t> </a:t>
            </a:r>
            <a:r>
              <a:rPr lang="en-US" altLang="en-US" sz="2400" dirty="0" smtClean="0">
                <a:solidFill>
                  <a:schemeClr val="bg2">
                    <a:lumMod val="25000"/>
                  </a:schemeClr>
                </a:solidFill>
                <a:latin typeface="Georgia" panose="02040502050405020303" pitchFamily="18" charset="0"/>
              </a:rPr>
              <a:t>   multiline </a:t>
            </a:r>
            <a:endParaRPr lang="en-US" altLang="en-US" sz="2400" dirty="0" smtClean="0">
              <a:solidFill>
                <a:schemeClr val="bg2">
                  <a:lumMod val="25000"/>
                </a:schemeClr>
              </a:solidFill>
              <a:latin typeface="Georgia" panose="02040502050405020303" pitchFamily="18" charset="0"/>
            </a:endParaRPr>
          </a:p>
          <a:p>
            <a:pPr lvl="2" eaLnBrk="0" fontAlgn="base" hangingPunct="0">
              <a:spcBef>
                <a:spcPct val="0"/>
              </a:spcBef>
              <a:spcAft>
                <a:spcPct val="0"/>
              </a:spcAft>
            </a:pPr>
            <a:r>
              <a:rPr lang="en-US" altLang="en-US" sz="2400" dirty="0">
                <a:solidFill>
                  <a:schemeClr val="bg2">
                    <a:lumMod val="25000"/>
                  </a:schemeClr>
                </a:solidFill>
                <a:latin typeface="Georgia" panose="02040502050405020303" pitchFamily="18" charset="0"/>
              </a:rPr>
              <a:t> </a:t>
            </a:r>
            <a:r>
              <a:rPr lang="en-US" altLang="en-US" sz="2400" dirty="0" smtClean="0">
                <a:solidFill>
                  <a:schemeClr val="bg2">
                    <a:lumMod val="25000"/>
                  </a:schemeClr>
                </a:solidFill>
                <a:latin typeface="Georgia" panose="02040502050405020303" pitchFamily="18" charset="0"/>
              </a:rPr>
              <a:t>   comment </a:t>
            </a:r>
            <a:r>
              <a:rPr lang="en-US" altLang="en-US" sz="2400" dirty="0">
                <a:solidFill>
                  <a:schemeClr val="bg2">
                    <a:lumMod val="25000"/>
                  </a:schemeClr>
                </a:solidFill>
                <a:latin typeface="Georgia" panose="02040502050405020303" pitchFamily="18" charset="0"/>
              </a:rPr>
              <a:t>''' </a:t>
            </a:r>
            <a:endParaRPr lang="en-US" altLang="en-US" sz="2400" dirty="0">
              <a:solidFill>
                <a:schemeClr val="bg2">
                  <a:lumMod val="25000"/>
                </a:schemeClr>
              </a:solidFill>
              <a:latin typeface="Georgia" panose="02040502050405020303"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28593" y="232377"/>
            <a:ext cx="8915399" cy="962696"/>
          </a:xfrm>
        </p:spPr>
        <p:txBody>
          <a:bodyPr>
            <a:noAutofit/>
          </a:bodyPr>
          <a:lstStyle/>
          <a:p>
            <a:r>
              <a:rPr lang="en-US" sz="3600" b="1" dirty="0" smtClean="0">
                <a:solidFill>
                  <a:schemeClr val="bg2">
                    <a:lumMod val="25000"/>
                  </a:schemeClr>
                </a:solidFill>
                <a:latin typeface="Plantagenet Cherokee" panose="02020602070100000000" pitchFamily="18" charset="0"/>
              </a:rPr>
              <a:t>Identifier</a:t>
            </a:r>
            <a:endParaRPr lang="en-US" sz="3600" b="1" dirty="0">
              <a:solidFill>
                <a:schemeClr val="bg2">
                  <a:lumMod val="25000"/>
                </a:schemeClr>
              </a:solidFill>
              <a:latin typeface="Plantagenet Cherokee" panose="02020602070100000000" pitchFamily="18" charset="0"/>
            </a:endParaRPr>
          </a:p>
        </p:txBody>
      </p:sp>
      <p:sp>
        <p:nvSpPr>
          <p:cNvPr id="3" name="Subtitle 2"/>
          <p:cNvSpPr>
            <a:spLocks noGrp="1"/>
          </p:cNvSpPr>
          <p:nvPr>
            <p:ph type="subTitle" idx="1"/>
          </p:nvPr>
        </p:nvSpPr>
        <p:spPr>
          <a:xfrm>
            <a:off x="1300766" y="1233152"/>
            <a:ext cx="9276567" cy="4332439"/>
          </a:xfrm>
        </p:spPr>
        <p:txBody>
          <a:bodyPr>
            <a:normAutofit/>
          </a:bodyPr>
          <a:lstStyle/>
          <a:p>
            <a:pPr marL="800100" lvl="1" indent="-342900" algn="l">
              <a:buFont typeface="Wingdings" panose="05000000000000000000" pitchFamily="2" charset="2"/>
              <a:buChar char="Ø"/>
            </a:pPr>
            <a:endParaRPr lang="en-US" sz="2200" dirty="0" smtClean="0">
              <a:solidFill>
                <a:srgbClr val="002060"/>
              </a:solidFill>
              <a:latin typeface="Calibri" panose="020F0502020204030204" pitchFamily="34" charset="0"/>
            </a:endParaRPr>
          </a:p>
          <a:p>
            <a:endParaRPr lang="en-US" dirty="0">
              <a:solidFill>
                <a:schemeClr val="bg2">
                  <a:lumMod val="25000"/>
                </a:schemeClr>
              </a:solidFill>
            </a:endParaRPr>
          </a:p>
        </p:txBody>
      </p:sp>
      <p:sp>
        <p:nvSpPr>
          <p:cNvPr id="7" name="Rectangle 4"/>
          <p:cNvSpPr>
            <a:spLocks noChangeArrowheads="1"/>
          </p:cNvSpPr>
          <p:nvPr/>
        </p:nvSpPr>
        <p:spPr bwMode="auto">
          <a:xfrm>
            <a:off x="1133341" y="1582832"/>
            <a:ext cx="1071886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r>
              <a:rPr lang="en-US" sz="2400" dirty="0" smtClean="0">
                <a:solidFill>
                  <a:schemeClr val="bg2">
                    <a:lumMod val="25000"/>
                  </a:schemeClr>
                </a:solidFill>
                <a:latin typeface="Georgia" panose="02040502050405020303" pitchFamily="18" charset="0"/>
              </a:rPr>
              <a:t>		Identifiers </a:t>
            </a:r>
            <a:r>
              <a:rPr lang="en-US" sz="2400" dirty="0">
                <a:solidFill>
                  <a:schemeClr val="bg2">
                    <a:lumMod val="25000"/>
                  </a:schemeClr>
                </a:solidFill>
                <a:latin typeface="Georgia" panose="02040502050405020303" pitchFamily="18" charset="0"/>
              </a:rPr>
              <a:t>in Python, is simply a name given to identify the variable, function module, class, or any other object in the Python program.</a:t>
            </a:r>
            <a:endParaRPr lang="en-US" sz="2400" dirty="0">
              <a:solidFill>
                <a:schemeClr val="bg2">
                  <a:lumMod val="25000"/>
                </a:schemeClr>
              </a:solidFill>
              <a:latin typeface="Georgia" panose="02040502050405020303" pitchFamily="18" charset="0"/>
            </a:endParaRPr>
          </a:p>
        </p:txBody>
      </p:sp>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4" name="Rectangle 3"/>
          <p:cNvSpPr/>
          <p:nvPr/>
        </p:nvSpPr>
        <p:spPr>
          <a:xfrm>
            <a:off x="2051518" y="2540540"/>
            <a:ext cx="9565225" cy="3046988"/>
          </a:xfrm>
          <a:prstGeom prst="rect">
            <a:avLst/>
          </a:prstGeom>
        </p:spPr>
        <p:txBody>
          <a:bodyPr wrap="square">
            <a:spAutoFit/>
          </a:bodyPr>
          <a:lstStyle/>
          <a:p>
            <a:pPr lvl="0" eaLnBrk="0" fontAlgn="base" hangingPunct="0">
              <a:spcBef>
                <a:spcPct val="0"/>
              </a:spcBef>
              <a:spcAft>
                <a:spcPct val="0"/>
              </a:spcAft>
            </a:pPr>
            <a:r>
              <a:rPr lang="en-US" altLang="en-US" sz="2400" b="1" dirty="0">
                <a:solidFill>
                  <a:schemeClr val="bg2">
                    <a:lumMod val="25000"/>
                  </a:schemeClr>
                </a:solidFill>
                <a:latin typeface="Georgia" panose="02040502050405020303" pitchFamily="18" charset="0"/>
              </a:rPr>
              <a:t>Rules to Write Identifiers in Python</a:t>
            </a:r>
            <a:endParaRPr lang="en-US" altLang="en-US" sz="2400" b="1" dirty="0">
              <a:solidFill>
                <a:schemeClr val="bg2">
                  <a:lumMod val="25000"/>
                </a:schemeClr>
              </a:solidFill>
              <a:latin typeface="Georgia" panose="02040502050405020303" pitchFamily="18" charset="0"/>
            </a:endParaRPr>
          </a:p>
          <a:p>
            <a:pPr lvl="0" eaLnBrk="0" fontAlgn="base" hangingPunct="0">
              <a:spcBef>
                <a:spcPct val="0"/>
              </a:spcBef>
              <a:spcAft>
                <a:spcPct val="0"/>
              </a:spcAft>
            </a:pPr>
            <a:endParaRPr lang="en-US" altLang="en-US" sz="2400" dirty="0">
              <a:solidFill>
                <a:schemeClr val="bg2">
                  <a:lumMod val="25000"/>
                </a:schemeClr>
              </a:solidFill>
              <a:latin typeface="Georgia" panose="02040502050405020303" pitchFamily="18" charset="0"/>
            </a:endParaRPr>
          </a:p>
          <a:p>
            <a:pPr lvl="0" eaLnBrk="0" fontAlgn="base" hangingPunct="0">
              <a:spcBef>
                <a:spcPct val="0"/>
              </a:spcBef>
              <a:spcAft>
                <a:spcPct val="0"/>
              </a:spcAft>
            </a:pPr>
            <a:r>
              <a:rPr lang="en-US" altLang="en-US" sz="2400" dirty="0" smtClean="0">
                <a:solidFill>
                  <a:schemeClr val="bg2">
                    <a:lumMod val="25000"/>
                  </a:schemeClr>
                </a:solidFill>
                <a:latin typeface="Georgia" panose="02040502050405020303" pitchFamily="18" charset="0"/>
              </a:rPr>
              <a:t>	In </a:t>
            </a:r>
            <a:r>
              <a:rPr lang="en-US" altLang="en-US" sz="2400" dirty="0">
                <a:solidFill>
                  <a:schemeClr val="bg2">
                    <a:lumMod val="25000"/>
                  </a:schemeClr>
                </a:solidFill>
                <a:latin typeface="Georgia" panose="02040502050405020303" pitchFamily="18" charset="0"/>
              </a:rPr>
              <a:t>Python, you can name an identifier with:</a:t>
            </a:r>
            <a:endParaRPr lang="en-US" altLang="en-US" sz="2400" dirty="0">
              <a:solidFill>
                <a:schemeClr val="bg2">
                  <a:lumMod val="25000"/>
                </a:schemeClr>
              </a:solidFill>
              <a:latin typeface="Georgia" panose="02040502050405020303" pitchFamily="18" charset="0"/>
            </a:endParaRPr>
          </a:p>
          <a:p>
            <a:pPr lvl="0" eaLnBrk="0" fontAlgn="base" hangingPunct="0">
              <a:spcBef>
                <a:spcPct val="0"/>
              </a:spcBef>
              <a:spcAft>
                <a:spcPct val="0"/>
              </a:spcAft>
            </a:pPr>
            <a:endParaRPr lang="en-US" altLang="en-US" sz="2400" dirty="0">
              <a:solidFill>
                <a:schemeClr val="bg2">
                  <a:lumMod val="25000"/>
                </a:schemeClr>
              </a:solidFill>
              <a:latin typeface="Georgia" panose="02040502050405020303" pitchFamily="18" charset="0"/>
            </a:endParaRPr>
          </a:p>
          <a:p>
            <a:pPr marL="2171700" lvl="4" indent="-342900" eaLnBrk="0" fontAlgn="base" hangingPunct="0">
              <a:spcBef>
                <a:spcPct val="0"/>
              </a:spcBef>
              <a:spcAft>
                <a:spcPct val="0"/>
              </a:spcAft>
              <a:buFont typeface="Wingdings" panose="05000000000000000000" pitchFamily="2" charset="2"/>
              <a:buChar char="Ø"/>
            </a:pPr>
            <a:r>
              <a:rPr lang="en-US" altLang="en-US" sz="2400" dirty="0">
                <a:solidFill>
                  <a:schemeClr val="bg2">
                    <a:lumMod val="25000"/>
                  </a:schemeClr>
                </a:solidFill>
                <a:latin typeface="Georgia" panose="02040502050405020303" pitchFamily="18" charset="0"/>
              </a:rPr>
              <a:t>    a letter (a-z or A-Z)</a:t>
            </a:r>
            <a:endParaRPr lang="en-US" altLang="en-US" sz="2400" dirty="0">
              <a:solidFill>
                <a:schemeClr val="bg2">
                  <a:lumMod val="25000"/>
                </a:schemeClr>
              </a:solidFill>
              <a:latin typeface="Georgia" panose="02040502050405020303" pitchFamily="18" charset="0"/>
            </a:endParaRPr>
          </a:p>
          <a:p>
            <a:pPr marL="2171700" lvl="4" indent="-342900" eaLnBrk="0" fontAlgn="base" hangingPunct="0">
              <a:spcBef>
                <a:spcPct val="0"/>
              </a:spcBef>
              <a:spcAft>
                <a:spcPct val="0"/>
              </a:spcAft>
              <a:buFont typeface="Wingdings" panose="05000000000000000000" pitchFamily="2" charset="2"/>
              <a:buChar char="Ø"/>
            </a:pPr>
            <a:r>
              <a:rPr lang="en-US" altLang="en-US" sz="2400" dirty="0">
                <a:solidFill>
                  <a:schemeClr val="bg2">
                    <a:lumMod val="25000"/>
                  </a:schemeClr>
                </a:solidFill>
                <a:latin typeface="Georgia" panose="02040502050405020303" pitchFamily="18" charset="0"/>
              </a:rPr>
              <a:t>    or underscore (_) character</a:t>
            </a:r>
            <a:endParaRPr lang="en-US" altLang="en-US" sz="2400" dirty="0">
              <a:solidFill>
                <a:schemeClr val="bg2">
                  <a:lumMod val="25000"/>
                </a:schemeClr>
              </a:solidFill>
              <a:latin typeface="Georgia" panose="02040502050405020303" pitchFamily="18" charset="0"/>
            </a:endParaRPr>
          </a:p>
          <a:p>
            <a:pPr marL="2171700" lvl="4" indent="-342900" eaLnBrk="0" fontAlgn="base" hangingPunct="0">
              <a:spcBef>
                <a:spcPct val="0"/>
              </a:spcBef>
              <a:spcAft>
                <a:spcPct val="0"/>
              </a:spcAft>
              <a:buFont typeface="Wingdings" panose="05000000000000000000" pitchFamily="2" charset="2"/>
              <a:buChar char="Ø"/>
            </a:pPr>
            <a:r>
              <a:rPr lang="en-US" altLang="en-US" sz="2400" dirty="0">
                <a:solidFill>
                  <a:schemeClr val="bg2">
                    <a:lumMod val="25000"/>
                  </a:schemeClr>
                </a:solidFill>
                <a:latin typeface="Georgia" panose="02040502050405020303" pitchFamily="18" charset="0"/>
              </a:rPr>
              <a:t>    followed by more letters, digits (0-9) or underscore</a:t>
            </a:r>
            <a:endParaRPr lang="en-US" altLang="en-US" sz="2400" dirty="0">
              <a:solidFill>
                <a:schemeClr val="bg2">
                  <a:lumMod val="25000"/>
                </a:schemeClr>
              </a:solidFill>
              <a:latin typeface="Georgia" panose="02040502050405020303" pitchFamily="18" charset="0"/>
            </a:endParaRPr>
          </a:p>
          <a:p>
            <a:pPr lvl="0" eaLnBrk="0" fontAlgn="base" hangingPunct="0">
              <a:spcBef>
                <a:spcPct val="0"/>
              </a:spcBef>
              <a:spcAft>
                <a:spcPct val="0"/>
              </a:spcAft>
            </a:pPr>
            <a:endParaRPr lang="en-US" altLang="en-US" sz="2400" dirty="0">
              <a:solidFill>
                <a:schemeClr val="bg2">
                  <a:lumMod val="25000"/>
                </a:schemeClr>
              </a:solidFill>
              <a:latin typeface="Georgia" panose="02040502050405020303"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28593" y="232377"/>
            <a:ext cx="8915399" cy="962696"/>
          </a:xfrm>
        </p:spPr>
        <p:txBody>
          <a:bodyPr>
            <a:noAutofit/>
          </a:bodyPr>
          <a:lstStyle/>
          <a:p>
            <a:r>
              <a:rPr lang="en-US" sz="3600" b="1" dirty="0" smtClean="0">
                <a:solidFill>
                  <a:schemeClr val="bg2">
                    <a:lumMod val="25000"/>
                  </a:schemeClr>
                </a:solidFill>
                <a:latin typeface="Plantagenet Cherokee" panose="02020602070100000000" pitchFamily="18" charset="0"/>
              </a:rPr>
              <a:t>Keywords</a:t>
            </a:r>
            <a:endParaRPr lang="en-US" sz="3600" b="1" dirty="0">
              <a:solidFill>
                <a:schemeClr val="bg2">
                  <a:lumMod val="25000"/>
                </a:schemeClr>
              </a:solidFill>
              <a:latin typeface="Plantagenet Cherokee" panose="02020602070100000000" pitchFamily="18" charset="0"/>
            </a:endParaRPr>
          </a:p>
        </p:txBody>
      </p:sp>
      <p:sp>
        <p:nvSpPr>
          <p:cNvPr id="3" name="Subtitle 2"/>
          <p:cNvSpPr>
            <a:spLocks noGrp="1"/>
          </p:cNvSpPr>
          <p:nvPr>
            <p:ph type="subTitle" idx="1"/>
          </p:nvPr>
        </p:nvSpPr>
        <p:spPr>
          <a:xfrm>
            <a:off x="1300766" y="1233152"/>
            <a:ext cx="9276567" cy="4332439"/>
          </a:xfrm>
        </p:spPr>
        <p:txBody>
          <a:bodyPr>
            <a:normAutofit/>
          </a:bodyPr>
          <a:lstStyle/>
          <a:p>
            <a:pPr marL="800100" lvl="1" indent="-342900" algn="l">
              <a:buFont typeface="Wingdings" panose="05000000000000000000" pitchFamily="2" charset="2"/>
              <a:buChar char="Ø"/>
            </a:pPr>
            <a:endParaRPr lang="en-US" sz="2200" dirty="0" smtClean="0">
              <a:solidFill>
                <a:srgbClr val="002060"/>
              </a:solidFill>
              <a:latin typeface="Calibri" panose="020F0502020204030204" pitchFamily="34" charset="0"/>
            </a:endParaRPr>
          </a:p>
          <a:p>
            <a:endParaRPr lang="en-US" dirty="0">
              <a:solidFill>
                <a:schemeClr val="bg2">
                  <a:lumMod val="25000"/>
                </a:schemeClr>
              </a:solidFill>
            </a:endParaRPr>
          </a:p>
        </p:txBody>
      </p:sp>
      <p:sp>
        <p:nvSpPr>
          <p:cNvPr id="7" name="Rectangle 4"/>
          <p:cNvSpPr>
            <a:spLocks noChangeArrowheads="1"/>
          </p:cNvSpPr>
          <p:nvPr/>
        </p:nvSpPr>
        <p:spPr bwMode="auto">
          <a:xfrm>
            <a:off x="1725769" y="1286682"/>
            <a:ext cx="1071886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342900" indent="-342900">
              <a:buFont typeface="Wingdings" panose="05000000000000000000" pitchFamily="2" charset="2"/>
              <a:buChar char="Ø"/>
            </a:pPr>
            <a:r>
              <a:rPr lang="en-US" sz="2400" dirty="0">
                <a:solidFill>
                  <a:schemeClr val="bg2">
                    <a:lumMod val="25000"/>
                  </a:schemeClr>
                </a:solidFill>
                <a:latin typeface="Georgia" panose="02040502050405020303" pitchFamily="18" charset="0"/>
              </a:rPr>
              <a:t>Keywords are reserved words, having their special </a:t>
            </a:r>
            <a:r>
              <a:rPr lang="en-US" sz="2400" dirty="0" smtClean="0">
                <a:solidFill>
                  <a:schemeClr val="bg2">
                    <a:lumMod val="25000"/>
                  </a:schemeClr>
                </a:solidFill>
                <a:latin typeface="Georgia" panose="02040502050405020303" pitchFamily="18" charset="0"/>
              </a:rPr>
              <a:t>meaning. </a:t>
            </a:r>
            <a:endParaRPr lang="en-US" sz="2400" dirty="0" smtClean="0">
              <a:solidFill>
                <a:schemeClr val="bg2">
                  <a:lumMod val="25000"/>
                </a:schemeClr>
              </a:solidFill>
              <a:latin typeface="Georgia" panose="02040502050405020303" pitchFamily="18" charset="0"/>
            </a:endParaRPr>
          </a:p>
          <a:p>
            <a:pPr marL="342900" indent="-342900">
              <a:buFont typeface="Wingdings" panose="05000000000000000000" pitchFamily="2" charset="2"/>
              <a:buChar char="Ø"/>
            </a:pPr>
            <a:r>
              <a:rPr lang="en-US" sz="2400" dirty="0" smtClean="0">
                <a:solidFill>
                  <a:schemeClr val="bg2">
                    <a:lumMod val="25000"/>
                  </a:schemeClr>
                </a:solidFill>
                <a:latin typeface="Georgia" panose="02040502050405020303" pitchFamily="18" charset="0"/>
              </a:rPr>
              <a:t>You </a:t>
            </a:r>
            <a:r>
              <a:rPr lang="en-US" sz="2400" dirty="0">
                <a:solidFill>
                  <a:schemeClr val="bg2">
                    <a:lumMod val="25000"/>
                  </a:schemeClr>
                </a:solidFill>
                <a:latin typeface="Georgia" panose="02040502050405020303" pitchFamily="18" charset="0"/>
              </a:rPr>
              <a:t>can not use any of the python keyword as identifier. </a:t>
            </a:r>
            <a:endParaRPr lang="en-US" sz="2400" dirty="0" smtClean="0">
              <a:solidFill>
                <a:schemeClr val="bg2">
                  <a:lumMod val="25000"/>
                </a:schemeClr>
              </a:solidFill>
              <a:latin typeface="Georgia" panose="02040502050405020303" pitchFamily="18" charset="0"/>
            </a:endParaRPr>
          </a:p>
          <a:p>
            <a:pPr marL="342900" indent="-342900">
              <a:buFont typeface="Wingdings" panose="05000000000000000000" pitchFamily="2" charset="2"/>
              <a:buChar char="Ø"/>
            </a:pPr>
            <a:r>
              <a:rPr lang="en-US" sz="2400" dirty="0" smtClean="0">
                <a:solidFill>
                  <a:schemeClr val="bg2">
                    <a:lumMod val="25000"/>
                  </a:schemeClr>
                </a:solidFill>
                <a:latin typeface="Georgia" panose="02040502050405020303" pitchFamily="18" charset="0"/>
              </a:rPr>
              <a:t>Keywords </a:t>
            </a:r>
            <a:r>
              <a:rPr lang="en-US" sz="2400" dirty="0">
                <a:solidFill>
                  <a:schemeClr val="bg2">
                    <a:lumMod val="25000"/>
                  </a:schemeClr>
                </a:solidFill>
                <a:latin typeface="Georgia" panose="02040502050405020303" pitchFamily="18" charset="0"/>
              </a:rPr>
              <a:t>in python used to perform some particular task.</a:t>
            </a:r>
            <a:endParaRPr lang="en-US" sz="2400" dirty="0">
              <a:solidFill>
                <a:schemeClr val="bg2">
                  <a:lumMod val="25000"/>
                </a:schemeClr>
              </a:solidFill>
              <a:latin typeface="Georgia" panose="02040502050405020303" pitchFamily="18" charset="0"/>
            </a:endParaRPr>
          </a:p>
        </p:txBody>
      </p:sp>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pic>
        <p:nvPicPr>
          <p:cNvPr id="5" name="Picture 4"/>
          <p:cNvPicPr>
            <a:picLocks noChangeAspect="1"/>
          </p:cNvPicPr>
          <p:nvPr/>
        </p:nvPicPr>
        <p:blipFill>
          <a:blip r:embed="rId2"/>
          <a:stretch>
            <a:fillRect/>
          </a:stretch>
        </p:blipFill>
        <p:spPr>
          <a:xfrm>
            <a:off x="528593" y="3002205"/>
            <a:ext cx="11299918" cy="2837938"/>
          </a:xfrm>
          <a:prstGeom prst="rect">
            <a:avLst/>
          </a:prstGeom>
          <a:ln w="3175" cap="sq" cmpd="thickThin">
            <a:solidFill>
              <a:srgbClr val="000000"/>
            </a:solidFill>
            <a:prstDash val="solid"/>
            <a:miter lim="800000"/>
            <a:headEnd/>
            <a:tailEnd/>
          </a:ln>
          <a:effectLst>
            <a:innerShdw blurRad="76200">
              <a:srgbClr val="000000"/>
            </a:innerShdw>
          </a:effec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28593" y="232377"/>
            <a:ext cx="8915399" cy="962696"/>
          </a:xfrm>
        </p:spPr>
        <p:txBody>
          <a:bodyPr>
            <a:noAutofit/>
          </a:bodyPr>
          <a:lstStyle/>
          <a:p>
            <a:r>
              <a:rPr lang="en-US" sz="3600" b="1" dirty="0" smtClean="0">
                <a:solidFill>
                  <a:schemeClr val="bg2">
                    <a:lumMod val="25000"/>
                  </a:schemeClr>
                </a:solidFill>
                <a:latin typeface="Plantagenet Cherokee" panose="02020602070100000000" pitchFamily="18" charset="0"/>
              </a:rPr>
              <a:t>Data Types</a:t>
            </a:r>
            <a:endParaRPr lang="en-US" sz="3600" b="1" dirty="0">
              <a:solidFill>
                <a:schemeClr val="bg2">
                  <a:lumMod val="25000"/>
                </a:schemeClr>
              </a:solidFill>
              <a:latin typeface="Plantagenet Cherokee" panose="02020602070100000000" pitchFamily="18" charset="0"/>
            </a:endParaRPr>
          </a:p>
        </p:txBody>
      </p:sp>
      <p:sp>
        <p:nvSpPr>
          <p:cNvPr id="3" name="Subtitle 2"/>
          <p:cNvSpPr>
            <a:spLocks noGrp="1"/>
          </p:cNvSpPr>
          <p:nvPr>
            <p:ph type="subTitle" idx="1"/>
          </p:nvPr>
        </p:nvSpPr>
        <p:spPr>
          <a:xfrm>
            <a:off x="1300766" y="1233152"/>
            <a:ext cx="9276567" cy="4332439"/>
          </a:xfrm>
        </p:spPr>
        <p:txBody>
          <a:bodyPr>
            <a:normAutofit/>
          </a:bodyPr>
          <a:lstStyle/>
          <a:p>
            <a:pPr marL="800100" lvl="1" indent="-342900" algn="l">
              <a:buFont typeface="Wingdings" panose="05000000000000000000" pitchFamily="2" charset="2"/>
              <a:buChar char="Ø"/>
            </a:pPr>
            <a:endParaRPr lang="en-US" sz="2200" dirty="0" smtClean="0">
              <a:solidFill>
                <a:srgbClr val="002060"/>
              </a:solidFill>
              <a:latin typeface="Calibri" panose="020F0502020204030204" pitchFamily="34" charset="0"/>
            </a:endParaRPr>
          </a:p>
          <a:p>
            <a:endParaRPr lang="en-US" dirty="0">
              <a:solidFill>
                <a:schemeClr val="bg2">
                  <a:lumMod val="25000"/>
                </a:schemeClr>
              </a:solidFill>
            </a:endParaRPr>
          </a:p>
        </p:txBody>
      </p:sp>
      <p:sp>
        <p:nvSpPr>
          <p:cNvPr id="7" name="Rectangle 4"/>
          <p:cNvSpPr>
            <a:spLocks noChangeArrowheads="1"/>
          </p:cNvSpPr>
          <p:nvPr/>
        </p:nvSpPr>
        <p:spPr bwMode="auto">
          <a:xfrm>
            <a:off x="978794" y="1548621"/>
            <a:ext cx="1071886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r>
              <a:rPr lang="en-US" sz="2400" dirty="0" smtClean="0">
                <a:solidFill>
                  <a:schemeClr val="bg2">
                    <a:lumMod val="25000"/>
                  </a:schemeClr>
                </a:solidFill>
                <a:latin typeface="Georgia" panose="02040502050405020303" pitchFamily="18" charset="0"/>
              </a:rPr>
              <a:t>	Basically </a:t>
            </a:r>
            <a:r>
              <a:rPr lang="en-US" sz="2400" dirty="0">
                <a:solidFill>
                  <a:schemeClr val="bg2">
                    <a:lumMod val="25000"/>
                  </a:schemeClr>
                </a:solidFill>
                <a:latin typeface="Georgia" panose="02040502050405020303" pitchFamily="18" charset="0"/>
              </a:rPr>
              <a:t>data type represents the type of value and determines how the value can be used in a python program.</a:t>
            </a:r>
            <a:endParaRPr lang="en-US" sz="2400" dirty="0">
              <a:solidFill>
                <a:schemeClr val="bg2">
                  <a:lumMod val="25000"/>
                </a:schemeClr>
              </a:solidFill>
              <a:latin typeface="Georgia" panose="02040502050405020303" pitchFamily="18" charset="0"/>
            </a:endParaRPr>
          </a:p>
        </p:txBody>
      </p:sp>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4" name="Rectangle 3"/>
          <p:cNvSpPr/>
          <p:nvPr/>
        </p:nvSpPr>
        <p:spPr>
          <a:xfrm>
            <a:off x="2163651" y="3242439"/>
            <a:ext cx="7907628" cy="3046095"/>
          </a:xfrm>
          <a:prstGeom prst="rect">
            <a:avLst/>
          </a:prstGeom>
        </p:spPr>
        <p:txBody>
          <a:bodyPr wrap="square">
            <a:spAutoFit/>
          </a:bodyPr>
          <a:lstStyle/>
          <a:p>
            <a:r>
              <a:rPr lang="en-US" sz="2400" b="1" dirty="0" smtClean="0">
                <a:solidFill>
                  <a:schemeClr val="bg2">
                    <a:lumMod val="25000"/>
                  </a:schemeClr>
                </a:solidFill>
                <a:latin typeface="Georgia" panose="02040502050405020303" pitchFamily="18" charset="0"/>
              </a:rPr>
              <a:t>Five standard </a:t>
            </a:r>
            <a:r>
              <a:rPr lang="en-US" sz="2400" b="1" dirty="0">
                <a:solidFill>
                  <a:schemeClr val="bg2">
                    <a:lumMod val="25000"/>
                  </a:schemeClr>
                </a:solidFill>
                <a:latin typeface="Georgia" panose="02040502050405020303" pitchFamily="18" charset="0"/>
              </a:rPr>
              <a:t>data </a:t>
            </a:r>
            <a:r>
              <a:rPr lang="en-US" sz="2400" b="1" dirty="0" smtClean="0">
                <a:solidFill>
                  <a:schemeClr val="bg2">
                    <a:lumMod val="25000"/>
                  </a:schemeClr>
                </a:solidFill>
                <a:latin typeface="Georgia" panose="02040502050405020303" pitchFamily="18" charset="0"/>
              </a:rPr>
              <a:t>types</a:t>
            </a:r>
            <a:endParaRPr lang="en-US" sz="2400" b="1" dirty="0" smtClean="0">
              <a:solidFill>
                <a:schemeClr val="bg2">
                  <a:lumMod val="25000"/>
                </a:schemeClr>
              </a:solidFill>
              <a:latin typeface="Georgia" panose="02040502050405020303" pitchFamily="18" charset="0"/>
            </a:endParaRPr>
          </a:p>
          <a:p>
            <a:endParaRPr lang="en-US" sz="2400" b="1" dirty="0">
              <a:solidFill>
                <a:schemeClr val="bg2">
                  <a:lumMod val="25000"/>
                </a:schemeClr>
              </a:solidFill>
              <a:latin typeface="Georgia" panose="02040502050405020303" pitchFamily="18" charset="0"/>
            </a:endParaRPr>
          </a:p>
          <a:p>
            <a:pPr marL="1714500" lvl="3" indent="-342900">
              <a:buFont typeface="Wingdings" panose="05000000000000000000" pitchFamily="2" charset="2"/>
              <a:buChar char="Ø"/>
            </a:pPr>
            <a:r>
              <a:rPr lang="en-US" sz="2400" dirty="0" smtClean="0">
                <a:solidFill>
                  <a:schemeClr val="bg2">
                    <a:lumMod val="25000"/>
                  </a:schemeClr>
                </a:solidFill>
                <a:latin typeface="Georgia" panose="02040502050405020303" pitchFamily="18" charset="0"/>
              </a:rPr>
              <a:t>  Numbers</a:t>
            </a:r>
            <a:endParaRPr lang="en-US" sz="2400" dirty="0" smtClean="0">
              <a:solidFill>
                <a:schemeClr val="bg2">
                  <a:lumMod val="25000"/>
                </a:schemeClr>
              </a:solidFill>
              <a:latin typeface="Georgia" panose="02040502050405020303" pitchFamily="18" charset="0"/>
            </a:endParaRPr>
          </a:p>
          <a:p>
            <a:pPr marL="1714500" lvl="3" indent="-342900">
              <a:buFont typeface="Wingdings" panose="05000000000000000000" pitchFamily="2" charset="2"/>
              <a:buChar char="Ø"/>
            </a:pPr>
            <a:r>
              <a:rPr lang="en-US" sz="2400" dirty="0" smtClean="0">
                <a:solidFill>
                  <a:schemeClr val="bg2">
                    <a:lumMod val="25000"/>
                  </a:schemeClr>
                </a:solidFill>
                <a:latin typeface="Georgia" panose="02040502050405020303" pitchFamily="18" charset="0"/>
              </a:rPr>
              <a:t>  Strings</a:t>
            </a:r>
            <a:endParaRPr lang="en-US" sz="2400" dirty="0" smtClean="0">
              <a:solidFill>
                <a:schemeClr val="bg2">
                  <a:lumMod val="25000"/>
                </a:schemeClr>
              </a:solidFill>
              <a:latin typeface="Georgia" panose="02040502050405020303" pitchFamily="18" charset="0"/>
            </a:endParaRPr>
          </a:p>
          <a:p>
            <a:pPr marL="1714500" lvl="3" indent="-342900">
              <a:buFont typeface="Wingdings" panose="05000000000000000000" pitchFamily="2" charset="2"/>
              <a:buChar char="Ø"/>
            </a:pPr>
            <a:r>
              <a:rPr lang="en-US" sz="2400" dirty="0" smtClean="0">
                <a:solidFill>
                  <a:schemeClr val="bg2">
                    <a:lumMod val="25000"/>
                  </a:schemeClr>
                </a:solidFill>
                <a:latin typeface="Georgia" panose="02040502050405020303" pitchFamily="18" charset="0"/>
              </a:rPr>
              <a:t>  List</a:t>
            </a:r>
            <a:endParaRPr lang="en-US" sz="2400" dirty="0" smtClean="0">
              <a:solidFill>
                <a:schemeClr val="bg2">
                  <a:lumMod val="25000"/>
                </a:schemeClr>
              </a:solidFill>
              <a:latin typeface="Georgia" panose="02040502050405020303" pitchFamily="18" charset="0"/>
            </a:endParaRPr>
          </a:p>
          <a:p>
            <a:pPr marL="1714500" lvl="3" indent="-342900">
              <a:buFont typeface="Wingdings" panose="05000000000000000000" pitchFamily="2" charset="2"/>
              <a:buChar char="Ø"/>
            </a:pPr>
            <a:r>
              <a:rPr lang="en-US" sz="2400" dirty="0" smtClean="0">
                <a:solidFill>
                  <a:schemeClr val="bg2">
                    <a:lumMod val="25000"/>
                  </a:schemeClr>
                </a:solidFill>
                <a:latin typeface="Georgia" panose="02040502050405020303" pitchFamily="18" charset="0"/>
              </a:rPr>
              <a:t>  Tuple</a:t>
            </a:r>
            <a:endParaRPr lang="en-US" sz="2400" dirty="0" smtClean="0">
              <a:solidFill>
                <a:schemeClr val="bg2">
                  <a:lumMod val="25000"/>
                </a:schemeClr>
              </a:solidFill>
              <a:latin typeface="Georgia" panose="02040502050405020303" pitchFamily="18" charset="0"/>
            </a:endParaRPr>
          </a:p>
          <a:p>
            <a:pPr marL="1714500" lvl="3" indent="-342900">
              <a:buFont typeface="Wingdings" panose="05000000000000000000" pitchFamily="2" charset="2"/>
              <a:buChar char="Ø"/>
            </a:pPr>
            <a:r>
              <a:rPr lang="en-US" sz="2400" dirty="0">
                <a:solidFill>
                  <a:schemeClr val="bg2">
                    <a:lumMod val="25000"/>
                  </a:schemeClr>
                </a:solidFill>
                <a:latin typeface="Georgia" panose="02040502050405020303" pitchFamily="18" charset="0"/>
              </a:rPr>
              <a:t> </a:t>
            </a:r>
            <a:r>
              <a:rPr lang="en-US" sz="2400" dirty="0" smtClean="0">
                <a:solidFill>
                  <a:schemeClr val="bg2">
                    <a:lumMod val="25000"/>
                  </a:schemeClr>
                </a:solidFill>
                <a:latin typeface="Georgia" panose="02040502050405020303" pitchFamily="18" charset="0"/>
              </a:rPr>
              <a:t> Dictionary</a:t>
            </a:r>
            <a:endParaRPr lang="en-US" sz="2400" dirty="0" smtClean="0">
              <a:solidFill>
                <a:schemeClr val="bg2">
                  <a:lumMod val="25000"/>
                </a:schemeClr>
              </a:solidFill>
              <a:latin typeface="Georgia" panose="02040502050405020303" pitchFamily="18" charset="0"/>
            </a:endParaRPr>
          </a:p>
          <a:p>
            <a:pPr marL="1714500" lvl="3" indent="-342900">
              <a:buFont typeface="Wingdings" panose="05000000000000000000" pitchFamily="2" charset="2"/>
              <a:buChar char="Ø"/>
            </a:pPr>
            <a:r>
              <a:rPr lang="en-US" sz="2400" dirty="0" smtClean="0">
                <a:solidFill>
                  <a:schemeClr val="bg2">
                    <a:lumMod val="25000"/>
                  </a:schemeClr>
                </a:solidFill>
                <a:latin typeface="Georgia" panose="02040502050405020303" pitchFamily="18" charset="0"/>
              </a:rPr>
              <a:t>  Set</a:t>
            </a:r>
            <a:endParaRPr lang="en-US" sz="2400" dirty="0" smtClean="0">
              <a:solidFill>
                <a:schemeClr val="bg2">
                  <a:lumMod val="25000"/>
                </a:schemeClr>
              </a:solidFill>
              <a:latin typeface="Georgia" panose="02040502050405020303" pitchFamily="18"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28593" y="232377"/>
            <a:ext cx="8915399" cy="962696"/>
          </a:xfrm>
        </p:spPr>
        <p:txBody>
          <a:bodyPr>
            <a:noAutofit/>
          </a:bodyPr>
          <a:lstStyle/>
          <a:p>
            <a:r>
              <a:rPr lang="en-US" sz="3600" b="1" dirty="0" smtClean="0">
                <a:solidFill>
                  <a:schemeClr val="bg2">
                    <a:lumMod val="25000"/>
                  </a:schemeClr>
                </a:solidFill>
                <a:latin typeface="Plantagenet Cherokee" panose="02020602070100000000" pitchFamily="18" charset="0"/>
              </a:rPr>
              <a:t>Syntax of the data types</a:t>
            </a:r>
            <a:endParaRPr lang="en-US" sz="3600" b="1" dirty="0">
              <a:solidFill>
                <a:schemeClr val="bg2">
                  <a:lumMod val="25000"/>
                </a:schemeClr>
              </a:solidFill>
              <a:latin typeface="Plantagenet Cherokee" panose="02020602070100000000" pitchFamily="18" charset="0"/>
            </a:endParaRPr>
          </a:p>
        </p:txBody>
      </p:sp>
      <p:sp>
        <p:nvSpPr>
          <p:cNvPr id="3" name="Subtitle 2"/>
          <p:cNvSpPr>
            <a:spLocks noGrp="1"/>
          </p:cNvSpPr>
          <p:nvPr>
            <p:ph type="subTitle" idx="1"/>
          </p:nvPr>
        </p:nvSpPr>
        <p:spPr>
          <a:xfrm>
            <a:off x="1300766" y="1233152"/>
            <a:ext cx="9276567" cy="4332439"/>
          </a:xfrm>
        </p:spPr>
        <p:txBody>
          <a:bodyPr>
            <a:normAutofit/>
          </a:bodyPr>
          <a:lstStyle/>
          <a:p>
            <a:pPr marL="800100" lvl="1" indent="-342900" algn="l">
              <a:buFont typeface="Wingdings" panose="05000000000000000000" pitchFamily="2" charset="2"/>
              <a:buChar char="Ø"/>
            </a:pPr>
            <a:endParaRPr lang="en-US" sz="2200" dirty="0" smtClean="0">
              <a:solidFill>
                <a:srgbClr val="002060"/>
              </a:solidFill>
              <a:latin typeface="Calibri" panose="020F0502020204030204" pitchFamily="34" charset="0"/>
            </a:endParaRPr>
          </a:p>
          <a:p>
            <a:pPr defTabSz="914400"/>
            <a:endParaRPr lang="en-US" sz="2400" dirty="0">
              <a:solidFill>
                <a:schemeClr val="bg2">
                  <a:lumMod val="25000"/>
                </a:schemeClr>
              </a:solidFill>
              <a:latin typeface="Georgia" panose="02040502050405020303" pitchFamily="18" charset="0"/>
            </a:endParaRPr>
          </a:p>
        </p:txBody>
      </p:sp>
      <p:sp>
        <p:nvSpPr>
          <p:cNvPr id="7" name="Rectangle 4"/>
          <p:cNvSpPr>
            <a:spLocks noChangeArrowheads="1"/>
          </p:cNvSpPr>
          <p:nvPr/>
        </p:nvSpPr>
        <p:spPr bwMode="auto">
          <a:xfrm>
            <a:off x="978794" y="1733287"/>
            <a:ext cx="1071886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r>
              <a:rPr lang="en-US" sz="2400" b="1" dirty="0" smtClean="0">
                <a:solidFill>
                  <a:schemeClr val="bg2">
                    <a:lumMod val="25000"/>
                  </a:schemeClr>
                </a:solidFill>
                <a:latin typeface="Georgia" panose="02040502050405020303" pitchFamily="18" charset="0"/>
              </a:rPr>
              <a:t>Examples </a:t>
            </a:r>
            <a:r>
              <a:rPr lang="en-US" sz="2400" b="1" dirty="0">
                <a:solidFill>
                  <a:schemeClr val="bg2">
                    <a:lumMod val="25000"/>
                  </a:schemeClr>
                </a:solidFill>
                <a:latin typeface="Georgia" panose="02040502050405020303" pitchFamily="18" charset="0"/>
              </a:rPr>
              <a:t>of number data </a:t>
            </a:r>
            <a:r>
              <a:rPr lang="en-US" sz="2400" b="1" dirty="0" smtClean="0">
                <a:solidFill>
                  <a:schemeClr val="bg2">
                    <a:lumMod val="25000"/>
                  </a:schemeClr>
                </a:solidFill>
                <a:latin typeface="Georgia" panose="02040502050405020303" pitchFamily="18" charset="0"/>
              </a:rPr>
              <a:t>type:</a:t>
            </a:r>
            <a:endParaRPr lang="en-US" sz="2400" b="1" dirty="0">
              <a:solidFill>
                <a:schemeClr val="bg2">
                  <a:lumMod val="25000"/>
                </a:schemeClr>
              </a:solidFill>
              <a:latin typeface="Georgia" panose="02040502050405020303" pitchFamily="18" charset="0"/>
            </a:endParaRPr>
          </a:p>
        </p:txBody>
      </p:sp>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4" name="Rectangle 3"/>
          <p:cNvSpPr/>
          <p:nvPr/>
        </p:nvSpPr>
        <p:spPr>
          <a:xfrm>
            <a:off x="2897747" y="2521223"/>
            <a:ext cx="7907628" cy="1200329"/>
          </a:xfrm>
          <a:prstGeom prst="rect">
            <a:avLst/>
          </a:prstGeom>
        </p:spPr>
        <p:txBody>
          <a:bodyPr wrap="square">
            <a:spAutoFit/>
          </a:bodyPr>
          <a:lstStyle/>
          <a:p>
            <a:pPr marL="342900" indent="-342900">
              <a:buFont typeface="Wingdings" panose="05000000000000000000" pitchFamily="2" charset="2"/>
              <a:buChar char="Ø"/>
            </a:pPr>
            <a:r>
              <a:rPr lang="en-US" sz="2400" dirty="0" err="1">
                <a:solidFill>
                  <a:schemeClr val="bg2">
                    <a:lumMod val="25000"/>
                  </a:schemeClr>
                </a:solidFill>
                <a:latin typeface="Georgia" panose="02040502050405020303" pitchFamily="18" charset="0"/>
              </a:rPr>
              <a:t>i</a:t>
            </a:r>
            <a:r>
              <a:rPr lang="en-US" sz="2400" dirty="0">
                <a:solidFill>
                  <a:schemeClr val="bg2">
                    <a:lumMod val="25000"/>
                  </a:schemeClr>
                </a:solidFill>
                <a:latin typeface="Georgia" panose="02040502050405020303" pitchFamily="18" charset="0"/>
              </a:rPr>
              <a:t> = </a:t>
            </a:r>
            <a:r>
              <a:rPr lang="en-US" sz="2400" dirty="0" smtClean="0">
                <a:solidFill>
                  <a:schemeClr val="bg2">
                    <a:lumMod val="25000"/>
                  </a:schemeClr>
                </a:solidFill>
                <a:latin typeface="Georgia" panose="02040502050405020303" pitchFamily="18" charset="0"/>
              </a:rPr>
              <a:t>10</a:t>
            </a:r>
            <a:endParaRPr lang="en-US" sz="2400" dirty="0" smtClean="0">
              <a:solidFill>
                <a:schemeClr val="bg2">
                  <a:lumMod val="25000"/>
                </a:schemeClr>
              </a:solidFill>
              <a:latin typeface="Georgia" panose="02040502050405020303" pitchFamily="18" charset="0"/>
            </a:endParaRPr>
          </a:p>
          <a:p>
            <a:pPr marL="342900" indent="-342900">
              <a:buFont typeface="Wingdings" panose="05000000000000000000" pitchFamily="2" charset="2"/>
              <a:buChar char="Ø"/>
            </a:pPr>
            <a:r>
              <a:rPr lang="en-US" sz="2400" dirty="0" smtClean="0">
                <a:solidFill>
                  <a:schemeClr val="bg2">
                    <a:lumMod val="25000"/>
                  </a:schemeClr>
                </a:solidFill>
                <a:latin typeface="Georgia" panose="02040502050405020303" pitchFamily="18" charset="0"/>
              </a:rPr>
              <a:t>f </a:t>
            </a:r>
            <a:r>
              <a:rPr lang="en-US" sz="2400" dirty="0">
                <a:solidFill>
                  <a:schemeClr val="bg2">
                    <a:lumMod val="25000"/>
                  </a:schemeClr>
                </a:solidFill>
                <a:latin typeface="Georgia" panose="02040502050405020303" pitchFamily="18" charset="0"/>
              </a:rPr>
              <a:t>= </a:t>
            </a:r>
            <a:r>
              <a:rPr lang="en-US" sz="2400" dirty="0" smtClean="0">
                <a:solidFill>
                  <a:schemeClr val="bg2">
                    <a:lumMod val="25000"/>
                  </a:schemeClr>
                </a:solidFill>
                <a:latin typeface="Georgia" panose="02040502050405020303" pitchFamily="18" charset="0"/>
              </a:rPr>
              <a:t>23.43</a:t>
            </a:r>
            <a:endParaRPr lang="en-US" sz="2400" dirty="0" smtClean="0">
              <a:solidFill>
                <a:schemeClr val="bg2">
                  <a:lumMod val="25000"/>
                </a:schemeClr>
              </a:solidFill>
              <a:latin typeface="Georgia" panose="02040502050405020303" pitchFamily="18" charset="0"/>
            </a:endParaRPr>
          </a:p>
          <a:p>
            <a:pPr marL="342900" indent="-342900">
              <a:buFont typeface="Wingdings" panose="05000000000000000000" pitchFamily="2" charset="2"/>
              <a:buChar char="Ø"/>
            </a:pPr>
            <a:r>
              <a:rPr lang="en-US" sz="2400" dirty="0" smtClean="0">
                <a:solidFill>
                  <a:schemeClr val="bg2">
                    <a:lumMod val="25000"/>
                  </a:schemeClr>
                </a:solidFill>
                <a:latin typeface="Georgia" panose="02040502050405020303" pitchFamily="18" charset="0"/>
              </a:rPr>
              <a:t>total </a:t>
            </a:r>
            <a:r>
              <a:rPr lang="en-US" sz="2400" dirty="0">
                <a:solidFill>
                  <a:schemeClr val="bg2">
                    <a:lumMod val="25000"/>
                  </a:schemeClr>
                </a:solidFill>
                <a:latin typeface="Georgia" panose="02040502050405020303" pitchFamily="18" charset="0"/>
              </a:rPr>
              <a:t>= 987 </a:t>
            </a:r>
            <a:endParaRPr lang="en-US" sz="2400" dirty="0">
              <a:solidFill>
                <a:schemeClr val="bg2">
                  <a:lumMod val="25000"/>
                </a:schemeClr>
              </a:solidFill>
              <a:latin typeface="Georgia" panose="02040502050405020303" pitchFamily="18" charset="0"/>
            </a:endParaRPr>
          </a:p>
        </p:txBody>
      </p:sp>
      <p:sp>
        <p:nvSpPr>
          <p:cNvPr id="8" name="Rectangle 7"/>
          <p:cNvSpPr/>
          <p:nvPr/>
        </p:nvSpPr>
        <p:spPr>
          <a:xfrm>
            <a:off x="2555913" y="3976389"/>
            <a:ext cx="4769254" cy="461665"/>
          </a:xfrm>
          <a:prstGeom prst="rect">
            <a:avLst/>
          </a:prstGeom>
        </p:spPr>
        <p:txBody>
          <a:bodyPr wrap="none">
            <a:spAutoFit/>
          </a:bodyPr>
          <a:lstStyle/>
          <a:p>
            <a:r>
              <a:rPr lang="en-US" sz="2400" b="1" dirty="0">
                <a:solidFill>
                  <a:schemeClr val="bg2">
                    <a:lumMod val="25000"/>
                  </a:schemeClr>
                </a:solidFill>
                <a:latin typeface="Georgia" panose="02040502050405020303" pitchFamily="18" charset="0"/>
              </a:rPr>
              <a:t>Examples of </a:t>
            </a:r>
            <a:r>
              <a:rPr lang="en-US" sz="2400" b="1" dirty="0" smtClean="0">
                <a:solidFill>
                  <a:schemeClr val="bg2">
                    <a:lumMod val="25000"/>
                  </a:schemeClr>
                </a:solidFill>
                <a:latin typeface="Georgia" panose="02040502050405020303" pitchFamily="18" charset="0"/>
              </a:rPr>
              <a:t>string </a:t>
            </a:r>
            <a:r>
              <a:rPr lang="en-US" sz="2400" b="1" dirty="0">
                <a:solidFill>
                  <a:schemeClr val="bg2">
                    <a:lumMod val="25000"/>
                  </a:schemeClr>
                </a:solidFill>
                <a:latin typeface="Georgia" panose="02040502050405020303" pitchFamily="18" charset="0"/>
              </a:rPr>
              <a:t>data type:</a:t>
            </a:r>
            <a:endParaRPr lang="en-US" sz="2400" b="1" dirty="0">
              <a:solidFill>
                <a:schemeClr val="bg2">
                  <a:lumMod val="25000"/>
                </a:schemeClr>
              </a:solidFill>
              <a:latin typeface="Georgia" panose="02040502050405020303" pitchFamily="18" charset="0"/>
            </a:endParaRPr>
          </a:p>
        </p:txBody>
      </p:sp>
      <p:sp>
        <p:nvSpPr>
          <p:cNvPr id="9" name="Rectangle 2"/>
          <p:cNvSpPr>
            <a:spLocks noChangeArrowheads="1"/>
          </p:cNvSpPr>
          <p:nvPr/>
        </p:nvSpPr>
        <p:spPr bwMode="auto">
          <a:xfrm>
            <a:off x="4157741" y="4771635"/>
            <a:ext cx="62560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R="0" lvl="0" algn="l" defTabSz="914400" rtl="0" eaLnBrk="0" fontAlgn="base" latinLnBrk="0" hangingPunct="0">
              <a:lnSpc>
                <a:spcPct val="100000"/>
              </a:lnSpc>
              <a:spcBef>
                <a:spcPct val="0"/>
              </a:spcBef>
              <a:spcAft>
                <a:spcPct val="0"/>
              </a:spcAft>
              <a:buClrTx/>
              <a:buSzTx/>
            </a:pPr>
            <a:r>
              <a:rPr kumimoji="0" lang="en-US" altLang="en-US" sz="2400" b="0" i="0" u="none" strike="noStrike" cap="none" normalizeH="0" baseline="0" dirty="0" err="1" smtClean="0">
                <a:ln>
                  <a:noFill/>
                </a:ln>
                <a:solidFill>
                  <a:schemeClr val="bg2">
                    <a:lumMod val="25000"/>
                  </a:schemeClr>
                </a:solidFill>
                <a:effectLst/>
                <a:latin typeface="Georgia" panose="02040502050405020303" pitchFamily="18" charset="0"/>
              </a:rPr>
              <a:t>str</a:t>
            </a: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 = “Hello World, I am Python Data Types” </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4"/>
          <p:cNvSpPr>
            <a:spLocks noChangeArrowheads="1"/>
          </p:cNvSpPr>
          <p:nvPr/>
        </p:nvSpPr>
        <p:spPr bwMode="auto">
          <a:xfrm>
            <a:off x="1017430" y="574179"/>
            <a:ext cx="1071886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r>
              <a:rPr lang="en-US" sz="2400" b="1" dirty="0" smtClean="0">
                <a:solidFill>
                  <a:schemeClr val="bg2">
                    <a:lumMod val="25000"/>
                  </a:schemeClr>
                </a:solidFill>
                <a:latin typeface="Georgia" panose="02040502050405020303" pitchFamily="18" charset="0"/>
              </a:rPr>
              <a:t>Examples </a:t>
            </a:r>
            <a:r>
              <a:rPr lang="en-US" sz="2400" b="1" dirty="0">
                <a:solidFill>
                  <a:schemeClr val="bg2">
                    <a:lumMod val="25000"/>
                  </a:schemeClr>
                </a:solidFill>
                <a:latin typeface="Georgia" panose="02040502050405020303" pitchFamily="18" charset="0"/>
              </a:rPr>
              <a:t>of </a:t>
            </a:r>
            <a:r>
              <a:rPr lang="en-US" sz="2400" b="1" dirty="0" smtClean="0">
                <a:solidFill>
                  <a:schemeClr val="bg2">
                    <a:lumMod val="25000"/>
                  </a:schemeClr>
                </a:solidFill>
                <a:latin typeface="Georgia" panose="02040502050405020303" pitchFamily="18" charset="0"/>
              </a:rPr>
              <a:t>list </a:t>
            </a:r>
            <a:r>
              <a:rPr lang="en-US" sz="2400" b="1" dirty="0">
                <a:solidFill>
                  <a:schemeClr val="bg2">
                    <a:lumMod val="25000"/>
                  </a:schemeClr>
                </a:solidFill>
                <a:latin typeface="Georgia" panose="02040502050405020303" pitchFamily="18" charset="0"/>
              </a:rPr>
              <a:t>data </a:t>
            </a:r>
            <a:r>
              <a:rPr lang="en-US" sz="2400" b="1" dirty="0" smtClean="0">
                <a:solidFill>
                  <a:schemeClr val="bg2">
                    <a:lumMod val="25000"/>
                  </a:schemeClr>
                </a:solidFill>
                <a:latin typeface="Georgia" panose="02040502050405020303" pitchFamily="18" charset="0"/>
              </a:rPr>
              <a:t>type:</a:t>
            </a:r>
            <a:endParaRPr lang="en-US" sz="2400" b="1" dirty="0">
              <a:solidFill>
                <a:schemeClr val="bg2">
                  <a:lumMod val="25000"/>
                </a:schemeClr>
              </a:solidFill>
              <a:latin typeface="Georgia" panose="02040502050405020303" pitchFamily="18" charset="0"/>
            </a:endParaRPr>
          </a:p>
        </p:txBody>
      </p:sp>
      <p:sp>
        <p:nvSpPr>
          <p:cNvPr id="11" name="Rectangle 2"/>
          <p:cNvSpPr>
            <a:spLocks noChangeArrowheads="1"/>
          </p:cNvSpPr>
          <p:nvPr/>
        </p:nvSpPr>
        <p:spPr bwMode="auto">
          <a:xfrm>
            <a:off x="884519" y="943511"/>
            <a:ext cx="10649069"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342900" lvl="0" indent="-342900" eaLnBrk="0" fontAlgn="base" hangingPunct="0">
              <a:spcBef>
                <a:spcPct val="0"/>
              </a:spcBef>
              <a:spcAft>
                <a:spcPct val="0"/>
              </a:spcAft>
              <a:buFont typeface="Wingdings" panose="05000000000000000000" pitchFamily="2" charset="2"/>
              <a:buChar char="Ø"/>
            </a:pPr>
            <a:r>
              <a:rPr lang="en-US" altLang="en-US" sz="2400" dirty="0" smtClean="0">
                <a:solidFill>
                  <a:srgbClr val="C00000"/>
                </a:solidFill>
                <a:latin typeface="Georgia" panose="02040502050405020303" pitchFamily="18" charset="0"/>
              </a:rPr>
              <a:t> </a:t>
            </a:r>
            <a:r>
              <a:rPr lang="en-US" altLang="en-US" sz="2400" b="1" dirty="0" smtClean="0">
                <a:solidFill>
                  <a:srgbClr val="C00000"/>
                </a:solidFill>
                <a:latin typeface="Georgia" panose="02040502050405020303" pitchFamily="18" charset="0"/>
              </a:rPr>
              <a:t>A </a:t>
            </a:r>
            <a:r>
              <a:rPr lang="en-US" altLang="en-US" sz="2400" b="1" dirty="0">
                <a:solidFill>
                  <a:srgbClr val="C00000"/>
                </a:solidFill>
                <a:latin typeface="Georgia" panose="02040502050405020303" pitchFamily="18" charset="0"/>
              </a:rPr>
              <a:t>list in Python is used to store the sequence of various types of </a:t>
            </a:r>
            <a:endParaRPr lang="en-US" altLang="en-US" sz="2400" b="1" dirty="0" smtClean="0">
              <a:solidFill>
                <a:srgbClr val="C00000"/>
              </a:solidFill>
              <a:latin typeface="Georgia" panose="02040502050405020303" pitchFamily="18" charset="0"/>
            </a:endParaRPr>
          </a:p>
          <a:p>
            <a:pPr lvl="0" eaLnBrk="0" fontAlgn="base" hangingPunct="0">
              <a:spcBef>
                <a:spcPct val="0"/>
              </a:spcBef>
              <a:spcAft>
                <a:spcPct val="0"/>
              </a:spcAft>
            </a:pPr>
            <a:r>
              <a:rPr lang="en-US" altLang="en-US" sz="2400" b="1" dirty="0" err="1" smtClean="0">
                <a:solidFill>
                  <a:srgbClr val="C00000"/>
                </a:solidFill>
                <a:latin typeface="Georgia" panose="02040502050405020303" pitchFamily="18" charset="0"/>
              </a:rPr>
              <a:t>data.Python</a:t>
            </a:r>
            <a:r>
              <a:rPr lang="en-US" altLang="en-US" sz="2400" b="1" dirty="0" smtClean="0">
                <a:solidFill>
                  <a:srgbClr val="C00000"/>
                </a:solidFill>
                <a:latin typeface="Georgia" panose="02040502050405020303" pitchFamily="18" charset="0"/>
              </a:rPr>
              <a:t> </a:t>
            </a:r>
            <a:r>
              <a:rPr lang="en-US" altLang="en-US" sz="2400" b="1" dirty="0">
                <a:solidFill>
                  <a:srgbClr val="C00000"/>
                </a:solidFill>
                <a:latin typeface="Georgia" panose="02040502050405020303" pitchFamily="18" charset="0"/>
              </a:rPr>
              <a:t>lists are mutable type its mean we can modify </a:t>
            </a:r>
            <a:endParaRPr lang="en-US" altLang="en-US" sz="2400" b="1" dirty="0" smtClean="0">
              <a:solidFill>
                <a:srgbClr val="C00000"/>
              </a:solidFill>
              <a:latin typeface="Georgia" panose="02040502050405020303" pitchFamily="18" charset="0"/>
            </a:endParaRPr>
          </a:p>
          <a:p>
            <a:pPr lvl="0" eaLnBrk="0" fontAlgn="base" hangingPunct="0">
              <a:spcBef>
                <a:spcPct val="0"/>
              </a:spcBef>
              <a:spcAft>
                <a:spcPct val="0"/>
              </a:spcAft>
            </a:pPr>
            <a:r>
              <a:rPr lang="en-US" altLang="en-US" sz="2400" b="1" dirty="0" smtClean="0">
                <a:solidFill>
                  <a:srgbClr val="C00000"/>
                </a:solidFill>
                <a:latin typeface="Georgia" panose="02040502050405020303" pitchFamily="18" charset="0"/>
              </a:rPr>
              <a:t>its </a:t>
            </a:r>
            <a:r>
              <a:rPr lang="en-US" altLang="en-US" sz="2400" b="1" dirty="0">
                <a:solidFill>
                  <a:srgbClr val="C00000"/>
                </a:solidFill>
                <a:latin typeface="Georgia" panose="02040502050405020303" pitchFamily="18" charset="0"/>
              </a:rPr>
              <a:t>element after it created. </a:t>
            </a:r>
            <a:endParaRPr lang="en-US" altLang="en-US" sz="2400" b="1" dirty="0" smtClean="0">
              <a:solidFill>
                <a:srgbClr val="C00000"/>
              </a:solidFill>
              <a:latin typeface="Georgia" panose="02040502050405020303" pitchFamily="18" charset="0"/>
            </a:endParaRPr>
          </a:p>
          <a:p>
            <a:pPr lvl="0" eaLnBrk="0" fontAlgn="base" hangingPunct="0">
              <a:spcBef>
                <a:spcPct val="0"/>
              </a:spcBef>
              <a:spcAft>
                <a:spcPct val="0"/>
              </a:spcAft>
            </a:pP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list = [10, 20, 30, 'hi', 'hello', 43.23, 432.42, 'python'] </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p:txBody>
      </p:sp>
      <p:sp>
        <p:nvSpPr>
          <p:cNvPr id="12" name="Rectangle 3"/>
          <p:cNvSpPr>
            <a:spLocks noChangeArrowheads="1"/>
          </p:cNvSpPr>
          <p:nvPr/>
        </p:nvSpPr>
        <p:spPr bwMode="auto">
          <a:xfrm>
            <a:off x="1676147" y="2771944"/>
            <a:ext cx="9852377"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342900" lvl="0" indent="-342900" eaLnBrk="0" fontAlgn="base" hangingPunct="0">
              <a:spcBef>
                <a:spcPct val="0"/>
              </a:spcBef>
              <a:spcAft>
                <a:spcPct val="0"/>
              </a:spcAft>
              <a:buFont typeface="Wingdings" panose="05000000000000000000" pitchFamily="2" charset="2"/>
              <a:buChar char="Ø"/>
            </a:pPr>
            <a:r>
              <a:rPr lang="en-US" sz="2400" b="1" dirty="0">
                <a:solidFill>
                  <a:srgbClr val="C00000"/>
                </a:solidFill>
              </a:rPr>
              <a:t>Python Tuple is used to store the sequence of </a:t>
            </a:r>
            <a:endParaRPr lang="en-US" sz="2400" b="1" dirty="0" smtClean="0">
              <a:solidFill>
                <a:srgbClr val="C00000"/>
              </a:solidFill>
            </a:endParaRPr>
          </a:p>
          <a:p>
            <a:pPr lvl="0" eaLnBrk="0" fontAlgn="base" hangingPunct="0">
              <a:spcBef>
                <a:spcPct val="0"/>
              </a:spcBef>
              <a:spcAft>
                <a:spcPct val="0"/>
              </a:spcAft>
            </a:pPr>
            <a:r>
              <a:rPr lang="en-US" sz="2400" b="1" dirty="0" smtClean="0">
                <a:solidFill>
                  <a:srgbClr val="C00000"/>
                </a:solidFill>
              </a:rPr>
              <a:t>immutable </a:t>
            </a:r>
            <a:r>
              <a:rPr lang="en-US" sz="2400" b="1" dirty="0">
                <a:solidFill>
                  <a:srgbClr val="C00000"/>
                </a:solidFill>
              </a:rPr>
              <a:t>Python objects. </a:t>
            </a:r>
            <a:endParaRPr lang="en-US" sz="2400" b="1" dirty="0" smtClean="0">
              <a:solidFill>
                <a:srgbClr val="C00000"/>
              </a:solidFill>
            </a:endParaRPr>
          </a:p>
          <a:p>
            <a:pPr lvl="0" eaLnBrk="0" fontAlgn="base" hangingPunct="0">
              <a:spcBef>
                <a:spcPct val="0"/>
              </a:spcBef>
              <a:spcAft>
                <a:spcPct val="0"/>
              </a:spcAft>
            </a:pPr>
            <a:r>
              <a:rPr lang="en-US" sz="2400" b="1" dirty="0" smtClean="0">
                <a:solidFill>
                  <a:srgbClr val="C00000"/>
                </a:solidFill>
              </a:rPr>
              <a:t>The </a:t>
            </a:r>
            <a:r>
              <a:rPr lang="en-US" sz="2400" b="1" dirty="0">
                <a:solidFill>
                  <a:srgbClr val="C00000"/>
                </a:solidFill>
              </a:rPr>
              <a:t>tuple is similar to lists since the value of the items </a:t>
            </a:r>
            <a:endParaRPr lang="en-US" sz="2400" b="1" dirty="0" smtClean="0">
              <a:solidFill>
                <a:srgbClr val="C00000"/>
              </a:solidFill>
            </a:endParaRPr>
          </a:p>
          <a:p>
            <a:pPr lvl="0" eaLnBrk="0" fontAlgn="base" hangingPunct="0">
              <a:spcBef>
                <a:spcPct val="0"/>
              </a:spcBef>
              <a:spcAft>
                <a:spcPct val="0"/>
              </a:spcAft>
            </a:pPr>
            <a:r>
              <a:rPr lang="en-US" sz="2400" b="1" dirty="0" smtClean="0">
                <a:solidFill>
                  <a:srgbClr val="C00000"/>
                </a:solidFill>
              </a:rPr>
              <a:t>stored </a:t>
            </a:r>
            <a:r>
              <a:rPr lang="en-US" sz="2400" b="1" dirty="0">
                <a:solidFill>
                  <a:srgbClr val="C00000"/>
                </a:solidFill>
              </a:rPr>
              <a:t>in the list can be changed, whereas the tuple is </a:t>
            </a:r>
            <a:endParaRPr lang="en-US" sz="2400" b="1" dirty="0" smtClean="0">
              <a:solidFill>
                <a:srgbClr val="C00000"/>
              </a:solidFill>
            </a:endParaRPr>
          </a:p>
          <a:p>
            <a:pPr lvl="0" eaLnBrk="0" fontAlgn="base" hangingPunct="0">
              <a:spcBef>
                <a:spcPct val="0"/>
              </a:spcBef>
              <a:spcAft>
                <a:spcPct val="0"/>
              </a:spcAft>
            </a:pPr>
            <a:r>
              <a:rPr lang="en-US" sz="2400" b="1" dirty="0" smtClean="0">
                <a:solidFill>
                  <a:srgbClr val="C00000"/>
                </a:solidFill>
              </a:rPr>
              <a:t>immutable</a:t>
            </a:r>
            <a:r>
              <a:rPr lang="en-US" sz="2400" b="1" dirty="0">
                <a:solidFill>
                  <a:srgbClr val="C00000"/>
                </a:solidFill>
              </a:rPr>
              <a:t>, and the value of the items stored in the tuple </a:t>
            </a:r>
            <a:endParaRPr lang="en-US" sz="2400" b="1" dirty="0" smtClean="0">
              <a:solidFill>
                <a:srgbClr val="C00000"/>
              </a:solidFill>
            </a:endParaRPr>
          </a:p>
          <a:p>
            <a:pPr lvl="0" eaLnBrk="0" fontAlgn="base" hangingPunct="0">
              <a:spcBef>
                <a:spcPct val="0"/>
              </a:spcBef>
              <a:spcAft>
                <a:spcPct val="0"/>
              </a:spcAft>
            </a:pPr>
            <a:r>
              <a:rPr lang="en-US" sz="2400" b="1" dirty="0" smtClean="0">
                <a:solidFill>
                  <a:srgbClr val="C00000"/>
                </a:solidFill>
              </a:rPr>
              <a:t>cannot </a:t>
            </a:r>
            <a:r>
              <a:rPr lang="en-US" sz="2400" b="1" dirty="0">
                <a:solidFill>
                  <a:srgbClr val="C00000"/>
                </a:solidFill>
              </a:rPr>
              <a:t>be changed.</a:t>
            </a:r>
            <a:endParaRPr kumimoji="0" lang="en-US" altLang="en-US" sz="2400" b="1" i="0" u="none" strike="noStrike" cap="none" normalizeH="0" baseline="0" dirty="0" smtClean="0">
              <a:ln>
                <a:noFill/>
              </a:ln>
              <a:solidFill>
                <a:srgbClr val="C00000"/>
              </a:solidFill>
              <a:effectLst/>
              <a:latin typeface="Georgia" panose="02040502050405020303"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tuple = (10, 20, 30, 'hi', 'hello', 43.23, 432.42, 'python') </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a:p>
            <a:pPr lvl="0" eaLnBrk="0" fontAlgn="base" hangingPunct="0">
              <a:spcBef>
                <a:spcPct val="0"/>
              </a:spcBef>
              <a:spcAft>
                <a:spcPct val="0"/>
              </a:spcAft>
            </a:pPr>
            <a:r>
              <a:rPr lang="en-US" altLang="en-US" sz="1400" b="1" dirty="0">
                <a:solidFill>
                  <a:schemeClr val="bg2">
                    <a:lumMod val="25000"/>
                  </a:schemeClr>
                </a:solidFill>
                <a:latin typeface="Georgia" panose="02040502050405020303" pitchFamily="18" charset="0"/>
              </a:rPr>
              <a:t>A Python set is the collection of the unordered items. </a:t>
            </a:r>
            <a:endParaRPr lang="en-US" altLang="en-US" sz="1400" b="1" dirty="0" smtClean="0">
              <a:solidFill>
                <a:schemeClr val="bg2">
                  <a:lumMod val="25000"/>
                </a:schemeClr>
              </a:solidFill>
              <a:latin typeface="Georgia" panose="02040502050405020303" pitchFamily="18" charset="0"/>
            </a:endParaRPr>
          </a:p>
          <a:p>
            <a:pPr lvl="0" eaLnBrk="0" fontAlgn="base" hangingPunct="0">
              <a:spcBef>
                <a:spcPct val="0"/>
              </a:spcBef>
              <a:spcAft>
                <a:spcPct val="0"/>
              </a:spcAft>
            </a:pPr>
            <a:r>
              <a:rPr lang="en-US" altLang="en-US" sz="1400" b="1" dirty="0" smtClean="0">
                <a:solidFill>
                  <a:schemeClr val="bg2">
                    <a:lumMod val="25000"/>
                  </a:schemeClr>
                </a:solidFill>
                <a:latin typeface="Georgia" panose="02040502050405020303" pitchFamily="18" charset="0"/>
              </a:rPr>
              <a:t>Each </a:t>
            </a:r>
            <a:r>
              <a:rPr lang="en-US" altLang="en-US" sz="1400" b="1" dirty="0">
                <a:solidFill>
                  <a:schemeClr val="bg2">
                    <a:lumMod val="25000"/>
                  </a:schemeClr>
                </a:solidFill>
                <a:latin typeface="Georgia" panose="02040502050405020303" pitchFamily="18" charset="0"/>
              </a:rPr>
              <a:t>element in the set must be unique, immutable, and </a:t>
            </a:r>
            <a:endParaRPr lang="en-US" altLang="en-US" sz="1400" b="1" dirty="0" smtClean="0">
              <a:solidFill>
                <a:schemeClr val="bg2">
                  <a:lumMod val="25000"/>
                </a:schemeClr>
              </a:solidFill>
              <a:latin typeface="Georgia" panose="02040502050405020303" pitchFamily="18" charset="0"/>
            </a:endParaRPr>
          </a:p>
          <a:p>
            <a:pPr lvl="0" eaLnBrk="0" fontAlgn="base" hangingPunct="0">
              <a:spcBef>
                <a:spcPct val="0"/>
              </a:spcBef>
              <a:spcAft>
                <a:spcPct val="0"/>
              </a:spcAft>
            </a:pPr>
            <a:r>
              <a:rPr lang="en-US" altLang="en-US" sz="1400" b="1" dirty="0" smtClean="0">
                <a:solidFill>
                  <a:schemeClr val="bg2">
                    <a:lumMod val="25000"/>
                  </a:schemeClr>
                </a:solidFill>
                <a:latin typeface="Georgia" panose="02040502050405020303" pitchFamily="18" charset="0"/>
              </a:rPr>
              <a:t>the </a:t>
            </a:r>
            <a:r>
              <a:rPr lang="en-US" altLang="en-US" sz="1400" b="1" dirty="0">
                <a:solidFill>
                  <a:schemeClr val="bg2">
                    <a:lumMod val="25000"/>
                  </a:schemeClr>
                </a:solidFill>
                <a:latin typeface="Georgia" panose="02040502050405020303" pitchFamily="18" charset="0"/>
              </a:rPr>
              <a:t>sets remove the duplicate elements. Sets are </a:t>
            </a:r>
            <a:r>
              <a:rPr lang="en-US" altLang="en-US" sz="1400" b="1" dirty="0" smtClean="0">
                <a:solidFill>
                  <a:schemeClr val="bg2">
                    <a:lumMod val="25000"/>
                  </a:schemeClr>
                </a:solidFill>
                <a:latin typeface="Georgia" panose="02040502050405020303" pitchFamily="18" charset="0"/>
              </a:rPr>
              <a:t>mutable </a:t>
            </a:r>
            <a:r>
              <a:rPr lang="en-US" altLang="en-US" sz="1400" b="1" dirty="0">
                <a:solidFill>
                  <a:schemeClr val="bg2">
                    <a:lumMod val="25000"/>
                  </a:schemeClr>
                </a:solidFill>
                <a:latin typeface="Georgia" panose="02040502050405020303" pitchFamily="18" charset="0"/>
              </a:rPr>
              <a:t>which means we can modify it after its creation</a:t>
            </a:r>
            <a:r>
              <a:rPr lang="en-US" altLang="en-US" sz="1400" b="1" dirty="0" smtClean="0">
                <a:solidFill>
                  <a:schemeClr val="bg2">
                    <a:lumMod val="25000"/>
                  </a:schemeClr>
                </a:solidFill>
                <a:latin typeface="Georgia" panose="02040502050405020303" pitchFamily="18" charset="0"/>
              </a:rPr>
              <a:t>.</a:t>
            </a:r>
            <a:endParaRPr lang="en-US" altLang="en-US" sz="1400" b="1" dirty="0" smtClean="0">
              <a:solidFill>
                <a:schemeClr val="bg2">
                  <a:lumMod val="25000"/>
                </a:schemeClr>
              </a:solidFill>
              <a:latin typeface="Georgia" panose="02040502050405020303" pitchFamily="18" charset="0"/>
            </a:endParaRPr>
          </a:p>
          <a:p>
            <a:pPr lvl="0" eaLnBrk="0" fontAlgn="base" hangingPunct="0">
              <a:spcBef>
                <a:spcPct val="0"/>
              </a:spcBef>
              <a:spcAft>
                <a:spcPct val="0"/>
              </a:spcAft>
            </a:pPr>
            <a:r>
              <a:rPr lang="en-US" altLang="en-US" sz="1400" b="1" dirty="0" smtClean="0">
                <a:solidFill>
                  <a:schemeClr val="bg2">
                    <a:lumMod val="25000"/>
                  </a:schemeClr>
                </a:solidFill>
                <a:latin typeface="Georgia" panose="02040502050405020303" pitchFamily="18" charset="0"/>
              </a:rPr>
              <a:t>Unlike </a:t>
            </a:r>
            <a:r>
              <a:rPr lang="en-US" altLang="en-US" sz="1400" b="1" dirty="0">
                <a:solidFill>
                  <a:schemeClr val="bg2">
                    <a:lumMod val="25000"/>
                  </a:schemeClr>
                </a:solidFill>
                <a:latin typeface="Georgia" panose="02040502050405020303" pitchFamily="18" charset="0"/>
              </a:rPr>
              <a:t>other collections in Python, there is no index attached to the elements of the set, i.e., </a:t>
            </a:r>
            <a:endParaRPr lang="en-US" altLang="en-US" sz="1400" b="1" dirty="0" smtClean="0">
              <a:solidFill>
                <a:schemeClr val="bg2">
                  <a:lumMod val="25000"/>
                </a:schemeClr>
              </a:solidFill>
              <a:latin typeface="Georgia" panose="02040502050405020303" pitchFamily="18" charset="0"/>
            </a:endParaRPr>
          </a:p>
          <a:p>
            <a:pPr lvl="0" eaLnBrk="0" fontAlgn="base" hangingPunct="0">
              <a:spcBef>
                <a:spcPct val="0"/>
              </a:spcBef>
              <a:spcAft>
                <a:spcPct val="0"/>
              </a:spcAft>
            </a:pPr>
            <a:r>
              <a:rPr lang="en-US" altLang="en-US" sz="1400" b="1" dirty="0" smtClean="0">
                <a:solidFill>
                  <a:schemeClr val="bg2">
                    <a:lumMod val="25000"/>
                  </a:schemeClr>
                </a:solidFill>
                <a:latin typeface="Georgia" panose="02040502050405020303" pitchFamily="18" charset="0"/>
              </a:rPr>
              <a:t>we </a:t>
            </a:r>
            <a:r>
              <a:rPr lang="en-US" altLang="en-US" sz="1400" b="1" dirty="0">
                <a:solidFill>
                  <a:schemeClr val="bg2">
                    <a:lumMod val="25000"/>
                  </a:schemeClr>
                </a:solidFill>
                <a:latin typeface="Georgia" panose="02040502050405020303" pitchFamily="18" charset="0"/>
              </a:rPr>
              <a:t>cannot directly access any element of the set by the index. However, we can print them all together, </a:t>
            </a:r>
            <a:endParaRPr lang="en-US" altLang="en-US" sz="1400" b="1" dirty="0" smtClean="0">
              <a:solidFill>
                <a:schemeClr val="bg2">
                  <a:lumMod val="25000"/>
                </a:schemeClr>
              </a:solidFill>
              <a:latin typeface="Georgia" panose="02040502050405020303" pitchFamily="18" charset="0"/>
            </a:endParaRPr>
          </a:p>
          <a:p>
            <a:pPr lvl="0" eaLnBrk="0" fontAlgn="base" hangingPunct="0">
              <a:spcBef>
                <a:spcPct val="0"/>
              </a:spcBef>
              <a:spcAft>
                <a:spcPct val="0"/>
              </a:spcAft>
            </a:pPr>
            <a:r>
              <a:rPr lang="en-US" altLang="en-US" sz="1400" b="1" dirty="0" smtClean="0">
                <a:solidFill>
                  <a:schemeClr val="bg2">
                    <a:lumMod val="25000"/>
                  </a:schemeClr>
                </a:solidFill>
                <a:latin typeface="Georgia" panose="02040502050405020303" pitchFamily="18" charset="0"/>
              </a:rPr>
              <a:t>or </a:t>
            </a:r>
            <a:r>
              <a:rPr lang="en-US" altLang="en-US" sz="1400" b="1" dirty="0">
                <a:solidFill>
                  <a:schemeClr val="bg2">
                    <a:lumMod val="25000"/>
                  </a:schemeClr>
                </a:solidFill>
                <a:latin typeface="Georgia" panose="02040502050405020303" pitchFamily="18" charset="0"/>
              </a:rPr>
              <a:t>we can get the list of elements by looping through the set.</a:t>
            </a:r>
            <a:endParaRPr kumimoji="0" lang="en-US" altLang="en-US" sz="1400" b="1" i="0" u="none" strike="noStrike" cap="none" normalizeH="0" baseline="0" dirty="0" smtClean="0">
              <a:ln>
                <a:noFill/>
              </a:ln>
              <a:solidFill>
                <a:schemeClr val="bg2">
                  <a:lumMod val="25000"/>
                </a:schemeClr>
              </a:solidFill>
              <a:effectLst/>
              <a:latin typeface="Georgia" panose="02040502050405020303" pitchFamily="18" charset="0"/>
            </a:endParaRPr>
          </a:p>
        </p:txBody>
      </p:sp>
      <p:sp>
        <p:nvSpPr>
          <p:cNvPr id="13" name="Rectangle 4"/>
          <p:cNvSpPr>
            <a:spLocks noChangeArrowheads="1"/>
          </p:cNvSpPr>
          <p:nvPr/>
        </p:nvSpPr>
        <p:spPr bwMode="auto">
          <a:xfrm>
            <a:off x="905487" y="2447265"/>
            <a:ext cx="1071886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r>
              <a:rPr lang="en-US" sz="2400" b="1" dirty="0" smtClean="0">
                <a:solidFill>
                  <a:schemeClr val="bg2">
                    <a:lumMod val="25000"/>
                  </a:schemeClr>
                </a:solidFill>
                <a:latin typeface="Georgia" panose="02040502050405020303" pitchFamily="18" charset="0"/>
              </a:rPr>
              <a:t>Examples </a:t>
            </a:r>
            <a:r>
              <a:rPr lang="en-US" sz="2400" b="1" dirty="0">
                <a:solidFill>
                  <a:schemeClr val="bg2">
                    <a:lumMod val="25000"/>
                  </a:schemeClr>
                </a:solidFill>
                <a:latin typeface="Georgia" panose="02040502050405020303" pitchFamily="18" charset="0"/>
              </a:rPr>
              <a:t>of </a:t>
            </a:r>
            <a:r>
              <a:rPr lang="en-US" sz="2400" b="1" dirty="0" smtClean="0">
                <a:solidFill>
                  <a:schemeClr val="bg2">
                    <a:lumMod val="25000"/>
                  </a:schemeClr>
                </a:solidFill>
                <a:latin typeface="Georgia" panose="02040502050405020303" pitchFamily="18" charset="0"/>
              </a:rPr>
              <a:t>tuple </a:t>
            </a:r>
            <a:r>
              <a:rPr lang="en-US" sz="2400" b="1" dirty="0">
                <a:solidFill>
                  <a:schemeClr val="bg2">
                    <a:lumMod val="25000"/>
                  </a:schemeClr>
                </a:solidFill>
                <a:latin typeface="Georgia" panose="02040502050405020303" pitchFamily="18" charset="0"/>
              </a:rPr>
              <a:t>data </a:t>
            </a:r>
            <a:r>
              <a:rPr lang="en-US" sz="2400" b="1" dirty="0" smtClean="0">
                <a:solidFill>
                  <a:schemeClr val="bg2">
                    <a:lumMod val="25000"/>
                  </a:schemeClr>
                </a:solidFill>
                <a:latin typeface="Georgia" panose="02040502050405020303" pitchFamily="18" charset="0"/>
              </a:rPr>
              <a:t>type:</a:t>
            </a:r>
            <a:endParaRPr lang="en-US" sz="2400" b="1" dirty="0">
              <a:solidFill>
                <a:schemeClr val="bg2">
                  <a:lumMod val="25000"/>
                </a:schemeClr>
              </a:solidFill>
              <a:latin typeface="Georgia" panose="02040502050405020303" pitchFamily="18"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4"/>
          <p:cNvSpPr>
            <a:spLocks noChangeArrowheads="1"/>
          </p:cNvSpPr>
          <p:nvPr/>
        </p:nvSpPr>
        <p:spPr bwMode="auto">
          <a:xfrm>
            <a:off x="1370110" y="-260084"/>
            <a:ext cx="10718863" cy="1661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en-US" sz="2400" b="1" dirty="0" smtClean="0">
              <a:solidFill>
                <a:schemeClr val="bg2">
                  <a:lumMod val="25000"/>
                </a:schemeClr>
              </a:solidFill>
              <a:latin typeface="Georgia" panose="02040502050405020303" pitchFamily="18" charset="0"/>
            </a:endParaRPr>
          </a:p>
          <a:p>
            <a:r>
              <a:rPr lang="en-US" sz="2400" b="1" dirty="0" smtClean="0">
                <a:solidFill>
                  <a:schemeClr val="bg2">
                    <a:lumMod val="25000"/>
                  </a:schemeClr>
                </a:solidFill>
                <a:latin typeface="Georgia" panose="02040502050405020303" pitchFamily="18" charset="0"/>
              </a:rPr>
              <a:t>Examples </a:t>
            </a:r>
            <a:r>
              <a:rPr lang="en-US" sz="2400" b="1" dirty="0">
                <a:solidFill>
                  <a:schemeClr val="bg2">
                    <a:lumMod val="25000"/>
                  </a:schemeClr>
                </a:solidFill>
                <a:latin typeface="Georgia" panose="02040502050405020303" pitchFamily="18" charset="0"/>
              </a:rPr>
              <a:t>of </a:t>
            </a:r>
            <a:r>
              <a:rPr lang="en-US" sz="2400" b="1" dirty="0" smtClean="0">
                <a:solidFill>
                  <a:schemeClr val="bg2">
                    <a:lumMod val="25000"/>
                  </a:schemeClr>
                </a:solidFill>
                <a:latin typeface="Georgia" panose="02040502050405020303" pitchFamily="18" charset="0"/>
              </a:rPr>
              <a:t>dictionary </a:t>
            </a:r>
            <a:r>
              <a:rPr lang="en-US" sz="2400" b="1" dirty="0">
                <a:solidFill>
                  <a:schemeClr val="bg2">
                    <a:lumMod val="25000"/>
                  </a:schemeClr>
                </a:solidFill>
                <a:latin typeface="Georgia" panose="02040502050405020303" pitchFamily="18" charset="0"/>
              </a:rPr>
              <a:t>data </a:t>
            </a:r>
            <a:r>
              <a:rPr lang="en-US" sz="2400" b="1" dirty="0" smtClean="0">
                <a:solidFill>
                  <a:schemeClr val="bg2">
                    <a:lumMod val="25000"/>
                  </a:schemeClr>
                </a:solidFill>
                <a:latin typeface="Georgia" panose="02040502050405020303" pitchFamily="18" charset="0"/>
              </a:rPr>
              <a:t>type:</a:t>
            </a:r>
            <a:endParaRPr lang="en-US" sz="2400" b="1" dirty="0" smtClean="0">
              <a:solidFill>
                <a:schemeClr val="bg2">
                  <a:lumMod val="25000"/>
                </a:schemeClr>
              </a:solidFill>
              <a:latin typeface="Georgia" panose="02040502050405020303" pitchFamily="18" charset="0"/>
            </a:endParaRPr>
          </a:p>
          <a:p>
            <a:r>
              <a:rPr lang="en-US" b="1" dirty="0"/>
              <a:t>Python Dictionary is used to store the data in a key-value pair format. The dictionary is the data type in Python, which can simulate the real-life data arrangement where some specific value exists for some particular key. It is the mutable data-structure.</a:t>
            </a:r>
            <a:endParaRPr lang="en-US" b="1" dirty="0">
              <a:solidFill>
                <a:schemeClr val="bg2">
                  <a:lumMod val="25000"/>
                </a:schemeClr>
              </a:solidFill>
              <a:latin typeface="Georgia" panose="02040502050405020303" pitchFamily="18" charset="0"/>
            </a:endParaRPr>
          </a:p>
        </p:txBody>
      </p:sp>
      <p:sp>
        <p:nvSpPr>
          <p:cNvPr id="2" name="Rectangle 1"/>
          <p:cNvSpPr>
            <a:spLocks noChangeArrowheads="1"/>
          </p:cNvSpPr>
          <p:nvPr/>
        </p:nvSpPr>
        <p:spPr bwMode="auto">
          <a:xfrm>
            <a:off x="1370110" y="1059690"/>
            <a:ext cx="684033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2400" i="0" u="none" strike="noStrike" cap="none" normalizeH="0" baseline="0" dirty="0" smtClean="0">
              <a:ln>
                <a:noFill/>
              </a:ln>
              <a:solidFill>
                <a:schemeClr val="bg2">
                  <a:lumMod val="25000"/>
                </a:schemeClr>
              </a:solidFill>
              <a:effectLst/>
              <a:latin typeface="Georgia" panose="02040502050405020303"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i="0" u="none" strike="noStrike" cap="none" normalizeH="0" baseline="0" dirty="0" err="1" smtClean="0">
                <a:ln>
                  <a:noFill/>
                </a:ln>
                <a:solidFill>
                  <a:schemeClr val="bg2">
                    <a:lumMod val="25000"/>
                  </a:schemeClr>
                </a:solidFill>
                <a:effectLst/>
                <a:latin typeface="Georgia" panose="02040502050405020303" pitchFamily="18" charset="0"/>
              </a:rPr>
              <a:t>dict</a:t>
            </a:r>
            <a:r>
              <a:rPr kumimoji="0" lang="en-US" altLang="en-US" sz="2400" i="0" u="none" strike="noStrike" cap="none" normalizeH="0" baseline="0" dirty="0" smtClean="0">
                <a:ln>
                  <a:noFill/>
                </a:ln>
                <a:solidFill>
                  <a:schemeClr val="bg2">
                    <a:lumMod val="25000"/>
                  </a:schemeClr>
                </a:solidFill>
                <a:effectLst/>
                <a:latin typeface="Georgia" panose="02040502050405020303" pitchFamily="18" charset="0"/>
              </a:rPr>
              <a:t> = {'number': 10, 'code': 20, 'name': 'python'} </a:t>
            </a:r>
            <a:endParaRPr kumimoji="0" lang="en-US" altLang="en-US" sz="2400" i="0" u="none" strike="noStrike" cap="none" normalizeH="0" baseline="0" dirty="0" smtClean="0">
              <a:ln>
                <a:noFill/>
              </a:ln>
              <a:solidFill>
                <a:schemeClr val="bg2">
                  <a:lumMod val="25000"/>
                </a:schemeClr>
              </a:solidFill>
              <a:effectLst/>
              <a:latin typeface="Georgia" panose="02040502050405020303" pitchFamily="18" charset="0"/>
            </a:endParaRPr>
          </a:p>
        </p:txBody>
      </p:sp>
      <p:sp>
        <p:nvSpPr>
          <p:cNvPr id="3" name="Rectangle 2"/>
          <p:cNvSpPr>
            <a:spLocks noChangeArrowheads="1"/>
          </p:cNvSpPr>
          <p:nvPr/>
        </p:nvSpPr>
        <p:spPr bwMode="auto">
          <a:xfrm>
            <a:off x="1592580" y="3052445"/>
            <a:ext cx="4978400"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no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b="0" i="0" u="none" strike="noStrike" cap="none" normalizeH="0" baseline="0" dirty="0" smtClean="0">
                <a:ln>
                  <a:noFill/>
                </a:ln>
                <a:solidFill>
                  <a:schemeClr val="bg2">
                    <a:lumMod val="25000"/>
                  </a:schemeClr>
                </a:solidFill>
                <a:effectLst/>
                <a:latin typeface="Georgia" panose="02040502050405020303" pitchFamily="18" charset="0"/>
              </a:rPr>
              <a:t># Python Data Type Example </a:t>
            </a:r>
            <a:endParaRPr kumimoji="0" lang="en-US" altLang="en-US" b="0" i="0" u="none" strike="noStrike" cap="none" normalizeH="0" baseline="0" dirty="0" smtClean="0">
              <a:ln>
                <a:noFill/>
              </a:ln>
              <a:solidFill>
                <a:schemeClr val="bg2">
                  <a:lumMod val="25000"/>
                </a:schemeClr>
              </a:solidFill>
              <a:effectLst/>
              <a:latin typeface="Georgia" panose="02040502050405020303"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b="0" i="0" u="none" strike="noStrike" cap="none" normalizeH="0" baseline="0" dirty="0" smtClean="0">
                <a:ln>
                  <a:noFill/>
                </a:ln>
                <a:solidFill>
                  <a:schemeClr val="bg2">
                    <a:lumMod val="25000"/>
                  </a:schemeClr>
                </a:solidFill>
                <a:effectLst/>
                <a:latin typeface="Georgia" panose="02040502050405020303" pitchFamily="18" charset="0"/>
              </a:rPr>
              <a:t>float_var = 10;</a:t>
            </a:r>
            <a:endParaRPr kumimoji="0" lang="en-US" altLang="en-US" b="0" i="0" u="none" strike="noStrike" cap="none" normalizeH="0" baseline="0" dirty="0" smtClean="0">
              <a:ln>
                <a:noFill/>
              </a:ln>
              <a:solidFill>
                <a:schemeClr val="bg2">
                  <a:lumMod val="25000"/>
                </a:schemeClr>
              </a:solidFill>
              <a:effectLst/>
              <a:latin typeface="Georgia" panose="02040502050405020303"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b="0" i="0" u="none" strike="noStrike" cap="none" normalizeH="0" baseline="0" dirty="0" smtClean="0">
                <a:ln>
                  <a:noFill/>
                </a:ln>
                <a:solidFill>
                  <a:schemeClr val="bg2">
                    <a:lumMod val="25000"/>
                  </a:schemeClr>
                </a:solidFill>
                <a:effectLst/>
                <a:latin typeface="Georgia" panose="02040502050405020303" pitchFamily="18" charset="0"/>
              </a:rPr>
              <a:t>int_var = 10.40;</a:t>
            </a:r>
            <a:endParaRPr kumimoji="0" lang="en-US" altLang="en-US" b="0" i="0" u="none" strike="noStrike" cap="none" normalizeH="0" baseline="0" dirty="0" smtClean="0">
              <a:ln>
                <a:noFill/>
              </a:ln>
              <a:solidFill>
                <a:schemeClr val="bg2">
                  <a:lumMod val="25000"/>
                </a:schemeClr>
              </a:solidFill>
              <a:effectLst/>
              <a:latin typeface="Georgia" panose="02040502050405020303"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b="0" i="0" u="none" strike="noStrike" cap="none" normalizeH="0" baseline="0" dirty="0" smtClean="0">
              <a:ln>
                <a:noFill/>
              </a:ln>
              <a:solidFill>
                <a:schemeClr val="bg2">
                  <a:lumMod val="25000"/>
                </a:schemeClr>
              </a:solidFill>
              <a:effectLst/>
              <a:latin typeface="Georgia" panose="02040502050405020303"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b="0" i="0" u="none" strike="noStrike" cap="none" normalizeH="0" baseline="0" dirty="0" smtClean="0">
                <a:ln>
                  <a:noFill/>
                </a:ln>
                <a:solidFill>
                  <a:schemeClr val="bg2">
                    <a:lumMod val="25000"/>
                  </a:schemeClr>
                </a:solidFill>
                <a:effectLst/>
                <a:latin typeface="Georgia" panose="02040502050405020303" pitchFamily="18" charset="0"/>
              </a:rPr>
              <a:t>str_var = "This is Python Data type Tutorial";</a:t>
            </a:r>
            <a:endParaRPr kumimoji="0" lang="en-US" altLang="en-US" b="0" i="0" u="none" strike="noStrike" cap="none" normalizeH="0" baseline="0" dirty="0" smtClean="0">
              <a:ln>
                <a:noFill/>
              </a:ln>
              <a:solidFill>
                <a:schemeClr val="bg2">
                  <a:lumMod val="25000"/>
                </a:schemeClr>
              </a:solidFill>
              <a:effectLst/>
              <a:latin typeface="Georgia" panose="02040502050405020303"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b="0" i="0" u="none" strike="noStrike" cap="none" normalizeH="0" baseline="0" dirty="0" smtClean="0">
              <a:ln>
                <a:noFill/>
              </a:ln>
              <a:solidFill>
                <a:schemeClr val="bg2">
                  <a:lumMod val="25000"/>
                </a:schemeClr>
              </a:solidFill>
              <a:effectLst/>
              <a:latin typeface="Georgia" panose="02040502050405020303"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b="0" i="0" u="none" strike="noStrike" cap="none" normalizeH="0" baseline="0" dirty="0" smtClean="0">
                <a:ln>
                  <a:noFill/>
                </a:ln>
                <a:solidFill>
                  <a:schemeClr val="bg2">
                    <a:lumMod val="25000"/>
                  </a:schemeClr>
                </a:solidFill>
                <a:effectLst/>
                <a:latin typeface="Georgia" panose="02040502050405020303" pitchFamily="18" charset="0"/>
              </a:rPr>
              <a:t>print("Values are:\n",int_var,"\n",float_var,"\n",str_var); </a:t>
            </a:r>
            <a:endParaRPr kumimoji="0" lang="en-US" altLang="en-US" b="0" i="0" u="none" strike="noStrike" cap="none" normalizeH="0" baseline="0" dirty="0" smtClean="0">
              <a:ln>
                <a:noFill/>
              </a:ln>
              <a:solidFill>
                <a:schemeClr val="bg2">
                  <a:lumMod val="25000"/>
                </a:schemeClr>
              </a:solidFill>
              <a:effectLst/>
              <a:latin typeface="Georgia" panose="02040502050405020303"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b="0" i="0" u="none" strike="noStrike" cap="none" normalizeH="0" baseline="0" dirty="0" smtClean="0">
              <a:ln>
                <a:noFill/>
              </a:ln>
              <a:solidFill>
                <a:schemeClr val="bg2">
                  <a:lumMod val="25000"/>
                </a:schemeClr>
              </a:solidFill>
              <a:effectLst/>
              <a:latin typeface="Georgia" panose="02040502050405020303" pitchFamily="18" charset="0"/>
            </a:endParaRPr>
          </a:p>
        </p:txBody>
      </p:sp>
      <p:sp>
        <p:nvSpPr>
          <p:cNvPr id="8" name="Rectangle 4"/>
          <p:cNvSpPr>
            <a:spLocks noChangeArrowheads="1"/>
          </p:cNvSpPr>
          <p:nvPr/>
        </p:nvSpPr>
        <p:spPr bwMode="auto">
          <a:xfrm>
            <a:off x="842571" y="1847460"/>
            <a:ext cx="1071886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r>
              <a:rPr lang="en-US" sz="2400" b="1" dirty="0" smtClean="0">
                <a:solidFill>
                  <a:schemeClr val="bg2">
                    <a:lumMod val="25000"/>
                  </a:schemeClr>
                </a:solidFill>
                <a:latin typeface="Georgia" panose="02040502050405020303" pitchFamily="18" charset="0"/>
              </a:rPr>
              <a:t>Data type Examples:</a:t>
            </a:r>
            <a:endParaRPr lang="en-US" sz="2400" b="1" dirty="0">
              <a:solidFill>
                <a:schemeClr val="bg2">
                  <a:lumMod val="25000"/>
                </a:schemeClr>
              </a:solidFill>
              <a:latin typeface="Georgia" panose="02040502050405020303" pitchFamily="18" charset="0"/>
            </a:endParaRPr>
          </a:p>
        </p:txBody>
      </p:sp>
      <p:pic>
        <p:nvPicPr>
          <p:cNvPr id="4" name="Picture 3"/>
          <p:cNvPicPr>
            <a:picLocks noChangeAspect="1"/>
          </p:cNvPicPr>
          <p:nvPr/>
        </p:nvPicPr>
        <p:blipFill>
          <a:blip r:embed="rId1"/>
          <a:stretch>
            <a:fillRect/>
          </a:stretch>
        </p:blipFill>
        <p:spPr>
          <a:xfrm>
            <a:off x="5073164" y="4531882"/>
            <a:ext cx="5667816" cy="2164734"/>
          </a:xfrm>
          <a:prstGeom prst="rect">
            <a:avLst/>
          </a:prstGeom>
          <a:ln w="6350" cap="sq" cmpd="thickThin">
            <a:solidFill>
              <a:srgbClr val="000000"/>
            </a:solidFill>
            <a:prstDash val="solid"/>
            <a:miter lim="800000"/>
            <a:headEnd/>
            <a:tailEnd/>
          </a:ln>
          <a:effectLst>
            <a:innerShdw blurRad="76200">
              <a:srgbClr val="000000"/>
            </a:innerShdw>
          </a:effec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28593" y="232377"/>
            <a:ext cx="8915399" cy="962696"/>
          </a:xfrm>
        </p:spPr>
        <p:txBody>
          <a:bodyPr>
            <a:noAutofit/>
          </a:bodyPr>
          <a:lstStyle/>
          <a:p>
            <a:r>
              <a:rPr lang="en-US" sz="3600" b="1" dirty="0" smtClean="0">
                <a:solidFill>
                  <a:schemeClr val="bg2">
                    <a:lumMod val="25000"/>
                  </a:schemeClr>
                </a:solidFill>
                <a:latin typeface="Plantagenet Cherokee" panose="02020602070100000000" pitchFamily="18" charset="0"/>
              </a:rPr>
              <a:t>Variables</a:t>
            </a:r>
            <a:endParaRPr lang="en-US" sz="3600" b="1" dirty="0">
              <a:solidFill>
                <a:schemeClr val="bg2">
                  <a:lumMod val="25000"/>
                </a:schemeClr>
              </a:solidFill>
              <a:latin typeface="Plantagenet Cherokee" panose="02020602070100000000" pitchFamily="18" charset="0"/>
            </a:endParaRPr>
          </a:p>
        </p:txBody>
      </p:sp>
      <p:sp>
        <p:nvSpPr>
          <p:cNvPr id="7" name="Rectangle 4"/>
          <p:cNvSpPr>
            <a:spLocks noChangeArrowheads="1"/>
          </p:cNvSpPr>
          <p:nvPr/>
        </p:nvSpPr>
        <p:spPr bwMode="auto">
          <a:xfrm>
            <a:off x="636270" y="1363980"/>
            <a:ext cx="11061065"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r>
              <a:rPr lang="en-US" sz="2400" dirty="0" smtClean="0">
                <a:solidFill>
                  <a:schemeClr val="bg2">
                    <a:lumMod val="25000"/>
                  </a:schemeClr>
                </a:solidFill>
                <a:latin typeface="Georgia" panose="02040502050405020303" pitchFamily="18" charset="0"/>
              </a:rPr>
              <a:t>Variables are </a:t>
            </a:r>
            <a:r>
              <a:rPr lang="en-US" sz="2400" dirty="0">
                <a:solidFill>
                  <a:schemeClr val="bg2">
                    <a:lumMod val="25000"/>
                  </a:schemeClr>
                </a:solidFill>
                <a:latin typeface="Georgia" panose="02040502050405020303" pitchFamily="18" charset="0"/>
              </a:rPr>
              <a:t>the reserved memory locations to store the </a:t>
            </a:r>
            <a:r>
              <a:rPr lang="en-US" sz="2400" dirty="0" smtClean="0">
                <a:solidFill>
                  <a:schemeClr val="bg2">
                    <a:lumMod val="25000"/>
                  </a:schemeClr>
                </a:solidFill>
                <a:latin typeface="Georgia" panose="02040502050405020303" pitchFamily="18" charset="0"/>
              </a:rPr>
              <a:t>values. It </a:t>
            </a:r>
            <a:r>
              <a:rPr lang="en-US" sz="2400" dirty="0">
                <a:solidFill>
                  <a:schemeClr val="bg2">
                    <a:lumMod val="25000"/>
                  </a:schemeClr>
                </a:solidFill>
                <a:latin typeface="Georgia" panose="02040502050405020303" pitchFamily="18" charset="0"/>
              </a:rPr>
              <a:t>means that, whenever you are creating a </a:t>
            </a:r>
            <a:r>
              <a:rPr lang="en-US" sz="2400" dirty="0" smtClean="0">
                <a:solidFill>
                  <a:schemeClr val="bg2">
                    <a:lumMod val="25000"/>
                  </a:schemeClr>
                </a:solidFill>
                <a:latin typeface="Georgia" panose="02040502050405020303" pitchFamily="18" charset="0"/>
              </a:rPr>
              <a:t>variable </a:t>
            </a:r>
            <a:r>
              <a:rPr lang="en-US" sz="2400" dirty="0">
                <a:solidFill>
                  <a:schemeClr val="bg2">
                    <a:lumMod val="25000"/>
                  </a:schemeClr>
                </a:solidFill>
                <a:latin typeface="Georgia" panose="02040502050405020303" pitchFamily="18" charset="0"/>
              </a:rPr>
              <a:t>you are reserving some space in the memory for that variable.</a:t>
            </a:r>
            <a:endParaRPr lang="en-US" sz="2400" dirty="0">
              <a:solidFill>
                <a:schemeClr val="bg2">
                  <a:lumMod val="25000"/>
                </a:schemeClr>
              </a:solidFill>
              <a:latin typeface="Georgia" panose="02040502050405020303" pitchFamily="18" charset="0"/>
            </a:endParaRPr>
          </a:p>
        </p:txBody>
      </p:sp>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8" name="Rectangle 1"/>
          <p:cNvSpPr>
            <a:spLocks noChangeArrowheads="1"/>
          </p:cNvSpPr>
          <p:nvPr/>
        </p:nvSpPr>
        <p:spPr bwMode="auto">
          <a:xfrm>
            <a:off x="3863657" y="3151497"/>
            <a:ext cx="576952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err="1" smtClean="0">
                <a:ln>
                  <a:noFill/>
                </a:ln>
                <a:solidFill>
                  <a:schemeClr val="bg2">
                    <a:lumMod val="25000"/>
                  </a:schemeClr>
                </a:solidFill>
                <a:effectLst/>
                <a:latin typeface="Georgia" panose="02040502050405020303" pitchFamily="18" charset="0"/>
              </a:rPr>
              <a:t>variable_name</a:t>
            </a: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 = “Python programmer"; </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p:txBody>
      </p:sp>
      <p:sp>
        <p:nvSpPr>
          <p:cNvPr id="9" name="Rectangle 8"/>
          <p:cNvSpPr/>
          <p:nvPr/>
        </p:nvSpPr>
        <p:spPr>
          <a:xfrm>
            <a:off x="2037677" y="2627058"/>
            <a:ext cx="4517583" cy="461665"/>
          </a:xfrm>
          <a:prstGeom prst="rect">
            <a:avLst/>
          </a:prstGeom>
        </p:spPr>
        <p:txBody>
          <a:bodyPr wrap="none">
            <a:spAutoFit/>
          </a:bodyPr>
          <a:lstStyle/>
          <a:p>
            <a:r>
              <a:rPr lang="en-US" sz="2400" b="1" dirty="0">
                <a:solidFill>
                  <a:schemeClr val="bg2">
                    <a:lumMod val="25000"/>
                  </a:schemeClr>
                </a:solidFill>
                <a:latin typeface="Georgia" panose="02040502050405020303" pitchFamily="18" charset="0"/>
              </a:rPr>
              <a:t>Create a Variable in Python</a:t>
            </a:r>
            <a:endParaRPr lang="en-US" sz="2400" b="1" dirty="0">
              <a:solidFill>
                <a:schemeClr val="bg2">
                  <a:lumMod val="25000"/>
                </a:schemeClr>
              </a:solidFill>
              <a:latin typeface="Georgia" panose="02040502050405020303" pitchFamily="18" charset="0"/>
            </a:endParaRPr>
          </a:p>
        </p:txBody>
      </p:sp>
      <p:sp>
        <p:nvSpPr>
          <p:cNvPr id="10" name="Rectangle 2"/>
          <p:cNvSpPr>
            <a:spLocks noChangeArrowheads="1"/>
          </p:cNvSpPr>
          <p:nvPr/>
        </p:nvSpPr>
        <p:spPr bwMode="auto">
          <a:xfrm>
            <a:off x="1865263" y="4552304"/>
            <a:ext cx="410591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print("Hi, ",</a:t>
            </a:r>
            <a:r>
              <a:rPr kumimoji="0" lang="en-US" altLang="en-US" sz="2400" b="0" i="0" u="none" strike="noStrike" cap="none" normalizeH="0" baseline="0" dirty="0" err="1" smtClean="0">
                <a:ln>
                  <a:noFill/>
                </a:ln>
                <a:solidFill>
                  <a:schemeClr val="bg2">
                    <a:lumMod val="25000"/>
                  </a:schemeClr>
                </a:solidFill>
                <a:effectLst/>
                <a:latin typeface="Georgia" panose="02040502050405020303" pitchFamily="18" charset="0"/>
              </a:rPr>
              <a:t>variable_name</a:t>
            </a: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 </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p:txBody>
      </p:sp>
      <p:pic>
        <p:nvPicPr>
          <p:cNvPr id="11" name="Picture 10"/>
          <p:cNvPicPr>
            <a:picLocks noChangeAspect="1"/>
          </p:cNvPicPr>
          <p:nvPr/>
        </p:nvPicPr>
        <p:blipFill>
          <a:blip r:embed="rId2"/>
          <a:stretch>
            <a:fillRect/>
          </a:stretch>
        </p:blipFill>
        <p:spPr>
          <a:xfrm>
            <a:off x="6224587" y="3779556"/>
            <a:ext cx="5229225" cy="2762250"/>
          </a:xfrm>
          <a:prstGeom prst="rect">
            <a:avLst/>
          </a:prstGeom>
          <a:ln w="6350" cap="sq" cmpd="thickThin">
            <a:solidFill>
              <a:srgbClr val="000000"/>
            </a:solidFill>
            <a:prstDash val="solid"/>
            <a:miter lim="800000"/>
            <a:headEnd/>
            <a:tailEnd/>
          </a:ln>
          <a:effectLst>
            <a:innerShdw blurRad="76200">
              <a:srgbClr val="000000"/>
            </a:innerShdw>
          </a:effec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28593" y="232377"/>
            <a:ext cx="8915399" cy="962696"/>
          </a:xfrm>
        </p:spPr>
        <p:txBody>
          <a:bodyPr>
            <a:noAutofit/>
          </a:bodyPr>
          <a:lstStyle/>
          <a:p>
            <a:r>
              <a:rPr lang="en-US" sz="3600" b="1" dirty="0" smtClean="0">
                <a:solidFill>
                  <a:schemeClr val="bg2">
                    <a:lumMod val="25000"/>
                  </a:schemeClr>
                </a:solidFill>
                <a:latin typeface="Plantagenet Cherokee" panose="02020602070100000000" pitchFamily="18" charset="0"/>
              </a:rPr>
              <a:t>Variable Examples</a:t>
            </a:r>
            <a:endParaRPr lang="en-US" sz="3600" b="1" dirty="0">
              <a:solidFill>
                <a:schemeClr val="bg2">
                  <a:lumMod val="25000"/>
                </a:schemeClr>
              </a:solidFill>
              <a:latin typeface="Plantagenet Cherokee" panose="02020602070100000000" pitchFamily="18" charset="0"/>
            </a:endParaRPr>
          </a:p>
        </p:txBody>
      </p:sp>
      <p:sp>
        <p:nvSpPr>
          <p:cNvPr id="3" name="Subtitle 2"/>
          <p:cNvSpPr>
            <a:spLocks noGrp="1"/>
          </p:cNvSpPr>
          <p:nvPr>
            <p:ph type="subTitle" idx="1"/>
          </p:nvPr>
        </p:nvSpPr>
        <p:spPr>
          <a:xfrm>
            <a:off x="1300766" y="1233152"/>
            <a:ext cx="9276567" cy="4332439"/>
          </a:xfrm>
        </p:spPr>
        <p:txBody>
          <a:bodyPr>
            <a:normAutofit/>
          </a:bodyPr>
          <a:lstStyle/>
          <a:p>
            <a:pPr marL="800100" lvl="1" indent="-342900" algn="l">
              <a:buFont typeface="Wingdings" panose="05000000000000000000" pitchFamily="2" charset="2"/>
              <a:buChar char="Ø"/>
            </a:pPr>
            <a:endParaRPr lang="en-US" sz="2200" dirty="0" smtClean="0">
              <a:solidFill>
                <a:srgbClr val="002060"/>
              </a:solidFill>
              <a:latin typeface="Calibri" panose="020F0502020204030204" pitchFamily="34" charset="0"/>
            </a:endParaRPr>
          </a:p>
          <a:p>
            <a:pPr>
              <a:spcBef>
                <a:spcPct val="0"/>
              </a:spcBef>
            </a:pPr>
            <a:endParaRPr lang="en-US" sz="3600" b="1" dirty="0">
              <a:solidFill>
                <a:schemeClr val="bg2">
                  <a:lumMod val="25000"/>
                </a:schemeClr>
              </a:solidFill>
              <a:latin typeface="Plantagenet Cherokee" panose="02020602070100000000" pitchFamily="18" charset="0"/>
              <a:ea typeface="+mj-ea"/>
              <a:cs typeface="+mj-cs"/>
            </a:endParaRPr>
          </a:p>
        </p:txBody>
      </p:sp>
      <p:sp>
        <p:nvSpPr>
          <p:cNvPr id="7" name="Rectangle 4"/>
          <p:cNvSpPr>
            <a:spLocks noChangeArrowheads="1"/>
          </p:cNvSpPr>
          <p:nvPr/>
        </p:nvSpPr>
        <p:spPr bwMode="auto">
          <a:xfrm>
            <a:off x="2949261" y="1416630"/>
            <a:ext cx="1071886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r>
              <a:rPr lang="en-US" sz="2400" dirty="0">
                <a:solidFill>
                  <a:schemeClr val="bg2">
                    <a:lumMod val="25000"/>
                  </a:schemeClr>
                </a:solidFill>
                <a:latin typeface="Georgia" panose="02040502050405020303" pitchFamily="18" charset="0"/>
              </a:rPr>
              <a:t>assigning values to variables in Python</a:t>
            </a:r>
            <a:endParaRPr lang="en-US" sz="2400" dirty="0">
              <a:solidFill>
                <a:schemeClr val="bg2">
                  <a:lumMod val="25000"/>
                </a:schemeClr>
              </a:solidFill>
              <a:latin typeface="Georgia" panose="02040502050405020303" pitchFamily="18" charset="0"/>
            </a:endParaRPr>
          </a:p>
        </p:txBody>
      </p:sp>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4" name="Rectangle 1"/>
          <p:cNvSpPr>
            <a:spLocks noChangeArrowheads="1"/>
          </p:cNvSpPr>
          <p:nvPr/>
        </p:nvSpPr>
        <p:spPr bwMode="auto">
          <a:xfrm>
            <a:off x="2562896" y="2198896"/>
            <a:ext cx="2773680" cy="304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num1=10</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num2=20 </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print(num1)</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print(“No”,num1)</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print(num2)</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print(“No”,num2)</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sum=num1+num2 </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print(sum) </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p:txBody>
      </p:sp>
      <p:pic>
        <p:nvPicPr>
          <p:cNvPr id="5" name="Picture 4"/>
          <p:cNvPicPr>
            <a:picLocks noChangeAspect="1"/>
          </p:cNvPicPr>
          <p:nvPr/>
        </p:nvPicPr>
        <p:blipFill>
          <a:blip r:embed="rId2"/>
          <a:stretch>
            <a:fillRect/>
          </a:stretch>
        </p:blipFill>
        <p:spPr>
          <a:xfrm>
            <a:off x="5447403" y="2246954"/>
            <a:ext cx="6358140" cy="3502115"/>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28593" y="232377"/>
            <a:ext cx="8915399" cy="962696"/>
          </a:xfrm>
        </p:spPr>
        <p:txBody>
          <a:bodyPr>
            <a:noAutofit/>
          </a:bodyPr>
          <a:lstStyle/>
          <a:p>
            <a:r>
              <a:rPr lang="en-US" sz="3600" b="1" dirty="0" smtClean="0">
                <a:solidFill>
                  <a:schemeClr val="bg2">
                    <a:lumMod val="25000"/>
                  </a:schemeClr>
                </a:solidFill>
                <a:latin typeface="Plantagenet Cherokee" panose="02020602070100000000" pitchFamily="18" charset="0"/>
              </a:rPr>
              <a:t>Operators</a:t>
            </a:r>
            <a:endParaRPr lang="en-US" sz="3600" b="1" dirty="0">
              <a:solidFill>
                <a:schemeClr val="bg2">
                  <a:lumMod val="25000"/>
                </a:schemeClr>
              </a:solidFill>
              <a:latin typeface="Plantagenet Cherokee" panose="02020602070100000000" pitchFamily="18" charset="0"/>
            </a:endParaRPr>
          </a:p>
        </p:txBody>
      </p:sp>
      <p:sp>
        <p:nvSpPr>
          <p:cNvPr id="3" name="Subtitle 2"/>
          <p:cNvSpPr>
            <a:spLocks noGrp="1"/>
          </p:cNvSpPr>
          <p:nvPr>
            <p:ph type="subTitle" idx="1"/>
          </p:nvPr>
        </p:nvSpPr>
        <p:spPr>
          <a:xfrm>
            <a:off x="1300765" y="1473449"/>
            <a:ext cx="9276567" cy="4332439"/>
          </a:xfrm>
        </p:spPr>
        <p:txBody>
          <a:bodyPr>
            <a:normAutofit/>
          </a:bodyPr>
          <a:lstStyle/>
          <a:p>
            <a:pPr marL="800100" lvl="1" indent="-342900" algn="l">
              <a:buFont typeface="Wingdings" panose="05000000000000000000" pitchFamily="2" charset="2"/>
              <a:buChar char="Ø"/>
            </a:pPr>
            <a:endParaRPr lang="en-US" sz="2200" dirty="0" smtClean="0">
              <a:solidFill>
                <a:srgbClr val="002060"/>
              </a:solidFill>
              <a:latin typeface="Calibri" panose="020F0502020204030204" pitchFamily="34" charset="0"/>
            </a:endParaRPr>
          </a:p>
          <a:p>
            <a:pPr>
              <a:spcBef>
                <a:spcPct val="0"/>
              </a:spcBef>
            </a:pPr>
            <a:endParaRPr lang="en-US" sz="3600" b="1" dirty="0">
              <a:solidFill>
                <a:schemeClr val="bg2">
                  <a:lumMod val="25000"/>
                </a:schemeClr>
              </a:solidFill>
              <a:latin typeface="Plantagenet Cherokee" panose="02020602070100000000" pitchFamily="18" charset="0"/>
              <a:ea typeface="+mj-ea"/>
              <a:cs typeface="+mj-cs"/>
            </a:endParaRPr>
          </a:p>
        </p:txBody>
      </p:sp>
      <p:sp>
        <p:nvSpPr>
          <p:cNvPr id="7" name="Rectangle 4"/>
          <p:cNvSpPr>
            <a:spLocks noChangeArrowheads="1"/>
          </p:cNvSpPr>
          <p:nvPr/>
        </p:nvSpPr>
        <p:spPr bwMode="auto">
          <a:xfrm>
            <a:off x="1210614" y="1484968"/>
            <a:ext cx="1071886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r>
              <a:rPr lang="en-US" sz="2400" dirty="0" smtClean="0">
                <a:solidFill>
                  <a:schemeClr val="bg2">
                    <a:lumMod val="25000"/>
                  </a:schemeClr>
                </a:solidFill>
                <a:latin typeface="Georgia" panose="02040502050405020303" pitchFamily="18" charset="0"/>
              </a:rPr>
              <a:t>Operators </a:t>
            </a:r>
            <a:r>
              <a:rPr lang="en-US" sz="2400" dirty="0">
                <a:solidFill>
                  <a:schemeClr val="bg2">
                    <a:lumMod val="25000"/>
                  </a:schemeClr>
                </a:solidFill>
                <a:latin typeface="Georgia" panose="02040502050405020303" pitchFamily="18" charset="0"/>
              </a:rPr>
              <a:t>are used to perform mathematical and logical operations</a:t>
            </a:r>
            <a:r>
              <a:rPr lang="en-US" sz="2400" dirty="0" smtClean="0">
                <a:solidFill>
                  <a:schemeClr val="bg2">
                    <a:lumMod val="25000"/>
                  </a:schemeClr>
                </a:solidFill>
                <a:latin typeface="Georgia" panose="02040502050405020303" pitchFamily="18" charset="0"/>
              </a:rPr>
              <a:t>.</a:t>
            </a:r>
            <a:endParaRPr lang="en-US" sz="2400" dirty="0" smtClean="0">
              <a:solidFill>
                <a:schemeClr val="bg2">
                  <a:lumMod val="25000"/>
                </a:schemeClr>
              </a:solidFill>
              <a:latin typeface="Georgia" panose="02040502050405020303" pitchFamily="18" charset="0"/>
            </a:endParaRPr>
          </a:p>
          <a:p>
            <a:r>
              <a:rPr lang="en-US" sz="2400" dirty="0" smtClean="0">
                <a:solidFill>
                  <a:schemeClr val="bg2">
                    <a:lumMod val="25000"/>
                  </a:schemeClr>
                </a:solidFill>
                <a:latin typeface="Georgia" panose="02040502050405020303" pitchFamily="18" charset="0"/>
              </a:rPr>
              <a:t> </a:t>
            </a:r>
            <a:endParaRPr lang="en-US" sz="2400" dirty="0" smtClean="0">
              <a:solidFill>
                <a:schemeClr val="bg2">
                  <a:lumMod val="25000"/>
                </a:schemeClr>
              </a:solidFill>
              <a:latin typeface="Georgia" panose="02040502050405020303" pitchFamily="18" charset="0"/>
            </a:endParaRPr>
          </a:p>
          <a:p>
            <a:r>
              <a:rPr lang="en-US" sz="2400" dirty="0" smtClean="0">
                <a:solidFill>
                  <a:schemeClr val="bg2">
                    <a:lumMod val="25000"/>
                  </a:schemeClr>
                </a:solidFill>
                <a:latin typeface="Georgia" panose="02040502050405020303" pitchFamily="18" charset="0"/>
              </a:rPr>
              <a:t>There </a:t>
            </a:r>
            <a:r>
              <a:rPr lang="en-US" sz="2400" dirty="0">
                <a:solidFill>
                  <a:schemeClr val="bg2">
                    <a:lumMod val="25000"/>
                  </a:schemeClr>
                </a:solidFill>
                <a:latin typeface="Georgia" panose="02040502050405020303" pitchFamily="18" charset="0"/>
              </a:rPr>
              <a:t>are the following types of operators available in Python:</a:t>
            </a:r>
            <a:endParaRPr lang="en-US" sz="2400" dirty="0">
              <a:solidFill>
                <a:schemeClr val="bg2">
                  <a:lumMod val="25000"/>
                </a:schemeClr>
              </a:solidFill>
              <a:latin typeface="Georgia" panose="02040502050405020303" pitchFamily="18" charset="0"/>
            </a:endParaRPr>
          </a:p>
        </p:txBody>
      </p:sp>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8" name="Rectangle 7"/>
          <p:cNvSpPr/>
          <p:nvPr/>
        </p:nvSpPr>
        <p:spPr>
          <a:xfrm>
            <a:off x="2891048" y="2696816"/>
            <a:ext cx="6096000" cy="3046988"/>
          </a:xfrm>
          <a:prstGeom prst="rect">
            <a:avLst/>
          </a:prstGeom>
        </p:spPr>
        <p:txBody>
          <a:bodyPr>
            <a:spAutoFit/>
          </a:bodyPr>
          <a:lstStyle/>
          <a:p>
            <a:endParaRPr lang="en-US" sz="2400" dirty="0">
              <a:solidFill>
                <a:schemeClr val="bg2">
                  <a:lumMod val="25000"/>
                </a:schemeClr>
              </a:solidFill>
              <a:latin typeface="Georgia" panose="02040502050405020303" pitchFamily="18" charset="0"/>
            </a:endParaRPr>
          </a:p>
          <a:p>
            <a:pPr marL="342900" indent="-342900">
              <a:buFont typeface="Wingdings" panose="05000000000000000000" pitchFamily="2" charset="2"/>
              <a:buChar char="Ø"/>
            </a:pPr>
            <a:r>
              <a:rPr lang="en-US" sz="2400" dirty="0">
                <a:solidFill>
                  <a:schemeClr val="bg2">
                    <a:lumMod val="25000"/>
                  </a:schemeClr>
                </a:solidFill>
                <a:latin typeface="Georgia" panose="02040502050405020303" pitchFamily="18" charset="0"/>
              </a:rPr>
              <a:t>    Arithmetic Operators</a:t>
            </a:r>
            <a:endParaRPr lang="en-US" sz="2400" dirty="0">
              <a:solidFill>
                <a:schemeClr val="bg2">
                  <a:lumMod val="25000"/>
                </a:schemeClr>
              </a:solidFill>
              <a:latin typeface="Georgia" panose="02040502050405020303" pitchFamily="18" charset="0"/>
            </a:endParaRPr>
          </a:p>
          <a:p>
            <a:pPr marL="342900" indent="-342900">
              <a:buFont typeface="Wingdings" panose="05000000000000000000" pitchFamily="2" charset="2"/>
              <a:buChar char="Ø"/>
            </a:pPr>
            <a:r>
              <a:rPr lang="en-US" sz="2400" dirty="0">
                <a:solidFill>
                  <a:schemeClr val="bg2">
                    <a:lumMod val="25000"/>
                  </a:schemeClr>
                </a:solidFill>
                <a:latin typeface="Georgia" panose="02040502050405020303" pitchFamily="18" charset="0"/>
              </a:rPr>
              <a:t>    Logical Operators</a:t>
            </a:r>
            <a:endParaRPr lang="en-US" sz="2400" dirty="0">
              <a:solidFill>
                <a:schemeClr val="bg2">
                  <a:lumMod val="25000"/>
                </a:schemeClr>
              </a:solidFill>
              <a:latin typeface="Georgia" panose="02040502050405020303" pitchFamily="18" charset="0"/>
            </a:endParaRPr>
          </a:p>
          <a:p>
            <a:pPr marL="342900" indent="-342900">
              <a:buFont typeface="Wingdings" panose="05000000000000000000" pitchFamily="2" charset="2"/>
              <a:buChar char="Ø"/>
            </a:pPr>
            <a:r>
              <a:rPr lang="en-US" sz="2400" dirty="0">
                <a:solidFill>
                  <a:schemeClr val="bg2">
                    <a:lumMod val="25000"/>
                  </a:schemeClr>
                </a:solidFill>
                <a:latin typeface="Georgia" panose="02040502050405020303" pitchFamily="18" charset="0"/>
              </a:rPr>
              <a:t>    Comparison (Relational) Operators</a:t>
            </a:r>
            <a:endParaRPr lang="en-US" sz="2400" dirty="0">
              <a:solidFill>
                <a:schemeClr val="bg2">
                  <a:lumMod val="25000"/>
                </a:schemeClr>
              </a:solidFill>
              <a:latin typeface="Georgia" panose="02040502050405020303" pitchFamily="18" charset="0"/>
            </a:endParaRPr>
          </a:p>
          <a:p>
            <a:pPr marL="342900" indent="-342900">
              <a:buFont typeface="Wingdings" panose="05000000000000000000" pitchFamily="2" charset="2"/>
              <a:buChar char="Ø"/>
            </a:pPr>
            <a:r>
              <a:rPr lang="en-US" sz="2400" dirty="0">
                <a:solidFill>
                  <a:schemeClr val="bg2">
                    <a:lumMod val="25000"/>
                  </a:schemeClr>
                </a:solidFill>
                <a:latin typeface="Georgia" panose="02040502050405020303" pitchFamily="18" charset="0"/>
              </a:rPr>
              <a:t>    Assignment Operators</a:t>
            </a:r>
            <a:endParaRPr lang="en-US" sz="2400" dirty="0">
              <a:solidFill>
                <a:schemeClr val="bg2">
                  <a:lumMod val="25000"/>
                </a:schemeClr>
              </a:solidFill>
              <a:latin typeface="Georgia" panose="02040502050405020303" pitchFamily="18" charset="0"/>
            </a:endParaRPr>
          </a:p>
          <a:p>
            <a:pPr marL="342900" indent="-342900">
              <a:buFont typeface="Wingdings" panose="05000000000000000000" pitchFamily="2" charset="2"/>
              <a:buChar char="Ø"/>
            </a:pPr>
            <a:r>
              <a:rPr lang="en-US" sz="2400" dirty="0">
                <a:solidFill>
                  <a:schemeClr val="bg2">
                    <a:lumMod val="25000"/>
                  </a:schemeClr>
                </a:solidFill>
                <a:latin typeface="Georgia" panose="02040502050405020303" pitchFamily="18" charset="0"/>
              </a:rPr>
              <a:t>    Bitwise Operators</a:t>
            </a:r>
            <a:endParaRPr lang="en-US" sz="2400" dirty="0">
              <a:solidFill>
                <a:schemeClr val="bg2">
                  <a:lumMod val="25000"/>
                </a:schemeClr>
              </a:solidFill>
              <a:latin typeface="Georgia" panose="02040502050405020303" pitchFamily="18" charset="0"/>
            </a:endParaRPr>
          </a:p>
          <a:p>
            <a:pPr marL="342900" indent="-342900">
              <a:buFont typeface="Wingdings" panose="05000000000000000000" pitchFamily="2" charset="2"/>
              <a:buChar char="Ø"/>
            </a:pPr>
            <a:r>
              <a:rPr lang="en-US" sz="2400" dirty="0">
                <a:solidFill>
                  <a:schemeClr val="bg2">
                    <a:lumMod val="25000"/>
                  </a:schemeClr>
                </a:solidFill>
                <a:latin typeface="Georgia" panose="02040502050405020303" pitchFamily="18" charset="0"/>
              </a:rPr>
              <a:t>    Membership Operators</a:t>
            </a:r>
            <a:endParaRPr lang="en-US" sz="2400" dirty="0">
              <a:solidFill>
                <a:schemeClr val="bg2">
                  <a:lumMod val="25000"/>
                </a:schemeClr>
              </a:solidFill>
              <a:latin typeface="Georgia" panose="02040502050405020303" pitchFamily="18" charset="0"/>
            </a:endParaRPr>
          </a:p>
          <a:p>
            <a:pPr marL="342900" indent="-342900">
              <a:buFont typeface="Wingdings" panose="05000000000000000000" pitchFamily="2" charset="2"/>
              <a:buChar char="Ø"/>
            </a:pPr>
            <a:r>
              <a:rPr lang="en-US" sz="2400" dirty="0">
                <a:solidFill>
                  <a:schemeClr val="bg2">
                    <a:lumMod val="25000"/>
                  </a:schemeClr>
                </a:solidFill>
                <a:latin typeface="Georgia" panose="02040502050405020303" pitchFamily="18" charset="0"/>
              </a:rPr>
              <a:t>    Identity Operators</a:t>
            </a:r>
            <a:endParaRPr lang="en-US" sz="2400" dirty="0">
              <a:solidFill>
                <a:schemeClr val="bg2">
                  <a:lumMod val="25000"/>
                </a:schemeClr>
              </a:solidFill>
              <a:latin typeface="Georgia" panose="02040502050405020303" pitchFamily="18"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28593" y="232377"/>
            <a:ext cx="8915399" cy="962696"/>
          </a:xfrm>
        </p:spPr>
        <p:txBody>
          <a:bodyPr>
            <a:noAutofit/>
          </a:bodyPr>
          <a:lstStyle/>
          <a:p>
            <a:r>
              <a:rPr lang="en-US" sz="3600" b="1" dirty="0" smtClean="0">
                <a:solidFill>
                  <a:schemeClr val="bg2">
                    <a:lumMod val="25000"/>
                  </a:schemeClr>
                </a:solidFill>
                <a:latin typeface="Plantagenet Cherokee" panose="02020602070100000000" pitchFamily="18" charset="0"/>
              </a:rPr>
              <a:t>Arithmetic Operator</a:t>
            </a:r>
            <a:endParaRPr lang="en-US" sz="3600" b="1" dirty="0">
              <a:solidFill>
                <a:schemeClr val="bg2">
                  <a:lumMod val="25000"/>
                </a:schemeClr>
              </a:solidFill>
              <a:latin typeface="Plantagenet Cherokee" panose="02020602070100000000" pitchFamily="18" charset="0"/>
            </a:endParaRPr>
          </a:p>
        </p:txBody>
      </p:sp>
      <p:sp>
        <p:nvSpPr>
          <p:cNvPr id="3" name="Subtitle 2"/>
          <p:cNvSpPr>
            <a:spLocks noGrp="1"/>
          </p:cNvSpPr>
          <p:nvPr>
            <p:ph type="subTitle" idx="1"/>
          </p:nvPr>
        </p:nvSpPr>
        <p:spPr>
          <a:xfrm>
            <a:off x="1300765" y="1455669"/>
            <a:ext cx="9276567" cy="4332439"/>
          </a:xfrm>
        </p:spPr>
        <p:txBody>
          <a:bodyPr>
            <a:normAutofit/>
          </a:bodyPr>
          <a:lstStyle/>
          <a:p>
            <a:pPr marL="800100" lvl="1" indent="-342900" algn="l">
              <a:buFont typeface="Wingdings" panose="05000000000000000000" pitchFamily="2" charset="2"/>
              <a:buChar char="Ø"/>
            </a:pPr>
            <a:endParaRPr lang="en-US" sz="2200" dirty="0" smtClean="0">
              <a:solidFill>
                <a:srgbClr val="002060"/>
              </a:solidFill>
              <a:latin typeface="Calibri" panose="020F0502020204030204" pitchFamily="34" charset="0"/>
            </a:endParaRPr>
          </a:p>
          <a:p>
            <a:pPr>
              <a:spcBef>
                <a:spcPct val="0"/>
              </a:spcBef>
            </a:pPr>
            <a:endParaRPr lang="en-US" sz="3600" b="1" dirty="0">
              <a:solidFill>
                <a:schemeClr val="bg2">
                  <a:lumMod val="25000"/>
                </a:schemeClr>
              </a:solidFill>
              <a:latin typeface="Plantagenet Cherokee" panose="02020602070100000000" pitchFamily="18" charset="0"/>
              <a:ea typeface="+mj-ea"/>
              <a:cs typeface="+mj-cs"/>
            </a:endParaRPr>
          </a:p>
        </p:txBody>
      </p:sp>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pic>
        <p:nvPicPr>
          <p:cNvPr id="4" name="Picture 3"/>
          <p:cNvPicPr>
            <a:picLocks noChangeAspect="1"/>
          </p:cNvPicPr>
          <p:nvPr/>
        </p:nvPicPr>
        <p:blipFill>
          <a:blip r:embed="rId2"/>
          <a:stretch>
            <a:fillRect/>
          </a:stretch>
        </p:blipFill>
        <p:spPr>
          <a:xfrm>
            <a:off x="1849930" y="1982722"/>
            <a:ext cx="9618773" cy="3545972"/>
          </a:xfrm>
          <a:prstGeom prst="rect">
            <a:avLst/>
          </a:prstGeom>
          <a:ln w="3175" cap="sq" cmpd="thickThin">
            <a:solidFill>
              <a:srgbClr val="000000"/>
            </a:solidFill>
            <a:prstDash val="solid"/>
            <a:miter lim="800000"/>
            <a:headEnd/>
            <a:tailEnd/>
          </a:ln>
          <a:effectLst>
            <a:innerShdw blurRad="76200">
              <a:srgbClr val="000000"/>
            </a:innerShdw>
          </a:effec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28593" y="232377"/>
            <a:ext cx="8915399" cy="962696"/>
          </a:xfrm>
        </p:spPr>
        <p:txBody>
          <a:bodyPr>
            <a:noAutofit/>
          </a:bodyPr>
          <a:lstStyle/>
          <a:p>
            <a:r>
              <a:rPr lang="en-US" sz="3600" b="1" dirty="0" smtClean="0">
                <a:solidFill>
                  <a:schemeClr val="bg2">
                    <a:lumMod val="25000"/>
                  </a:schemeClr>
                </a:solidFill>
                <a:latin typeface="Plantagenet Cherokee" panose="02020602070100000000" pitchFamily="18" charset="0"/>
              </a:rPr>
              <a:t>Comparison Operator</a:t>
            </a:r>
            <a:endParaRPr lang="en-US" sz="3600" b="1" dirty="0">
              <a:solidFill>
                <a:schemeClr val="bg2">
                  <a:lumMod val="25000"/>
                </a:schemeClr>
              </a:solidFill>
              <a:latin typeface="Plantagenet Cherokee" panose="02020602070100000000" pitchFamily="18" charset="0"/>
            </a:endParaRPr>
          </a:p>
        </p:txBody>
      </p:sp>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pic>
        <p:nvPicPr>
          <p:cNvPr id="5" name="Picture 4"/>
          <p:cNvPicPr>
            <a:picLocks noChangeAspect="1"/>
          </p:cNvPicPr>
          <p:nvPr/>
        </p:nvPicPr>
        <p:blipFill>
          <a:blip r:embed="rId2"/>
          <a:stretch>
            <a:fillRect/>
          </a:stretch>
        </p:blipFill>
        <p:spPr>
          <a:xfrm>
            <a:off x="1790298" y="1982722"/>
            <a:ext cx="9778734" cy="3796450"/>
          </a:xfrm>
          <a:prstGeom prst="rect">
            <a:avLst/>
          </a:prstGeom>
          <a:ln w="3175" cap="sq" cmpd="thickThin">
            <a:solidFill>
              <a:srgbClr val="000000"/>
            </a:solidFill>
            <a:prstDash val="solid"/>
            <a:miter lim="800000"/>
            <a:headEnd/>
            <a:tailEnd/>
          </a:ln>
          <a:effectLst>
            <a:innerShdw blurRad="76200">
              <a:srgbClr val="000000"/>
            </a:innerShdw>
          </a:effec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28593" y="232377"/>
            <a:ext cx="8915399" cy="962696"/>
          </a:xfrm>
        </p:spPr>
        <p:txBody>
          <a:bodyPr>
            <a:noAutofit/>
          </a:bodyPr>
          <a:lstStyle/>
          <a:p>
            <a:r>
              <a:rPr lang="en-US" sz="3600" b="1" dirty="0">
                <a:solidFill>
                  <a:schemeClr val="bg2">
                    <a:lumMod val="25000"/>
                  </a:schemeClr>
                </a:solidFill>
                <a:latin typeface="Plantagenet Cherokee" panose="02020602070100000000" pitchFamily="18" charset="0"/>
              </a:rPr>
              <a:t>Assignment </a:t>
            </a:r>
            <a:r>
              <a:rPr lang="en-US" sz="3600" b="1" dirty="0" smtClean="0">
                <a:solidFill>
                  <a:schemeClr val="bg2">
                    <a:lumMod val="25000"/>
                  </a:schemeClr>
                </a:solidFill>
                <a:latin typeface="Plantagenet Cherokee" panose="02020602070100000000" pitchFamily="18" charset="0"/>
              </a:rPr>
              <a:t>Operator</a:t>
            </a:r>
            <a:endParaRPr lang="en-US" sz="3600" b="1" dirty="0">
              <a:solidFill>
                <a:schemeClr val="bg2">
                  <a:lumMod val="25000"/>
                </a:schemeClr>
              </a:solidFill>
              <a:latin typeface="Plantagenet Cherokee" panose="02020602070100000000" pitchFamily="18" charset="0"/>
            </a:endParaRPr>
          </a:p>
        </p:txBody>
      </p:sp>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pic>
        <p:nvPicPr>
          <p:cNvPr id="3" name="Picture 2"/>
          <p:cNvPicPr>
            <a:picLocks noChangeAspect="1"/>
          </p:cNvPicPr>
          <p:nvPr/>
        </p:nvPicPr>
        <p:blipFill>
          <a:blip r:embed="rId2"/>
          <a:stretch>
            <a:fillRect/>
          </a:stretch>
        </p:blipFill>
        <p:spPr>
          <a:xfrm>
            <a:off x="1800359" y="1626024"/>
            <a:ext cx="9249714" cy="4352925"/>
          </a:xfrm>
          <a:prstGeom prst="rect">
            <a:avLst/>
          </a:prstGeom>
          <a:ln w="3175" cap="sq" cmpd="thickThin">
            <a:solidFill>
              <a:srgbClr val="000000"/>
            </a:solidFill>
            <a:prstDash val="solid"/>
            <a:miter lim="800000"/>
            <a:headEnd/>
            <a:tailEnd/>
          </a:ln>
          <a:effectLst>
            <a:innerShdw blurRad="76200">
              <a:srgbClr val="000000"/>
            </a:innerShdw>
          </a:effec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28593" y="232377"/>
            <a:ext cx="8915399" cy="962696"/>
          </a:xfrm>
        </p:spPr>
        <p:txBody>
          <a:bodyPr>
            <a:noAutofit/>
          </a:bodyPr>
          <a:lstStyle/>
          <a:p>
            <a:r>
              <a:rPr lang="en-US" sz="3600" b="1" dirty="0">
                <a:solidFill>
                  <a:schemeClr val="bg2">
                    <a:lumMod val="25000"/>
                  </a:schemeClr>
                </a:solidFill>
                <a:latin typeface="Plantagenet Cherokee" panose="02020602070100000000" pitchFamily="18" charset="0"/>
              </a:rPr>
              <a:t>Bitwise </a:t>
            </a:r>
            <a:r>
              <a:rPr lang="en-US" sz="3600" b="1" dirty="0" smtClean="0">
                <a:solidFill>
                  <a:schemeClr val="bg2">
                    <a:lumMod val="25000"/>
                  </a:schemeClr>
                </a:solidFill>
                <a:latin typeface="Plantagenet Cherokee" panose="02020602070100000000" pitchFamily="18" charset="0"/>
              </a:rPr>
              <a:t>Operator</a:t>
            </a:r>
            <a:endParaRPr lang="en-US" sz="3600" b="1" dirty="0">
              <a:solidFill>
                <a:schemeClr val="bg2">
                  <a:lumMod val="25000"/>
                </a:schemeClr>
              </a:solidFill>
              <a:latin typeface="Plantagenet Cherokee" panose="02020602070100000000" pitchFamily="18" charset="0"/>
            </a:endParaRPr>
          </a:p>
        </p:txBody>
      </p:sp>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pic>
        <p:nvPicPr>
          <p:cNvPr id="4" name="Picture 3"/>
          <p:cNvPicPr>
            <a:picLocks noChangeAspect="1"/>
          </p:cNvPicPr>
          <p:nvPr/>
        </p:nvPicPr>
        <p:blipFill>
          <a:blip r:embed="rId2"/>
          <a:stretch>
            <a:fillRect/>
          </a:stretch>
        </p:blipFill>
        <p:spPr>
          <a:xfrm>
            <a:off x="1672979" y="1962148"/>
            <a:ext cx="9796010" cy="3537129"/>
          </a:xfrm>
          <a:prstGeom prst="rect">
            <a:avLst/>
          </a:prstGeom>
          <a:ln w="3175" cap="sq" cmpd="thickThin">
            <a:solidFill>
              <a:srgbClr val="000000"/>
            </a:solidFill>
            <a:prstDash val="solid"/>
            <a:miter lim="800000"/>
            <a:headEnd/>
            <a:tailEnd/>
          </a:ln>
          <a:effectLst>
            <a:innerShdw blurRad="76200">
              <a:srgbClr val="000000"/>
            </a:innerShdw>
          </a:effec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38296" y="321759"/>
            <a:ext cx="8915399" cy="962696"/>
          </a:xfrm>
        </p:spPr>
        <p:txBody>
          <a:bodyPr>
            <a:noAutofit/>
          </a:bodyPr>
          <a:lstStyle/>
          <a:p>
            <a:r>
              <a:rPr lang="en-US" sz="3600" b="1" dirty="0">
                <a:solidFill>
                  <a:schemeClr val="bg2">
                    <a:lumMod val="25000"/>
                  </a:schemeClr>
                </a:solidFill>
                <a:latin typeface="Plantagenet Cherokee" panose="02020602070100000000" pitchFamily="18" charset="0"/>
              </a:rPr>
              <a:t>Logical </a:t>
            </a:r>
            <a:r>
              <a:rPr lang="en-US" sz="3600" b="1" dirty="0" smtClean="0">
                <a:solidFill>
                  <a:schemeClr val="bg2">
                    <a:lumMod val="25000"/>
                  </a:schemeClr>
                </a:solidFill>
                <a:latin typeface="Plantagenet Cherokee" panose="02020602070100000000" pitchFamily="18" charset="0"/>
              </a:rPr>
              <a:t>Operator</a:t>
            </a:r>
            <a:endParaRPr lang="en-US" sz="3600" b="1" dirty="0">
              <a:solidFill>
                <a:schemeClr val="bg2">
                  <a:lumMod val="25000"/>
                </a:schemeClr>
              </a:solidFill>
              <a:latin typeface="Plantagenet Cherokee" panose="02020602070100000000" pitchFamily="18" charset="0"/>
            </a:endParaRPr>
          </a:p>
        </p:txBody>
      </p:sp>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pic>
        <p:nvPicPr>
          <p:cNvPr id="3" name="Picture 2"/>
          <p:cNvPicPr>
            <a:picLocks noChangeAspect="1"/>
          </p:cNvPicPr>
          <p:nvPr/>
        </p:nvPicPr>
        <p:blipFill>
          <a:blip r:embed="rId2"/>
          <a:stretch>
            <a:fillRect/>
          </a:stretch>
        </p:blipFill>
        <p:spPr>
          <a:xfrm>
            <a:off x="1496870" y="2758874"/>
            <a:ext cx="10210025" cy="1745508"/>
          </a:xfrm>
          <a:prstGeom prst="rect">
            <a:avLst/>
          </a:prstGeom>
          <a:ln w="3175" cap="sq" cmpd="thickThin">
            <a:solidFill>
              <a:srgbClr val="000000"/>
            </a:solidFill>
            <a:prstDash val="solid"/>
            <a:miter lim="800000"/>
            <a:headEnd/>
            <a:tailEnd/>
          </a:ln>
          <a:effectLst>
            <a:innerShdw blurRad="76200">
              <a:srgbClr val="000000"/>
            </a:innerShdw>
          </a:effec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54351" y="321759"/>
            <a:ext cx="8915399" cy="962696"/>
          </a:xfrm>
        </p:spPr>
        <p:txBody>
          <a:bodyPr>
            <a:noAutofit/>
          </a:bodyPr>
          <a:lstStyle/>
          <a:p>
            <a:r>
              <a:rPr lang="en-US" sz="3600" b="1" dirty="0" smtClean="0">
                <a:solidFill>
                  <a:schemeClr val="bg2">
                    <a:lumMod val="25000"/>
                  </a:schemeClr>
                </a:solidFill>
                <a:latin typeface="Plantagenet Cherokee" panose="02020602070100000000" pitchFamily="18" charset="0"/>
              </a:rPr>
              <a:t>Import statement</a:t>
            </a:r>
            <a:endParaRPr lang="en-US" sz="3600" b="1" dirty="0">
              <a:solidFill>
                <a:schemeClr val="bg2">
                  <a:lumMod val="25000"/>
                </a:schemeClr>
              </a:solidFill>
              <a:latin typeface="Plantagenet Cherokee" panose="02020602070100000000" pitchFamily="18" charset="0"/>
            </a:endParaRPr>
          </a:p>
        </p:txBody>
      </p:sp>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5" name="Rectangle 4"/>
          <p:cNvSpPr/>
          <p:nvPr/>
        </p:nvSpPr>
        <p:spPr>
          <a:xfrm>
            <a:off x="1373745" y="1460301"/>
            <a:ext cx="10268755" cy="2308324"/>
          </a:xfrm>
          <a:prstGeom prst="rect">
            <a:avLst/>
          </a:prstGeom>
        </p:spPr>
        <p:txBody>
          <a:bodyPr wrap="square">
            <a:spAutoFit/>
          </a:bodyPr>
          <a:lstStyle/>
          <a:p>
            <a:pPr marL="342900" indent="-342900">
              <a:buFont typeface="Wingdings" panose="05000000000000000000" pitchFamily="2" charset="2"/>
              <a:buChar char="Ø"/>
            </a:pPr>
            <a:r>
              <a:rPr lang="en-US" sz="2400" dirty="0">
                <a:solidFill>
                  <a:schemeClr val="bg2">
                    <a:lumMod val="25000"/>
                  </a:schemeClr>
                </a:solidFill>
                <a:latin typeface="Georgia" panose="02040502050405020303" pitchFamily="18" charset="0"/>
              </a:rPr>
              <a:t>Usually, import statement in Python is the first statement or first line of the program.</a:t>
            </a:r>
            <a:endParaRPr lang="en-US" sz="2400" dirty="0">
              <a:solidFill>
                <a:schemeClr val="bg2">
                  <a:lumMod val="25000"/>
                </a:schemeClr>
              </a:solidFill>
              <a:latin typeface="Georgia" panose="02040502050405020303" pitchFamily="18" charset="0"/>
            </a:endParaRPr>
          </a:p>
          <a:p>
            <a:pPr marL="342900" indent="-342900">
              <a:buFont typeface="Wingdings" panose="05000000000000000000" pitchFamily="2" charset="2"/>
              <a:buChar char="Ø"/>
            </a:pPr>
            <a:r>
              <a:rPr lang="en-US" sz="2400" dirty="0">
                <a:solidFill>
                  <a:schemeClr val="bg2">
                    <a:lumMod val="25000"/>
                  </a:schemeClr>
                </a:solidFill>
                <a:latin typeface="Georgia" panose="02040502050405020303" pitchFamily="18" charset="0"/>
              </a:rPr>
              <a:t>The import statement is used to import or load modules (modules are files, contains code to be used in other program just by importing that module using the import statement), for example, to load random module, follow the below general form.</a:t>
            </a:r>
            <a:endParaRPr lang="en-US" sz="2400" dirty="0">
              <a:solidFill>
                <a:schemeClr val="bg2">
                  <a:lumMod val="25000"/>
                </a:schemeClr>
              </a:solidFill>
              <a:latin typeface="Georgia" panose="02040502050405020303" pitchFamily="18" charset="0"/>
            </a:endParaRPr>
          </a:p>
        </p:txBody>
      </p:sp>
      <p:sp>
        <p:nvSpPr>
          <p:cNvPr id="7" name="Rectangle 1"/>
          <p:cNvSpPr>
            <a:spLocks noChangeArrowheads="1"/>
          </p:cNvSpPr>
          <p:nvPr/>
        </p:nvSpPr>
        <p:spPr bwMode="auto">
          <a:xfrm>
            <a:off x="2962140" y="4058692"/>
            <a:ext cx="600155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1" i="0" u="none" strike="noStrike" cap="none" normalizeH="0" baseline="0" dirty="0" smtClean="0">
                <a:ln>
                  <a:noFill/>
                </a:ln>
                <a:solidFill>
                  <a:schemeClr val="bg2">
                    <a:lumMod val="25000"/>
                  </a:schemeClr>
                </a:solidFill>
                <a:effectLst/>
                <a:latin typeface="Georgia" panose="02040502050405020303" pitchFamily="18" charset="0"/>
              </a:rPr>
              <a:t>Syntax:</a:t>
            </a:r>
            <a:endParaRPr kumimoji="0" lang="en-US" altLang="en-US" sz="2400" b="1" i="0" u="none" strike="noStrike" cap="none" normalizeH="0" baseline="0" dirty="0" smtClean="0">
              <a:ln>
                <a:noFill/>
              </a:ln>
              <a:solidFill>
                <a:schemeClr val="bg2">
                  <a:lumMod val="25000"/>
                </a:schemeClr>
              </a:solidFill>
              <a:effectLst/>
              <a:latin typeface="Georgia" panose="02040502050405020303"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2400" b="1" i="0" u="none" strike="noStrike" cap="none" normalizeH="0" baseline="0" dirty="0" smtClean="0">
              <a:ln>
                <a:noFill/>
              </a:ln>
              <a:solidFill>
                <a:schemeClr val="bg2">
                  <a:lumMod val="25000"/>
                </a:schemeClr>
              </a:solidFill>
              <a:effectLst/>
              <a:latin typeface="Georgia" panose="02040502050405020303"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lang="en-US" altLang="en-US" sz="2400" dirty="0">
                <a:solidFill>
                  <a:schemeClr val="bg2">
                    <a:lumMod val="25000"/>
                  </a:schemeClr>
                </a:solidFill>
                <a:latin typeface="Georgia" panose="02040502050405020303" pitchFamily="18" charset="0"/>
              </a:rPr>
              <a:t>	</a:t>
            </a: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import random </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28593" y="22432"/>
            <a:ext cx="8915399" cy="962696"/>
          </a:xfrm>
        </p:spPr>
        <p:txBody>
          <a:bodyPr>
            <a:noAutofit/>
          </a:bodyPr>
          <a:lstStyle/>
          <a:p>
            <a:r>
              <a:rPr lang="en-US" sz="3600" b="1" dirty="0" smtClean="0">
                <a:solidFill>
                  <a:schemeClr val="bg2">
                    <a:lumMod val="25000"/>
                  </a:schemeClr>
                </a:solidFill>
                <a:latin typeface="Plantagenet Cherokee" panose="02020602070100000000" pitchFamily="18" charset="0"/>
              </a:rPr>
              <a:t> Import statement example</a:t>
            </a:r>
            <a:endParaRPr lang="en-US" sz="3600" b="1" dirty="0">
              <a:solidFill>
                <a:schemeClr val="bg2">
                  <a:lumMod val="25000"/>
                </a:schemeClr>
              </a:solidFill>
              <a:latin typeface="Plantagenet Cherokee" panose="02020602070100000000" pitchFamily="18" charset="0"/>
            </a:endParaRPr>
          </a:p>
        </p:txBody>
      </p:sp>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3" name="Rectangle 1"/>
          <p:cNvSpPr>
            <a:spLocks noChangeArrowheads="1"/>
          </p:cNvSpPr>
          <p:nvPr/>
        </p:nvSpPr>
        <p:spPr bwMode="auto">
          <a:xfrm>
            <a:off x="882483" y="1284455"/>
            <a:ext cx="1008321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 Python import Statement Example</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import random </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val1 = </a:t>
            </a:r>
            <a:r>
              <a:rPr kumimoji="0" lang="en-US" altLang="en-US" sz="2400" b="0" i="0" u="none" strike="noStrike" cap="none" normalizeH="0" baseline="0" dirty="0" err="1" smtClean="0">
                <a:ln>
                  <a:noFill/>
                </a:ln>
                <a:solidFill>
                  <a:schemeClr val="bg2">
                    <a:lumMod val="25000"/>
                  </a:schemeClr>
                </a:solidFill>
                <a:effectLst/>
                <a:latin typeface="Georgia" panose="02040502050405020303" pitchFamily="18" charset="0"/>
              </a:rPr>
              <a:t>random.randrange</a:t>
            </a: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(100); </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val2 = </a:t>
            </a:r>
            <a:r>
              <a:rPr kumimoji="0" lang="en-US" altLang="en-US" sz="2400" b="0" i="0" u="none" strike="noStrike" cap="none" normalizeH="0" baseline="0" dirty="0" err="1" smtClean="0">
                <a:ln>
                  <a:noFill/>
                </a:ln>
                <a:solidFill>
                  <a:schemeClr val="bg2">
                    <a:lumMod val="25000"/>
                  </a:schemeClr>
                </a:solidFill>
                <a:effectLst/>
                <a:latin typeface="Georgia" panose="02040502050405020303" pitchFamily="18" charset="0"/>
              </a:rPr>
              <a:t>random.randrange</a:t>
            </a: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(100); </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print("Following are the two generated random numbers \ under 100."); </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print("First: ",val1); </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print("Second: ",val2); </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p:txBody>
      </p:sp>
      <p:pic>
        <p:nvPicPr>
          <p:cNvPr id="4" name="Picture 3"/>
          <p:cNvPicPr>
            <a:picLocks noChangeAspect="1"/>
          </p:cNvPicPr>
          <p:nvPr/>
        </p:nvPicPr>
        <p:blipFill>
          <a:blip r:embed="rId2"/>
          <a:stretch>
            <a:fillRect/>
          </a:stretch>
        </p:blipFill>
        <p:spPr>
          <a:xfrm>
            <a:off x="4835480" y="3421869"/>
            <a:ext cx="5715000" cy="3038475"/>
          </a:xfrm>
          <a:prstGeom prst="rect">
            <a:avLst/>
          </a:prstGeom>
          <a:ln w="6350" cap="sq" cmpd="thickThin">
            <a:solidFill>
              <a:srgbClr val="000000"/>
            </a:solidFill>
            <a:prstDash val="solid"/>
            <a:miter lim="800000"/>
            <a:headEnd/>
            <a:tailEnd/>
          </a:ln>
          <a:effectLst>
            <a:innerShdw blurRad="76200">
              <a:srgbClr val="000000"/>
            </a:innerShdw>
          </a:effectLst>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64199" y="204452"/>
            <a:ext cx="8915399" cy="962696"/>
          </a:xfrm>
        </p:spPr>
        <p:txBody>
          <a:bodyPr>
            <a:noAutofit/>
          </a:bodyPr>
          <a:lstStyle/>
          <a:p>
            <a:r>
              <a:rPr lang="en-US" sz="3600" b="1" dirty="0">
                <a:solidFill>
                  <a:schemeClr val="bg2">
                    <a:lumMod val="25000"/>
                  </a:schemeClr>
                </a:solidFill>
                <a:latin typeface="Plantagenet Cherokee" panose="02020602070100000000" pitchFamily="18" charset="0"/>
              </a:rPr>
              <a:t>Decision Making</a:t>
            </a:r>
            <a:endParaRPr lang="en-US" sz="3600" b="1" dirty="0">
              <a:solidFill>
                <a:schemeClr val="bg2">
                  <a:lumMod val="25000"/>
                </a:schemeClr>
              </a:solidFill>
              <a:latin typeface="Plantagenet Cherokee" panose="02020602070100000000" pitchFamily="18" charset="0"/>
            </a:endParaRPr>
          </a:p>
        </p:txBody>
      </p:sp>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3" name="Rectangle 1"/>
          <p:cNvSpPr>
            <a:spLocks noChangeArrowheads="1"/>
          </p:cNvSpPr>
          <p:nvPr/>
        </p:nvSpPr>
        <p:spPr bwMode="auto">
          <a:xfrm>
            <a:off x="1650922" y="1332023"/>
            <a:ext cx="1034789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r>
              <a:rPr lang="en-US" sz="2400" dirty="0">
                <a:solidFill>
                  <a:schemeClr val="bg2">
                    <a:lumMod val="25000"/>
                  </a:schemeClr>
                </a:solidFill>
                <a:latin typeface="Georgia" panose="02040502050405020303" pitchFamily="18" charset="0"/>
              </a:rPr>
              <a:t>Decision making statements in python, helps in controlling your program accordingly. </a:t>
            </a:r>
            <a:endParaRPr lang="en-US" sz="2400" dirty="0">
              <a:solidFill>
                <a:schemeClr val="bg2">
                  <a:lumMod val="25000"/>
                </a:schemeClr>
              </a:solidFill>
              <a:latin typeface="Georgia" panose="02040502050405020303" pitchFamily="18" charset="0"/>
            </a:endParaRPr>
          </a:p>
        </p:txBody>
      </p:sp>
      <p:sp>
        <p:nvSpPr>
          <p:cNvPr id="5" name="Rectangle 4"/>
          <p:cNvSpPr/>
          <p:nvPr/>
        </p:nvSpPr>
        <p:spPr>
          <a:xfrm>
            <a:off x="2505985" y="3134760"/>
            <a:ext cx="3555782" cy="1569660"/>
          </a:xfrm>
          <a:prstGeom prst="rect">
            <a:avLst/>
          </a:prstGeom>
          <a:noFill/>
        </p:spPr>
        <p:txBody>
          <a:bodyPr wrap="none" lIns="91440" tIns="45720" rIns="91440" bIns="45720">
            <a:spAutoFit/>
          </a:bodyPr>
          <a:lstStyle/>
          <a:p>
            <a:pPr marL="342900" indent="-342900">
              <a:buFont typeface="Wingdings" panose="05000000000000000000" pitchFamily="2" charset="2"/>
              <a:buChar char="Ø"/>
            </a:pPr>
            <a:r>
              <a:rPr lang="en-US" sz="2400" b="0" cap="none" spc="0" dirty="0" smtClean="0">
                <a:ln w="0"/>
                <a:solidFill>
                  <a:schemeClr val="bg2">
                    <a:lumMod val="25000"/>
                  </a:schemeClr>
                </a:solidFill>
                <a:latin typeface="Georgia" panose="02040502050405020303" pitchFamily="18" charset="0"/>
              </a:rPr>
              <a:t>If statement</a:t>
            </a:r>
            <a:endParaRPr lang="en-US" sz="2400" b="0" cap="none" spc="0" dirty="0" smtClean="0">
              <a:ln w="0"/>
              <a:solidFill>
                <a:schemeClr val="bg2">
                  <a:lumMod val="25000"/>
                </a:schemeClr>
              </a:solidFill>
              <a:latin typeface="Georgia" panose="02040502050405020303" pitchFamily="18" charset="0"/>
            </a:endParaRPr>
          </a:p>
          <a:p>
            <a:pPr marL="342900" indent="-342900">
              <a:buFont typeface="Wingdings" panose="05000000000000000000" pitchFamily="2" charset="2"/>
              <a:buChar char="Ø"/>
            </a:pPr>
            <a:r>
              <a:rPr lang="en-US" sz="2400" dirty="0" smtClean="0">
                <a:ln w="0"/>
                <a:solidFill>
                  <a:schemeClr val="bg2">
                    <a:lumMod val="25000"/>
                  </a:schemeClr>
                </a:solidFill>
                <a:latin typeface="Georgia" panose="02040502050405020303" pitchFamily="18" charset="0"/>
              </a:rPr>
              <a:t>If else statement</a:t>
            </a:r>
            <a:endParaRPr lang="en-US" sz="2400" dirty="0" smtClean="0">
              <a:ln w="0"/>
              <a:solidFill>
                <a:schemeClr val="bg2">
                  <a:lumMod val="25000"/>
                </a:schemeClr>
              </a:solidFill>
              <a:latin typeface="Georgia" panose="02040502050405020303" pitchFamily="18" charset="0"/>
            </a:endParaRPr>
          </a:p>
          <a:p>
            <a:pPr marL="342900" indent="-342900">
              <a:buFont typeface="Wingdings" panose="05000000000000000000" pitchFamily="2" charset="2"/>
              <a:buChar char="Ø"/>
            </a:pPr>
            <a:r>
              <a:rPr lang="en-US" sz="2400" dirty="0" smtClean="0">
                <a:ln w="0"/>
                <a:solidFill>
                  <a:schemeClr val="bg2">
                    <a:lumMod val="25000"/>
                  </a:schemeClr>
                </a:solidFill>
                <a:latin typeface="Georgia" panose="02040502050405020303" pitchFamily="18" charset="0"/>
              </a:rPr>
              <a:t>If </a:t>
            </a:r>
            <a:r>
              <a:rPr lang="en-US" sz="2400" smtClean="0">
                <a:ln w="0"/>
                <a:solidFill>
                  <a:schemeClr val="bg2">
                    <a:lumMod val="25000"/>
                  </a:schemeClr>
                </a:solidFill>
                <a:latin typeface="Georgia" panose="02040502050405020303" pitchFamily="18" charset="0"/>
              </a:rPr>
              <a:t>elseif</a:t>
            </a:r>
            <a:r>
              <a:rPr lang="en-US" sz="2400" dirty="0" smtClean="0">
                <a:ln w="0"/>
                <a:solidFill>
                  <a:schemeClr val="bg2">
                    <a:lumMod val="25000"/>
                  </a:schemeClr>
                </a:solidFill>
                <a:latin typeface="Georgia" panose="02040502050405020303" pitchFamily="18" charset="0"/>
              </a:rPr>
              <a:t> else statement</a:t>
            </a:r>
            <a:endParaRPr lang="en-US" sz="2400" dirty="0" smtClean="0">
              <a:ln w="0"/>
              <a:solidFill>
                <a:schemeClr val="bg2">
                  <a:lumMod val="25000"/>
                </a:schemeClr>
              </a:solidFill>
              <a:latin typeface="Georgia" panose="02040502050405020303" pitchFamily="18" charset="0"/>
            </a:endParaRPr>
          </a:p>
          <a:p>
            <a:pPr marL="342900" indent="-342900">
              <a:buFont typeface="Wingdings" panose="05000000000000000000" pitchFamily="2" charset="2"/>
              <a:buChar char="Ø"/>
            </a:pPr>
            <a:r>
              <a:rPr lang="en-US" sz="2400" b="0" cap="none" spc="0" dirty="0" smtClean="0">
                <a:ln w="0"/>
                <a:solidFill>
                  <a:schemeClr val="bg2">
                    <a:lumMod val="25000"/>
                  </a:schemeClr>
                </a:solidFill>
                <a:latin typeface="Georgia" panose="02040502050405020303" pitchFamily="18" charset="0"/>
              </a:rPr>
              <a:t>Nested if statement</a:t>
            </a:r>
            <a:endParaRPr lang="en-US" sz="2400" b="0" cap="none" spc="0" dirty="0">
              <a:ln w="0"/>
              <a:solidFill>
                <a:schemeClr val="bg2">
                  <a:lumMod val="25000"/>
                </a:schemeClr>
              </a:solidFill>
              <a:latin typeface="Georgia" panose="02040502050405020303" pitchFamily="18" charset="0"/>
            </a:endParaRPr>
          </a:p>
        </p:txBody>
      </p:sp>
      <p:pic>
        <p:nvPicPr>
          <p:cNvPr id="4" name="Picture 3"/>
          <p:cNvPicPr>
            <a:picLocks noChangeAspect="1"/>
          </p:cNvPicPr>
          <p:nvPr/>
        </p:nvPicPr>
        <p:blipFill>
          <a:blip r:embed="rId2"/>
          <a:stretch>
            <a:fillRect/>
          </a:stretch>
        </p:blipFill>
        <p:spPr>
          <a:xfrm>
            <a:off x="6797184" y="2662747"/>
            <a:ext cx="4493226" cy="2527440"/>
          </a:xfrm>
          <a:prstGeom prst="rect">
            <a:avLst/>
          </a:prstGeom>
          <a:ln w="6350" cap="sq" cmpd="thickThin">
            <a:solidFill>
              <a:srgbClr val="000000"/>
            </a:solidFill>
            <a:prstDash val="solid"/>
            <a:miter lim="800000"/>
            <a:headEnd/>
            <a:tailEnd/>
          </a:ln>
          <a:effectLst>
            <a:innerShdw blurRad="76200">
              <a:srgbClr val="000000"/>
            </a:innerShdw>
          </a:effec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3" name="Rectangle 1"/>
          <p:cNvSpPr>
            <a:spLocks noChangeArrowheads="1"/>
          </p:cNvSpPr>
          <p:nvPr/>
        </p:nvSpPr>
        <p:spPr bwMode="auto">
          <a:xfrm>
            <a:off x="1599406" y="1460812"/>
            <a:ext cx="1034789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r>
              <a:rPr lang="en-US" sz="2400" dirty="0">
                <a:solidFill>
                  <a:schemeClr val="bg2">
                    <a:lumMod val="25000"/>
                  </a:schemeClr>
                </a:solidFill>
                <a:latin typeface="Georgia" panose="02040502050405020303" pitchFamily="18" charset="0"/>
              </a:rPr>
              <a:t>Decision making is required when we want to execute a code only if a certain condition is satisfied.</a:t>
            </a:r>
            <a:endParaRPr lang="en-US" sz="2400" dirty="0">
              <a:solidFill>
                <a:schemeClr val="bg2">
                  <a:lumMod val="25000"/>
                </a:schemeClr>
              </a:solidFill>
              <a:latin typeface="Georgia" panose="02040502050405020303" pitchFamily="18" charset="0"/>
            </a:endParaRPr>
          </a:p>
        </p:txBody>
      </p:sp>
      <p:sp>
        <p:nvSpPr>
          <p:cNvPr id="4" name="Rectangle 1"/>
          <p:cNvSpPr>
            <a:spLocks noChangeArrowheads="1"/>
          </p:cNvSpPr>
          <p:nvPr/>
        </p:nvSpPr>
        <p:spPr bwMode="auto">
          <a:xfrm>
            <a:off x="2640169" y="2809243"/>
            <a:ext cx="403027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1" i="0" u="none" strike="noStrike" cap="none" normalizeH="0" baseline="0" dirty="0" smtClean="0">
                <a:ln>
                  <a:noFill/>
                </a:ln>
                <a:solidFill>
                  <a:schemeClr val="bg2">
                    <a:lumMod val="25000"/>
                  </a:schemeClr>
                </a:solidFill>
                <a:effectLst/>
                <a:latin typeface="Georgia" panose="02040502050405020303" pitchFamily="18" charset="0"/>
              </a:rPr>
              <a:t>Syntax:</a:t>
            </a:r>
            <a:endParaRPr kumimoji="0" lang="en-US" altLang="en-US" sz="2400" b="1" i="0" u="none" strike="noStrike" cap="none" normalizeH="0" baseline="0" dirty="0" smtClean="0">
              <a:ln>
                <a:noFill/>
              </a:ln>
              <a:solidFill>
                <a:schemeClr val="bg2">
                  <a:lumMod val="25000"/>
                </a:schemeClr>
              </a:solidFill>
              <a:effectLst/>
              <a:latin typeface="Georgia" panose="02040502050405020303"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altLang="en-US" sz="2400" dirty="0">
              <a:solidFill>
                <a:schemeClr val="bg2">
                  <a:lumMod val="25000"/>
                </a:schemeClr>
              </a:solidFill>
              <a:latin typeface="Georgia" panose="02040502050405020303" pitchFamily="18" charset="0"/>
            </a:endParaRPr>
          </a:p>
          <a:p>
            <a:pPr lvl="3" eaLnBrk="0" fontAlgn="base" hangingPunct="0">
              <a:spcBef>
                <a:spcPct val="0"/>
              </a:spcBef>
              <a:spcAft>
                <a:spcPct val="0"/>
              </a:spcAft>
            </a:pP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if test expression: </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a:p>
            <a:pPr lvl="3" eaLnBrk="0" fontAlgn="base" hangingPunct="0">
              <a:spcBef>
                <a:spcPct val="0"/>
              </a:spcBef>
              <a:spcAft>
                <a:spcPct val="0"/>
              </a:spcAft>
            </a:pPr>
            <a:r>
              <a:rPr lang="en-US" altLang="en-US" sz="2400" dirty="0" smtClean="0">
                <a:solidFill>
                  <a:schemeClr val="bg2">
                    <a:lumMod val="25000"/>
                  </a:schemeClr>
                </a:solidFill>
                <a:latin typeface="Georgia" panose="02040502050405020303" pitchFamily="18" charset="0"/>
              </a:rPr>
              <a:t>	</a:t>
            </a: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statement’s </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p:txBody>
      </p:sp>
      <p:sp>
        <p:nvSpPr>
          <p:cNvPr id="8" name="Rectangle 7"/>
          <p:cNvSpPr/>
          <p:nvPr/>
        </p:nvSpPr>
        <p:spPr>
          <a:xfrm>
            <a:off x="782561" y="685692"/>
            <a:ext cx="2646558" cy="646331"/>
          </a:xfrm>
          <a:prstGeom prst="rect">
            <a:avLst/>
          </a:prstGeom>
        </p:spPr>
        <p:txBody>
          <a:bodyPr wrap="none">
            <a:spAutoFit/>
          </a:bodyPr>
          <a:lstStyle/>
          <a:p>
            <a:r>
              <a:rPr lang="en-US" sz="3600" b="1" dirty="0" smtClean="0">
                <a:solidFill>
                  <a:schemeClr val="bg2">
                    <a:lumMod val="25000"/>
                  </a:schemeClr>
                </a:solidFill>
                <a:latin typeface="Plantagenet Cherokee" panose="02020602070100000000" pitchFamily="18" charset="0"/>
              </a:rPr>
              <a:t>If statement</a:t>
            </a:r>
            <a:endParaRPr lang="en-US" sz="3600" b="1" dirty="0">
              <a:solidFill>
                <a:schemeClr val="bg2">
                  <a:lumMod val="25000"/>
                </a:schemeClr>
              </a:solidFill>
              <a:latin typeface="Plantagenet Cherokee" panose="02020602070100000000" pitchFamily="18" charset="0"/>
            </a:endParaRPr>
          </a:p>
        </p:txBody>
      </p:sp>
      <p:pic>
        <p:nvPicPr>
          <p:cNvPr id="9" name="Picture 8"/>
          <p:cNvPicPr>
            <a:picLocks noChangeAspect="1"/>
          </p:cNvPicPr>
          <p:nvPr/>
        </p:nvPicPr>
        <p:blipFill>
          <a:blip r:embed="rId2"/>
          <a:stretch>
            <a:fillRect/>
          </a:stretch>
        </p:blipFill>
        <p:spPr>
          <a:xfrm>
            <a:off x="7242959" y="2395945"/>
            <a:ext cx="3601052" cy="3965916"/>
          </a:xfrm>
          <a:prstGeom prst="rect">
            <a:avLst/>
          </a:prstGeom>
          <a:ln w="3175" cap="sq" cmpd="thickThin">
            <a:solidFill>
              <a:srgbClr val="000000"/>
            </a:solidFill>
            <a:prstDash val="solid"/>
            <a:miter lim="800000"/>
            <a:headEnd/>
            <a:tailEnd/>
          </a:ln>
          <a:effectLst>
            <a:innerShdw blurRad="76200">
              <a:srgbClr val="000000"/>
            </a:innerShdw>
          </a:effec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3" name="Rectangle 1"/>
          <p:cNvSpPr>
            <a:spLocks noChangeArrowheads="1"/>
          </p:cNvSpPr>
          <p:nvPr/>
        </p:nvSpPr>
        <p:spPr bwMode="auto">
          <a:xfrm>
            <a:off x="1599406" y="1460812"/>
            <a:ext cx="1034789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r>
              <a:rPr lang="en-US" sz="2400" dirty="0">
                <a:solidFill>
                  <a:schemeClr val="bg2">
                    <a:lumMod val="25000"/>
                  </a:schemeClr>
                </a:solidFill>
                <a:latin typeface="Georgia" panose="02040502050405020303" pitchFamily="18" charset="0"/>
              </a:rPr>
              <a:t>Decision making is required when we want to execute a code only if a certain condition is satisfied.</a:t>
            </a:r>
            <a:endParaRPr lang="en-US" sz="2400" dirty="0">
              <a:solidFill>
                <a:schemeClr val="bg2">
                  <a:lumMod val="25000"/>
                </a:schemeClr>
              </a:solidFill>
              <a:latin typeface="Georgia" panose="02040502050405020303" pitchFamily="18" charset="0"/>
            </a:endParaRPr>
          </a:p>
        </p:txBody>
      </p:sp>
      <p:sp>
        <p:nvSpPr>
          <p:cNvPr id="8" name="Rectangle 7"/>
          <p:cNvSpPr/>
          <p:nvPr/>
        </p:nvSpPr>
        <p:spPr>
          <a:xfrm>
            <a:off x="782561" y="685692"/>
            <a:ext cx="4488088" cy="646331"/>
          </a:xfrm>
          <a:prstGeom prst="rect">
            <a:avLst/>
          </a:prstGeom>
        </p:spPr>
        <p:txBody>
          <a:bodyPr wrap="none">
            <a:spAutoFit/>
          </a:bodyPr>
          <a:lstStyle/>
          <a:p>
            <a:r>
              <a:rPr lang="en-US" sz="3600" b="1" dirty="0" smtClean="0">
                <a:solidFill>
                  <a:schemeClr val="bg2">
                    <a:lumMod val="25000"/>
                  </a:schemeClr>
                </a:solidFill>
                <a:latin typeface="Plantagenet Cherokee" panose="02020602070100000000" pitchFamily="18" charset="0"/>
              </a:rPr>
              <a:t>If statement example</a:t>
            </a:r>
            <a:endParaRPr lang="en-US" sz="3600" b="1" dirty="0">
              <a:solidFill>
                <a:schemeClr val="bg2">
                  <a:lumMod val="25000"/>
                </a:schemeClr>
              </a:solidFill>
              <a:latin typeface="Plantagenet Cherokee" panose="02020602070100000000" pitchFamily="18" charset="0"/>
            </a:endParaRPr>
          </a:p>
        </p:txBody>
      </p:sp>
      <p:pic>
        <p:nvPicPr>
          <p:cNvPr id="2" name="Picture 1"/>
          <p:cNvPicPr>
            <a:picLocks noChangeAspect="1"/>
          </p:cNvPicPr>
          <p:nvPr/>
        </p:nvPicPr>
        <p:blipFill>
          <a:blip r:embed="rId2"/>
          <a:stretch>
            <a:fillRect/>
          </a:stretch>
        </p:blipFill>
        <p:spPr>
          <a:xfrm>
            <a:off x="1055745" y="2699663"/>
            <a:ext cx="5420128" cy="3109242"/>
          </a:xfrm>
          <a:prstGeom prst="rect">
            <a:avLst/>
          </a:prstGeom>
          <a:ln w="3175" cap="sq" cmpd="thickThin">
            <a:solidFill>
              <a:srgbClr val="000000"/>
            </a:solidFill>
            <a:prstDash val="solid"/>
            <a:miter lim="800000"/>
            <a:headEnd/>
            <a:tailEnd/>
          </a:ln>
          <a:effectLst>
            <a:innerShdw blurRad="76200">
              <a:srgbClr val="000000"/>
            </a:innerShdw>
          </a:effectLst>
        </p:spPr>
      </p:pic>
      <p:pic>
        <p:nvPicPr>
          <p:cNvPr id="5" name="Picture 4"/>
          <p:cNvPicPr>
            <a:picLocks noChangeAspect="1"/>
          </p:cNvPicPr>
          <p:nvPr/>
        </p:nvPicPr>
        <p:blipFill>
          <a:blip r:embed="rId3"/>
          <a:stretch>
            <a:fillRect/>
          </a:stretch>
        </p:blipFill>
        <p:spPr>
          <a:xfrm>
            <a:off x="6580710" y="3367097"/>
            <a:ext cx="5366590" cy="1469946"/>
          </a:xfrm>
          <a:prstGeom prst="rect">
            <a:avLst/>
          </a:prstGeom>
          <a:ln w="3175" cap="sq" cmpd="thickThin">
            <a:solidFill>
              <a:srgbClr val="000000"/>
            </a:solidFill>
            <a:prstDash val="solid"/>
            <a:miter lim="800000"/>
            <a:headEnd/>
            <a:tailEnd/>
          </a:ln>
          <a:effectLst>
            <a:innerShdw blurRad="76200">
              <a:srgbClr val="000000"/>
            </a:innerShdw>
          </a:effectLst>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8" name="Rectangle 7"/>
          <p:cNvSpPr/>
          <p:nvPr/>
        </p:nvSpPr>
        <p:spPr>
          <a:xfrm>
            <a:off x="782561" y="685692"/>
            <a:ext cx="4000069" cy="646331"/>
          </a:xfrm>
          <a:prstGeom prst="rect">
            <a:avLst/>
          </a:prstGeom>
        </p:spPr>
        <p:txBody>
          <a:bodyPr wrap="none">
            <a:spAutoFit/>
          </a:bodyPr>
          <a:lstStyle/>
          <a:p>
            <a:r>
              <a:rPr lang="en-US" sz="3600" b="1" dirty="0" smtClean="0">
                <a:solidFill>
                  <a:schemeClr val="bg2">
                    <a:lumMod val="25000"/>
                  </a:schemeClr>
                </a:solidFill>
                <a:latin typeface="Plantagenet Cherokee" panose="02020602070100000000" pitchFamily="18" charset="0"/>
              </a:rPr>
              <a:t>If… else statement</a:t>
            </a:r>
            <a:endParaRPr lang="en-US" sz="3600" b="1" dirty="0">
              <a:solidFill>
                <a:schemeClr val="bg2">
                  <a:lumMod val="25000"/>
                </a:schemeClr>
              </a:solidFill>
              <a:latin typeface="Plantagenet Cherokee" panose="02020602070100000000" pitchFamily="18" charset="0"/>
            </a:endParaRPr>
          </a:p>
        </p:txBody>
      </p:sp>
      <p:sp>
        <p:nvSpPr>
          <p:cNvPr id="2" name="Rectangle 1"/>
          <p:cNvSpPr>
            <a:spLocks noChangeArrowheads="1"/>
          </p:cNvSpPr>
          <p:nvPr/>
        </p:nvSpPr>
        <p:spPr bwMode="auto">
          <a:xfrm>
            <a:off x="1099930" y="1388490"/>
            <a:ext cx="10813774"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The </a:t>
            </a:r>
            <a:r>
              <a:rPr kumimoji="0" lang="en-US" altLang="en-US" sz="2400" b="0" i="0" u="none" strike="noStrike" cap="none" normalizeH="0" baseline="0" dirty="0" err="1" smtClean="0">
                <a:ln>
                  <a:noFill/>
                </a:ln>
                <a:solidFill>
                  <a:schemeClr val="bg2">
                    <a:lumMod val="25000"/>
                  </a:schemeClr>
                </a:solidFill>
                <a:effectLst/>
                <a:latin typeface="Georgia" panose="02040502050405020303" pitchFamily="18" charset="0"/>
              </a:rPr>
              <a:t>if..else</a:t>
            </a: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 statement evaluates test expression and will execute body of if only when test condition is True.</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If the condition is False, body of else is executed. Indentation is used to separate the blocks</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p:txBody>
      </p:sp>
      <p:sp>
        <p:nvSpPr>
          <p:cNvPr id="7" name="Rectangle 3"/>
          <p:cNvSpPr>
            <a:spLocks noChangeArrowheads="1"/>
          </p:cNvSpPr>
          <p:nvPr/>
        </p:nvSpPr>
        <p:spPr bwMode="auto">
          <a:xfrm>
            <a:off x="2292265" y="3474161"/>
            <a:ext cx="4479596" cy="23567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1" i="0" u="none" strike="noStrike" cap="none" normalizeH="0" baseline="0" dirty="0" smtClean="0">
                <a:ln>
                  <a:noFill/>
                </a:ln>
                <a:solidFill>
                  <a:schemeClr val="bg2">
                    <a:lumMod val="25000"/>
                  </a:schemeClr>
                </a:solidFill>
                <a:effectLst/>
                <a:latin typeface="Georgia" panose="02040502050405020303" pitchFamily="18" charset="0"/>
              </a:rPr>
              <a:t>Syntax:</a:t>
            </a:r>
            <a:endParaRPr kumimoji="0" lang="en-US" altLang="en-US" sz="2400" b="1" i="0" u="none" strike="noStrike" cap="none" normalizeH="0" baseline="0" dirty="0" smtClean="0">
              <a:ln>
                <a:noFill/>
              </a:ln>
              <a:solidFill>
                <a:schemeClr val="bg2">
                  <a:lumMod val="25000"/>
                </a:schemeClr>
              </a:solidFill>
              <a:effectLst/>
              <a:latin typeface="Georgia" panose="02040502050405020303"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altLang="en-US" sz="2400" dirty="0">
              <a:solidFill>
                <a:schemeClr val="bg2">
                  <a:lumMod val="25000"/>
                </a:schemeClr>
              </a:solidFill>
              <a:latin typeface="Georgia" panose="02040502050405020303" pitchFamily="18" charset="0"/>
            </a:endParaRPr>
          </a:p>
          <a:p>
            <a:pPr lvl="2" eaLnBrk="0" fontAlgn="base" hangingPunct="0">
              <a:spcBef>
                <a:spcPct val="0"/>
              </a:spcBef>
              <a:spcAft>
                <a:spcPct val="0"/>
              </a:spcAft>
            </a:pP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if test expression: </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a:p>
            <a:pPr lvl="2" eaLnBrk="0" fontAlgn="base" hangingPunct="0">
              <a:spcBef>
                <a:spcPct val="0"/>
              </a:spcBef>
              <a:spcAft>
                <a:spcPct val="0"/>
              </a:spcAft>
            </a:pPr>
            <a:r>
              <a:rPr lang="en-US" altLang="en-US" sz="2400" dirty="0">
                <a:solidFill>
                  <a:schemeClr val="bg2">
                    <a:lumMod val="25000"/>
                  </a:schemeClr>
                </a:solidFill>
                <a:latin typeface="Georgia" panose="02040502050405020303" pitchFamily="18" charset="0"/>
              </a:rPr>
              <a:t>	</a:t>
            </a: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Body of </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a:p>
            <a:pPr lvl="2" eaLnBrk="0" fontAlgn="base" hangingPunct="0">
              <a:spcBef>
                <a:spcPct val="0"/>
              </a:spcBef>
              <a:spcAft>
                <a:spcPct val="0"/>
              </a:spcAft>
            </a:pP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if else: </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a:p>
            <a:pPr lvl="2" eaLnBrk="0" fontAlgn="base" hangingPunct="0">
              <a:spcBef>
                <a:spcPct val="0"/>
              </a:spcBef>
              <a:spcAft>
                <a:spcPct val="0"/>
              </a:spcAft>
            </a:pPr>
            <a:r>
              <a:rPr lang="en-US" altLang="en-US" sz="2400" dirty="0">
                <a:solidFill>
                  <a:schemeClr val="bg2">
                    <a:lumMod val="25000"/>
                  </a:schemeClr>
                </a:solidFill>
                <a:latin typeface="Georgia" panose="02040502050405020303" pitchFamily="18" charset="0"/>
              </a:rPr>
              <a:t>	</a:t>
            </a: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Body of else </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p:txBody>
      </p:sp>
      <p:pic>
        <p:nvPicPr>
          <p:cNvPr id="10" name="Picture 9"/>
          <p:cNvPicPr>
            <a:picLocks noChangeAspect="1"/>
          </p:cNvPicPr>
          <p:nvPr/>
        </p:nvPicPr>
        <p:blipFill>
          <a:blip r:embed="rId2"/>
          <a:stretch>
            <a:fillRect/>
          </a:stretch>
        </p:blipFill>
        <p:spPr>
          <a:xfrm>
            <a:off x="6745357" y="2811532"/>
            <a:ext cx="4028660" cy="3905459"/>
          </a:xfrm>
          <a:prstGeom prst="rect">
            <a:avLst/>
          </a:prstGeom>
          <a:ln w="3175" cap="sq" cmpd="thickThin">
            <a:solidFill>
              <a:srgbClr val="000000"/>
            </a:solidFill>
            <a:prstDash val="solid"/>
            <a:miter lim="800000"/>
            <a:headEnd/>
            <a:tailEnd/>
          </a:ln>
          <a:effectLst>
            <a:innerShdw blurRad="76200">
              <a:srgbClr val="000000"/>
            </a:innerShdw>
          </a:effec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3" name="Rectangle 1"/>
          <p:cNvSpPr>
            <a:spLocks noChangeArrowheads="1"/>
          </p:cNvSpPr>
          <p:nvPr/>
        </p:nvSpPr>
        <p:spPr bwMode="auto">
          <a:xfrm>
            <a:off x="1599406" y="1460812"/>
            <a:ext cx="1034789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r>
              <a:rPr lang="en-US" sz="2400" dirty="0">
                <a:solidFill>
                  <a:schemeClr val="bg2">
                    <a:lumMod val="25000"/>
                  </a:schemeClr>
                </a:solidFill>
                <a:latin typeface="Georgia" panose="02040502050405020303" pitchFamily="18" charset="0"/>
              </a:rPr>
              <a:t>Decision making is required when we want to execute a code only if a certain condition is satisfied.</a:t>
            </a:r>
            <a:endParaRPr lang="en-US" sz="2400" dirty="0">
              <a:solidFill>
                <a:schemeClr val="bg2">
                  <a:lumMod val="25000"/>
                </a:schemeClr>
              </a:solidFill>
              <a:latin typeface="Georgia" panose="02040502050405020303" pitchFamily="18" charset="0"/>
            </a:endParaRPr>
          </a:p>
        </p:txBody>
      </p:sp>
      <p:sp>
        <p:nvSpPr>
          <p:cNvPr id="8" name="Rectangle 7"/>
          <p:cNvSpPr/>
          <p:nvPr/>
        </p:nvSpPr>
        <p:spPr>
          <a:xfrm>
            <a:off x="782561" y="685692"/>
            <a:ext cx="5850641" cy="646331"/>
          </a:xfrm>
          <a:prstGeom prst="rect">
            <a:avLst/>
          </a:prstGeom>
        </p:spPr>
        <p:txBody>
          <a:bodyPr wrap="none">
            <a:spAutoFit/>
          </a:bodyPr>
          <a:lstStyle/>
          <a:p>
            <a:r>
              <a:rPr lang="en-US" sz="3600" b="1" dirty="0" smtClean="0">
                <a:solidFill>
                  <a:schemeClr val="bg2">
                    <a:lumMod val="25000"/>
                  </a:schemeClr>
                </a:solidFill>
                <a:latin typeface="Plantagenet Cherokee" panose="02020602070100000000" pitchFamily="18" charset="0"/>
              </a:rPr>
              <a:t>If… else statement example</a:t>
            </a:r>
            <a:endParaRPr lang="en-US" sz="3600" b="1" dirty="0">
              <a:solidFill>
                <a:schemeClr val="bg2">
                  <a:lumMod val="25000"/>
                </a:schemeClr>
              </a:solidFill>
              <a:latin typeface="Plantagenet Cherokee" panose="02020602070100000000" pitchFamily="18" charset="0"/>
            </a:endParaRPr>
          </a:p>
        </p:txBody>
      </p:sp>
      <p:pic>
        <p:nvPicPr>
          <p:cNvPr id="4" name="Picture 3"/>
          <p:cNvPicPr>
            <a:picLocks noChangeAspect="1"/>
          </p:cNvPicPr>
          <p:nvPr/>
        </p:nvPicPr>
        <p:blipFill>
          <a:blip r:embed="rId2"/>
          <a:stretch>
            <a:fillRect/>
          </a:stretch>
        </p:blipFill>
        <p:spPr>
          <a:xfrm>
            <a:off x="556218" y="2673335"/>
            <a:ext cx="6266582" cy="3289583"/>
          </a:xfrm>
          <a:prstGeom prst="rect">
            <a:avLst/>
          </a:prstGeom>
          <a:ln w="3175" cap="sq" cmpd="thickThin">
            <a:solidFill>
              <a:srgbClr val="000000"/>
            </a:solidFill>
            <a:prstDash val="solid"/>
            <a:miter lim="800000"/>
            <a:headEnd/>
            <a:tailEnd/>
          </a:ln>
          <a:effectLst>
            <a:innerShdw blurRad="76200">
              <a:srgbClr val="000000"/>
            </a:innerShdw>
          </a:effectLst>
        </p:spPr>
      </p:pic>
      <p:pic>
        <p:nvPicPr>
          <p:cNvPr id="7" name="Picture 6"/>
          <p:cNvPicPr>
            <a:picLocks noChangeAspect="1"/>
          </p:cNvPicPr>
          <p:nvPr/>
        </p:nvPicPr>
        <p:blipFill>
          <a:blip r:embed="rId3"/>
          <a:stretch>
            <a:fillRect/>
          </a:stretch>
        </p:blipFill>
        <p:spPr>
          <a:xfrm>
            <a:off x="4919528" y="4010159"/>
            <a:ext cx="6448425" cy="2057400"/>
          </a:xfrm>
          <a:prstGeom prst="rect">
            <a:avLst/>
          </a:prstGeom>
          <a:ln w="3175" cap="sq" cmpd="thickThin">
            <a:solidFill>
              <a:srgbClr val="000000"/>
            </a:solidFill>
            <a:prstDash val="solid"/>
            <a:miter lim="800000"/>
            <a:headEnd/>
            <a:tailEnd/>
          </a:ln>
          <a:effectLst>
            <a:innerShdw blurRad="76200">
              <a:srgbClr val="000000"/>
            </a:innerShdw>
          </a:effectLst>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8" name="Rectangle 7"/>
          <p:cNvSpPr/>
          <p:nvPr/>
        </p:nvSpPr>
        <p:spPr>
          <a:xfrm>
            <a:off x="782561" y="685692"/>
            <a:ext cx="5248809" cy="646331"/>
          </a:xfrm>
          <a:prstGeom prst="rect">
            <a:avLst/>
          </a:prstGeom>
        </p:spPr>
        <p:txBody>
          <a:bodyPr wrap="none">
            <a:spAutoFit/>
          </a:bodyPr>
          <a:lstStyle/>
          <a:p>
            <a:r>
              <a:rPr lang="en-US" sz="3600" b="1" dirty="0" smtClean="0">
                <a:solidFill>
                  <a:schemeClr val="bg2">
                    <a:lumMod val="25000"/>
                  </a:schemeClr>
                </a:solidFill>
                <a:latin typeface="Plantagenet Cherokee" panose="02020602070100000000" pitchFamily="18" charset="0"/>
              </a:rPr>
              <a:t>If… </a:t>
            </a:r>
            <a:r>
              <a:rPr lang="en-US" sz="3600" b="1" dirty="0" err="1" smtClean="0">
                <a:solidFill>
                  <a:schemeClr val="bg2">
                    <a:lumMod val="25000"/>
                  </a:schemeClr>
                </a:solidFill>
                <a:latin typeface="Plantagenet Cherokee" panose="02020602070100000000" pitchFamily="18" charset="0"/>
              </a:rPr>
              <a:t>elif</a:t>
            </a:r>
            <a:r>
              <a:rPr lang="en-US" sz="3600" b="1" dirty="0" smtClean="0">
                <a:solidFill>
                  <a:schemeClr val="bg2">
                    <a:lumMod val="25000"/>
                  </a:schemeClr>
                </a:solidFill>
                <a:latin typeface="Plantagenet Cherokee" panose="02020602070100000000" pitchFamily="18" charset="0"/>
              </a:rPr>
              <a:t>… else statement</a:t>
            </a:r>
            <a:endParaRPr lang="en-US" sz="3600" b="1" dirty="0">
              <a:solidFill>
                <a:schemeClr val="bg2">
                  <a:lumMod val="25000"/>
                </a:schemeClr>
              </a:solidFill>
              <a:latin typeface="Plantagenet Cherokee" panose="02020602070100000000" pitchFamily="18" charset="0"/>
            </a:endParaRPr>
          </a:p>
        </p:txBody>
      </p:sp>
      <p:sp>
        <p:nvSpPr>
          <p:cNvPr id="3" name="Rectangle 1"/>
          <p:cNvSpPr>
            <a:spLocks noChangeArrowheads="1"/>
          </p:cNvSpPr>
          <p:nvPr/>
        </p:nvSpPr>
        <p:spPr bwMode="auto">
          <a:xfrm>
            <a:off x="2034864" y="2048671"/>
            <a:ext cx="9504608"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The </a:t>
            </a:r>
            <a:r>
              <a:rPr kumimoji="0" lang="en-US" altLang="en-US" sz="2400" b="0" i="0" u="none" strike="noStrike" cap="none" normalizeH="0" baseline="0" dirty="0" err="1" smtClean="0">
                <a:ln>
                  <a:noFill/>
                </a:ln>
                <a:solidFill>
                  <a:schemeClr val="bg2">
                    <a:lumMod val="25000"/>
                  </a:schemeClr>
                </a:solidFill>
                <a:effectLst/>
                <a:latin typeface="Georgia" panose="02040502050405020303" pitchFamily="18" charset="0"/>
              </a:rPr>
              <a:t>elif</a:t>
            </a: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 is short for else if. It allows us to check for multiple expressions.</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If the condition for if is False, it checks the condition of the next </a:t>
            </a:r>
            <a:r>
              <a:rPr kumimoji="0" lang="en-US" altLang="en-US" sz="2400" b="0" i="0" u="none" strike="noStrike" cap="none" normalizeH="0" baseline="0" dirty="0" err="1" smtClean="0">
                <a:ln>
                  <a:noFill/>
                </a:ln>
                <a:solidFill>
                  <a:schemeClr val="bg2">
                    <a:lumMod val="25000"/>
                  </a:schemeClr>
                </a:solidFill>
                <a:effectLst/>
                <a:latin typeface="Georgia" panose="02040502050405020303" pitchFamily="18" charset="0"/>
              </a:rPr>
              <a:t>elif</a:t>
            </a: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 block and so on.</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If all the conditions are False, body of else is executed.</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Only one block among the several if...</a:t>
            </a:r>
            <a:r>
              <a:rPr kumimoji="0" lang="en-US" altLang="en-US" sz="2400" b="0" i="0" u="none" strike="noStrike" cap="none" normalizeH="0" baseline="0" dirty="0" err="1" smtClean="0">
                <a:ln>
                  <a:noFill/>
                </a:ln>
                <a:solidFill>
                  <a:schemeClr val="bg2">
                    <a:lumMod val="25000"/>
                  </a:schemeClr>
                </a:solidFill>
                <a:effectLst/>
                <a:latin typeface="Georgia" panose="02040502050405020303" pitchFamily="18" charset="0"/>
              </a:rPr>
              <a:t>elif</a:t>
            </a: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...else blocks is executed according to the condition.</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The if block can have only one else block. But it can have multiple </a:t>
            </a:r>
            <a:r>
              <a:rPr kumimoji="0" lang="en-US" altLang="en-US" sz="2400" b="0" i="0" u="none" strike="noStrike" cap="none" normalizeH="0" baseline="0" dirty="0" err="1" smtClean="0">
                <a:ln>
                  <a:noFill/>
                </a:ln>
                <a:solidFill>
                  <a:schemeClr val="bg2">
                    <a:lumMod val="25000"/>
                  </a:schemeClr>
                </a:solidFill>
                <a:effectLst/>
                <a:latin typeface="Georgia" panose="02040502050405020303" pitchFamily="18" charset="0"/>
              </a:rPr>
              <a:t>elif</a:t>
            </a: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 blocks.</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8" name="Rectangle 7"/>
          <p:cNvSpPr/>
          <p:nvPr/>
        </p:nvSpPr>
        <p:spPr>
          <a:xfrm>
            <a:off x="782561" y="685692"/>
            <a:ext cx="4563685" cy="646331"/>
          </a:xfrm>
          <a:prstGeom prst="rect">
            <a:avLst/>
          </a:prstGeom>
        </p:spPr>
        <p:txBody>
          <a:bodyPr wrap="none">
            <a:spAutoFit/>
          </a:bodyPr>
          <a:lstStyle/>
          <a:p>
            <a:r>
              <a:rPr lang="en-US" sz="3600" b="1" dirty="0" smtClean="0">
                <a:solidFill>
                  <a:schemeClr val="bg2">
                    <a:lumMod val="25000"/>
                  </a:schemeClr>
                </a:solidFill>
                <a:latin typeface="Plantagenet Cherokee" panose="02020602070100000000" pitchFamily="18" charset="0"/>
              </a:rPr>
              <a:t>If… </a:t>
            </a:r>
            <a:r>
              <a:rPr lang="en-US" sz="3600" b="1" dirty="0" err="1" smtClean="0">
                <a:solidFill>
                  <a:schemeClr val="bg2">
                    <a:lumMod val="25000"/>
                  </a:schemeClr>
                </a:solidFill>
                <a:latin typeface="Plantagenet Cherokee" panose="02020602070100000000" pitchFamily="18" charset="0"/>
              </a:rPr>
              <a:t>elif</a:t>
            </a:r>
            <a:r>
              <a:rPr lang="en-US" sz="3600" b="1" dirty="0" smtClean="0">
                <a:solidFill>
                  <a:schemeClr val="bg2">
                    <a:lumMod val="25000"/>
                  </a:schemeClr>
                </a:solidFill>
                <a:latin typeface="Plantagenet Cherokee" panose="02020602070100000000" pitchFamily="18" charset="0"/>
              </a:rPr>
              <a:t>… else syntax</a:t>
            </a:r>
            <a:endParaRPr lang="en-US" sz="3600" b="1" dirty="0">
              <a:solidFill>
                <a:schemeClr val="bg2">
                  <a:lumMod val="25000"/>
                </a:schemeClr>
              </a:solidFill>
              <a:latin typeface="Plantagenet Cherokee" panose="02020602070100000000" pitchFamily="18" charset="0"/>
            </a:endParaRPr>
          </a:p>
        </p:txBody>
      </p:sp>
      <p:sp>
        <p:nvSpPr>
          <p:cNvPr id="2" name="Rectangle 1"/>
          <p:cNvSpPr>
            <a:spLocks noChangeArrowheads="1"/>
          </p:cNvSpPr>
          <p:nvPr/>
        </p:nvSpPr>
        <p:spPr bwMode="auto">
          <a:xfrm>
            <a:off x="2331077" y="2504297"/>
            <a:ext cx="506139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if test expression: </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lang="en-US" altLang="en-US" sz="2400" dirty="0">
                <a:solidFill>
                  <a:schemeClr val="bg2">
                    <a:lumMod val="25000"/>
                  </a:schemeClr>
                </a:solidFill>
                <a:latin typeface="Georgia" panose="02040502050405020303" pitchFamily="18" charset="0"/>
              </a:rPr>
              <a:t>	</a:t>
            </a: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Body of if </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err="1" smtClean="0">
                <a:ln>
                  <a:noFill/>
                </a:ln>
                <a:solidFill>
                  <a:schemeClr val="bg2">
                    <a:lumMod val="25000"/>
                  </a:schemeClr>
                </a:solidFill>
                <a:effectLst/>
                <a:latin typeface="Georgia" panose="02040502050405020303" pitchFamily="18" charset="0"/>
              </a:rPr>
              <a:t>elif</a:t>
            </a: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 test expression: </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lang="en-US" altLang="en-US" sz="2400" dirty="0">
                <a:solidFill>
                  <a:schemeClr val="bg2">
                    <a:lumMod val="25000"/>
                  </a:schemeClr>
                </a:solidFill>
                <a:latin typeface="Georgia" panose="02040502050405020303" pitchFamily="18" charset="0"/>
              </a:rPr>
              <a:t>	</a:t>
            </a: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Body of </a:t>
            </a:r>
            <a:r>
              <a:rPr kumimoji="0" lang="en-US" altLang="en-US" sz="2400" b="0" i="0" u="none" strike="noStrike" cap="none" normalizeH="0" baseline="0" dirty="0" err="1" smtClean="0">
                <a:ln>
                  <a:noFill/>
                </a:ln>
                <a:solidFill>
                  <a:schemeClr val="bg2">
                    <a:lumMod val="25000"/>
                  </a:schemeClr>
                </a:solidFill>
                <a:effectLst/>
                <a:latin typeface="Georgia" panose="02040502050405020303" pitchFamily="18" charset="0"/>
              </a:rPr>
              <a:t>elif</a:t>
            </a: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 </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else: </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lang="en-US" altLang="en-US" sz="2400" dirty="0">
                <a:solidFill>
                  <a:schemeClr val="bg2">
                    <a:lumMod val="25000"/>
                  </a:schemeClr>
                </a:solidFill>
                <a:latin typeface="Georgia" panose="02040502050405020303" pitchFamily="18" charset="0"/>
              </a:rPr>
              <a:t>	</a:t>
            </a: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Body of else </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p:txBody>
      </p:sp>
      <p:pic>
        <p:nvPicPr>
          <p:cNvPr id="4" name="Picture 3"/>
          <p:cNvPicPr>
            <a:picLocks noChangeAspect="1"/>
          </p:cNvPicPr>
          <p:nvPr/>
        </p:nvPicPr>
        <p:blipFill>
          <a:blip r:embed="rId2"/>
          <a:stretch>
            <a:fillRect/>
          </a:stretch>
        </p:blipFill>
        <p:spPr>
          <a:xfrm>
            <a:off x="6337919" y="1819544"/>
            <a:ext cx="4638675" cy="4171950"/>
          </a:xfrm>
          <a:prstGeom prst="rect">
            <a:avLst/>
          </a:prstGeom>
          <a:ln w="3175" cap="sq" cmpd="thickThin">
            <a:solidFill>
              <a:srgbClr val="000000"/>
            </a:solidFill>
            <a:prstDash val="solid"/>
            <a:miter lim="800000"/>
            <a:headEnd/>
            <a:tailEnd/>
          </a:ln>
          <a:effectLst>
            <a:innerShdw blurRad="76200">
              <a:srgbClr val="000000"/>
            </a:innerShdw>
          </a:effectLst>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8" name="Rectangle 7"/>
          <p:cNvSpPr/>
          <p:nvPr/>
        </p:nvSpPr>
        <p:spPr>
          <a:xfrm>
            <a:off x="782561" y="685692"/>
            <a:ext cx="4981557" cy="646331"/>
          </a:xfrm>
          <a:prstGeom prst="rect">
            <a:avLst/>
          </a:prstGeom>
        </p:spPr>
        <p:txBody>
          <a:bodyPr wrap="none">
            <a:spAutoFit/>
          </a:bodyPr>
          <a:lstStyle/>
          <a:p>
            <a:r>
              <a:rPr lang="en-US" sz="3600" b="1" dirty="0" smtClean="0">
                <a:solidFill>
                  <a:schemeClr val="bg2">
                    <a:lumMod val="25000"/>
                  </a:schemeClr>
                </a:solidFill>
                <a:latin typeface="Plantagenet Cherokee" panose="02020602070100000000" pitchFamily="18" charset="0"/>
              </a:rPr>
              <a:t>If… </a:t>
            </a:r>
            <a:r>
              <a:rPr lang="en-US" sz="3600" b="1" dirty="0" err="1" smtClean="0">
                <a:solidFill>
                  <a:schemeClr val="bg2">
                    <a:lumMod val="25000"/>
                  </a:schemeClr>
                </a:solidFill>
                <a:latin typeface="Plantagenet Cherokee" panose="02020602070100000000" pitchFamily="18" charset="0"/>
              </a:rPr>
              <a:t>elif</a:t>
            </a:r>
            <a:r>
              <a:rPr lang="en-US" sz="3600" b="1" dirty="0" smtClean="0">
                <a:solidFill>
                  <a:schemeClr val="bg2">
                    <a:lumMod val="25000"/>
                  </a:schemeClr>
                </a:solidFill>
                <a:latin typeface="Plantagenet Cherokee" panose="02020602070100000000" pitchFamily="18" charset="0"/>
              </a:rPr>
              <a:t>… else example</a:t>
            </a:r>
            <a:endParaRPr lang="en-US" sz="3600" b="1" dirty="0">
              <a:solidFill>
                <a:schemeClr val="bg2">
                  <a:lumMod val="25000"/>
                </a:schemeClr>
              </a:solidFill>
              <a:latin typeface="Plantagenet Cherokee" panose="02020602070100000000" pitchFamily="18" charset="0"/>
            </a:endParaRPr>
          </a:p>
        </p:txBody>
      </p:sp>
      <p:pic>
        <p:nvPicPr>
          <p:cNvPr id="3" name="Picture 2"/>
          <p:cNvPicPr>
            <a:picLocks noChangeAspect="1"/>
          </p:cNvPicPr>
          <p:nvPr/>
        </p:nvPicPr>
        <p:blipFill>
          <a:blip r:embed="rId2"/>
          <a:stretch>
            <a:fillRect/>
          </a:stretch>
        </p:blipFill>
        <p:spPr>
          <a:xfrm>
            <a:off x="1210814" y="1994413"/>
            <a:ext cx="5074076" cy="4167469"/>
          </a:xfrm>
          <a:prstGeom prst="rect">
            <a:avLst/>
          </a:prstGeom>
          <a:ln w="3175" cap="sq" cmpd="thickThin">
            <a:solidFill>
              <a:srgbClr val="000000"/>
            </a:solidFill>
            <a:prstDash val="solid"/>
            <a:miter lim="800000"/>
            <a:headEnd/>
            <a:tailEnd/>
          </a:ln>
          <a:effectLst>
            <a:innerShdw blurRad="76200">
              <a:srgbClr val="000000"/>
            </a:innerShdw>
          </a:effectLst>
        </p:spPr>
      </p:pic>
      <p:pic>
        <p:nvPicPr>
          <p:cNvPr id="5" name="Picture 4"/>
          <p:cNvPicPr>
            <a:picLocks noChangeAspect="1"/>
          </p:cNvPicPr>
          <p:nvPr/>
        </p:nvPicPr>
        <p:blipFill>
          <a:blip r:embed="rId3"/>
          <a:stretch>
            <a:fillRect/>
          </a:stretch>
        </p:blipFill>
        <p:spPr>
          <a:xfrm>
            <a:off x="4915704" y="3976218"/>
            <a:ext cx="6894223" cy="1786459"/>
          </a:xfrm>
          <a:prstGeom prst="rect">
            <a:avLst/>
          </a:prstGeom>
          <a:ln w="3175" cap="sq" cmpd="thickThin">
            <a:solidFill>
              <a:srgbClr val="000000"/>
            </a:solidFill>
            <a:prstDash val="solid"/>
            <a:miter lim="800000"/>
            <a:headEnd/>
            <a:tailEnd/>
          </a:ln>
          <a:effectLst>
            <a:innerShdw blurRad="76200">
              <a:srgbClr val="000000"/>
            </a:innerShdw>
          </a:effectLst>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8" name="Rectangle 7"/>
          <p:cNvSpPr/>
          <p:nvPr/>
        </p:nvSpPr>
        <p:spPr>
          <a:xfrm>
            <a:off x="782561" y="685692"/>
            <a:ext cx="4109458" cy="646331"/>
          </a:xfrm>
          <a:prstGeom prst="rect">
            <a:avLst/>
          </a:prstGeom>
        </p:spPr>
        <p:txBody>
          <a:bodyPr wrap="none">
            <a:spAutoFit/>
          </a:bodyPr>
          <a:lstStyle/>
          <a:p>
            <a:r>
              <a:rPr lang="en-US" sz="3600" b="1" dirty="0" smtClean="0">
                <a:solidFill>
                  <a:schemeClr val="bg2">
                    <a:lumMod val="25000"/>
                  </a:schemeClr>
                </a:solidFill>
                <a:latin typeface="Plantagenet Cherokee" panose="02020602070100000000" pitchFamily="18" charset="0"/>
              </a:rPr>
              <a:t>Nested if statement</a:t>
            </a:r>
            <a:endParaRPr lang="en-US" sz="3600" b="1" dirty="0">
              <a:solidFill>
                <a:schemeClr val="bg2">
                  <a:lumMod val="25000"/>
                </a:schemeClr>
              </a:solidFill>
              <a:latin typeface="Plantagenet Cherokee" panose="02020602070100000000" pitchFamily="18" charset="0"/>
            </a:endParaRPr>
          </a:p>
        </p:txBody>
      </p:sp>
      <p:sp>
        <p:nvSpPr>
          <p:cNvPr id="2" name="Rectangle 1"/>
          <p:cNvSpPr>
            <a:spLocks noChangeArrowheads="1"/>
          </p:cNvSpPr>
          <p:nvPr/>
        </p:nvSpPr>
        <p:spPr bwMode="auto">
          <a:xfrm>
            <a:off x="680515" y="1591739"/>
            <a:ext cx="1151148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	We can have a if...</a:t>
            </a:r>
            <a:r>
              <a:rPr kumimoji="0" lang="en-US" altLang="en-US" sz="2400" b="0" i="0" u="none" strike="noStrike" cap="none" normalizeH="0" baseline="0" dirty="0" err="1" smtClean="0">
                <a:ln>
                  <a:noFill/>
                </a:ln>
                <a:solidFill>
                  <a:schemeClr val="bg2">
                    <a:lumMod val="25000"/>
                  </a:schemeClr>
                </a:solidFill>
                <a:effectLst/>
                <a:latin typeface="Georgia" panose="02040502050405020303" pitchFamily="18" charset="0"/>
              </a:rPr>
              <a:t>elif</a:t>
            </a: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...else statement inside another if...</a:t>
            </a:r>
            <a:r>
              <a:rPr kumimoji="0" lang="en-US" altLang="en-US" sz="2400" b="0" i="0" u="none" strike="noStrike" cap="none" normalizeH="0" baseline="0" dirty="0" err="1" smtClean="0">
                <a:ln>
                  <a:noFill/>
                </a:ln>
                <a:solidFill>
                  <a:schemeClr val="bg2">
                    <a:lumMod val="25000"/>
                  </a:schemeClr>
                </a:solidFill>
                <a:effectLst/>
                <a:latin typeface="Georgia" panose="02040502050405020303" pitchFamily="18" charset="0"/>
              </a:rPr>
              <a:t>elif</a:t>
            </a: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...else statement. </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This is called nesting </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p:txBody>
      </p:sp>
      <p:pic>
        <p:nvPicPr>
          <p:cNvPr id="7" name="Picture 6"/>
          <p:cNvPicPr>
            <a:picLocks noChangeAspect="1"/>
          </p:cNvPicPr>
          <p:nvPr/>
        </p:nvPicPr>
        <p:blipFill>
          <a:blip r:embed="rId2"/>
          <a:stretch>
            <a:fillRect/>
          </a:stretch>
        </p:blipFill>
        <p:spPr>
          <a:xfrm>
            <a:off x="782561" y="2889802"/>
            <a:ext cx="5498969" cy="3047172"/>
          </a:xfrm>
          <a:prstGeom prst="rect">
            <a:avLst/>
          </a:prstGeom>
          <a:ln w="3175" cap="sq" cmpd="thickThin">
            <a:solidFill>
              <a:srgbClr val="000000"/>
            </a:solidFill>
            <a:prstDash val="solid"/>
            <a:miter lim="800000"/>
            <a:headEnd/>
            <a:tailEnd/>
          </a:ln>
          <a:effectLst>
            <a:innerShdw blurRad="76200">
              <a:srgbClr val="000000"/>
            </a:innerShdw>
          </a:effectLst>
        </p:spPr>
      </p:pic>
      <p:pic>
        <p:nvPicPr>
          <p:cNvPr id="9" name="Picture 8"/>
          <p:cNvPicPr>
            <a:picLocks noChangeAspect="1"/>
          </p:cNvPicPr>
          <p:nvPr/>
        </p:nvPicPr>
        <p:blipFill>
          <a:blip r:embed="rId3"/>
          <a:stretch>
            <a:fillRect/>
          </a:stretch>
        </p:blipFill>
        <p:spPr>
          <a:xfrm>
            <a:off x="6436257" y="2889802"/>
            <a:ext cx="5543822" cy="3047172"/>
          </a:xfrm>
          <a:prstGeom prst="rect">
            <a:avLst/>
          </a:prstGeom>
          <a:ln w="6350" cap="sq" cmpd="thickThin">
            <a:solidFill>
              <a:srgbClr val="000000"/>
            </a:solidFill>
            <a:prstDash val="solid"/>
            <a:miter lim="800000"/>
            <a:headEnd/>
            <a:tailEnd/>
          </a:ln>
          <a:effectLst>
            <a:innerShdw blurRad="76200">
              <a:srgbClr val="000000"/>
            </a:innerShdw>
          </a:effectLst>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8" name="Rectangle 7"/>
          <p:cNvSpPr/>
          <p:nvPr/>
        </p:nvSpPr>
        <p:spPr>
          <a:xfrm>
            <a:off x="782561" y="685692"/>
            <a:ext cx="1396536" cy="646331"/>
          </a:xfrm>
          <a:prstGeom prst="rect">
            <a:avLst/>
          </a:prstGeom>
        </p:spPr>
        <p:txBody>
          <a:bodyPr wrap="none">
            <a:spAutoFit/>
          </a:bodyPr>
          <a:lstStyle/>
          <a:p>
            <a:r>
              <a:rPr lang="en-US" sz="3600" b="1" dirty="0" smtClean="0">
                <a:solidFill>
                  <a:schemeClr val="bg2">
                    <a:lumMod val="25000"/>
                  </a:schemeClr>
                </a:solidFill>
                <a:latin typeface="Plantagenet Cherokee" panose="02020602070100000000" pitchFamily="18" charset="0"/>
              </a:rPr>
              <a:t>Loops</a:t>
            </a:r>
            <a:endParaRPr lang="en-US" sz="3600" b="1" dirty="0">
              <a:solidFill>
                <a:schemeClr val="bg2">
                  <a:lumMod val="25000"/>
                </a:schemeClr>
              </a:solidFill>
              <a:latin typeface="Plantagenet Cherokee" panose="02020602070100000000" pitchFamily="18" charset="0"/>
            </a:endParaRPr>
          </a:p>
        </p:txBody>
      </p:sp>
      <p:sp>
        <p:nvSpPr>
          <p:cNvPr id="3" name="Rectangle 1"/>
          <p:cNvSpPr>
            <a:spLocks noChangeArrowheads="1"/>
          </p:cNvSpPr>
          <p:nvPr/>
        </p:nvSpPr>
        <p:spPr bwMode="auto">
          <a:xfrm>
            <a:off x="1480829" y="1502574"/>
            <a:ext cx="9504608"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342900" lvl="0" indent="-342900" eaLnBrk="0" fontAlgn="base" hangingPunct="0">
              <a:spcBef>
                <a:spcPct val="0"/>
              </a:spcBef>
              <a:spcAft>
                <a:spcPct val="0"/>
              </a:spcAft>
              <a:buFont typeface="Wingdings" panose="05000000000000000000" pitchFamily="2" charset="2"/>
              <a:buChar char="Ø"/>
            </a:pPr>
            <a:r>
              <a:rPr lang="en-US" altLang="en-US" sz="2400" dirty="0">
                <a:solidFill>
                  <a:schemeClr val="bg2">
                    <a:lumMod val="25000"/>
                  </a:schemeClr>
                </a:solidFill>
                <a:latin typeface="Georgia" panose="02040502050405020303" pitchFamily="18" charset="0"/>
              </a:rPr>
              <a:t>Loops </a:t>
            </a:r>
            <a:r>
              <a:rPr lang="en-US" altLang="en-US" sz="2400" dirty="0" smtClean="0">
                <a:solidFill>
                  <a:schemeClr val="bg2">
                    <a:lumMod val="25000"/>
                  </a:schemeClr>
                </a:solidFill>
                <a:latin typeface="Georgia" panose="02040502050405020303" pitchFamily="18" charset="0"/>
              </a:rPr>
              <a:t>are </a:t>
            </a:r>
            <a:r>
              <a:rPr lang="en-US" altLang="en-US" sz="2400" dirty="0">
                <a:solidFill>
                  <a:schemeClr val="bg2">
                    <a:lumMod val="25000"/>
                  </a:schemeClr>
                </a:solidFill>
                <a:latin typeface="Georgia" panose="02040502050405020303" pitchFamily="18" charset="0"/>
              </a:rPr>
              <a:t>used to control your program. </a:t>
            </a:r>
            <a:endParaRPr lang="en-US" altLang="en-US" sz="2400" dirty="0" smtClean="0">
              <a:solidFill>
                <a:schemeClr val="bg2">
                  <a:lumMod val="25000"/>
                </a:schemeClr>
              </a:solidFill>
              <a:latin typeface="Georgia" panose="02040502050405020303" pitchFamily="18" charset="0"/>
            </a:endParaRPr>
          </a:p>
          <a:p>
            <a:pPr marL="342900" lvl="0" indent="-342900" eaLnBrk="0" fontAlgn="base" hangingPunct="0">
              <a:spcBef>
                <a:spcPct val="0"/>
              </a:spcBef>
              <a:spcAft>
                <a:spcPct val="0"/>
              </a:spcAft>
              <a:buFont typeface="Wingdings" panose="05000000000000000000" pitchFamily="2" charset="2"/>
              <a:buChar char="Ø"/>
            </a:pPr>
            <a:r>
              <a:rPr lang="en-US" altLang="en-US" sz="2400" dirty="0" smtClean="0">
                <a:solidFill>
                  <a:schemeClr val="bg2">
                    <a:lumMod val="25000"/>
                  </a:schemeClr>
                </a:solidFill>
                <a:latin typeface="Georgia" panose="02040502050405020303" pitchFamily="18" charset="0"/>
              </a:rPr>
              <a:t>Loops </a:t>
            </a:r>
            <a:r>
              <a:rPr lang="en-US" altLang="en-US" sz="2400" dirty="0">
                <a:solidFill>
                  <a:schemeClr val="bg2">
                    <a:lumMod val="25000"/>
                  </a:schemeClr>
                </a:solidFill>
                <a:latin typeface="Georgia" panose="02040502050405020303" pitchFamily="18" charset="0"/>
              </a:rPr>
              <a:t>are basically used to execute a block of code several number of times accordingly. </a:t>
            </a:r>
            <a:endParaRPr lang="en-US" altLang="en-US" sz="2400" dirty="0" smtClean="0">
              <a:solidFill>
                <a:schemeClr val="bg2">
                  <a:lumMod val="25000"/>
                </a:schemeClr>
              </a:solidFill>
              <a:latin typeface="Georgia" panose="02040502050405020303" pitchFamily="18" charset="0"/>
            </a:endParaRPr>
          </a:p>
          <a:p>
            <a:pPr lvl="0" eaLnBrk="0" fontAlgn="base" hangingPunct="0">
              <a:spcBef>
                <a:spcPct val="0"/>
              </a:spcBef>
              <a:spcAft>
                <a:spcPct val="0"/>
              </a:spcAft>
            </a:pPr>
            <a:endParaRPr lang="en-US" altLang="en-US" sz="2400" dirty="0" smtClean="0">
              <a:solidFill>
                <a:schemeClr val="bg2">
                  <a:lumMod val="25000"/>
                </a:schemeClr>
              </a:solidFill>
              <a:latin typeface="Georgia" panose="02040502050405020303" pitchFamily="18" charset="0"/>
            </a:endParaRPr>
          </a:p>
          <a:p>
            <a:pPr lvl="0" eaLnBrk="0" fontAlgn="base" hangingPunct="0">
              <a:spcBef>
                <a:spcPct val="0"/>
              </a:spcBef>
              <a:spcAft>
                <a:spcPct val="0"/>
              </a:spcAft>
            </a:pPr>
            <a:r>
              <a:rPr lang="en-US" altLang="en-US" sz="2400" dirty="0" smtClean="0">
                <a:solidFill>
                  <a:schemeClr val="bg2">
                    <a:lumMod val="25000"/>
                  </a:schemeClr>
                </a:solidFill>
                <a:latin typeface="Georgia" panose="02040502050405020303" pitchFamily="18" charset="0"/>
              </a:rPr>
              <a:t>There </a:t>
            </a:r>
            <a:r>
              <a:rPr lang="en-US" altLang="en-US" sz="2400" dirty="0">
                <a:solidFill>
                  <a:schemeClr val="bg2">
                    <a:lumMod val="25000"/>
                  </a:schemeClr>
                </a:solidFill>
                <a:latin typeface="Georgia" panose="02040502050405020303" pitchFamily="18" charset="0"/>
              </a:rPr>
              <a:t>are the following types of </a:t>
            </a:r>
            <a:r>
              <a:rPr lang="en-US" altLang="en-US" sz="2400" dirty="0" smtClean="0">
                <a:solidFill>
                  <a:schemeClr val="bg2">
                    <a:lumMod val="25000"/>
                  </a:schemeClr>
                </a:solidFill>
                <a:latin typeface="Georgia" panose="02040502050405020303" pitchFamily="18" charset="0"/>
              </a:rPr>
              <a:t>loops:</a:t>
            </a:r>
            <a:endParaRPr lang="en-US" altLang="en-US" sz="2400" dirty="0" smtClean="0">
              <a:solidFill>
                <a:schemeClr val="bg2">
                  <a:lumMod val="25000"/>
                </a:schemeClr>
              </a:solidFill>
              <a:latin typeface="Georgia" panose="02040502050405020303" pitchFamily="18" charset="0"/>
            </a:endParaRPr>
          </a:p>
          <a:p>
            <a:pPr marL="1257300" lvl="2" indent="-342900" eaLnBrk="0" fontAlgn="base" hangingPunct="0">
              <a:spcBef>
                <a:spcPct val="0"/>
              </a:spcBef>
              <a:spcAft>
                <a:spcPct val="0"/>
              </a:spcAft>
              <a:buFont typeface="Wingdings" panose="05000000000000000000" pitchFamily="2" charset="2"/>
              <a:buChar char="Ø"/>
            </a:pP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For</a:t>
            </a:r>
            <a:r>
              <a:rPr kumimoji="0" lang="en-US" altLang="en-US" sz="2400" b="0" i="0" u="none" strike="noStrike" cap="none" normalizeH="0" dirty="0" smtClean="0">
                <a:ln>
                  <a:noFill/>
                </a:ln>
                <a:solidFill>
                  <a:schemeClr val="bg2">
                    <a:lumMod val="25000"/>
                  </a:schemeClr>
                </a:solidFill>
                <a:effectLst/>
                <a:latin typeface="Georgia" panose="02040502050405020303" pitchFamily="18" charset="0"/>
              </a:rPr>
              <a:t> loop</a:t>
            </a:r>
            <a:endParaRPr kumimoji="0" lang="en-US" altLang="en-US" sz="2400" b="0" i="0" u="none" strike="noStrike" cap="none" normalizeH="0" dirty="0" smtClean="0">
              <a:ln>
                <a:noFill/>
              </a:ln>
              <a:solidFill>
                <a:schemeClr val="bg2">
                  <a:lumMod val="25000"/>
                </a:schemeClr>
              </a:solidFill>
              <a:effectLst/>
              <a:latin typeface="Georgia" panose="02040502050405020303" pitchFamily="18" charset="0"/>
            </a:endParaRPr>
          </a:p>
          <a:p>
            <a:pPr marL="1257300" lvl="2" indent="-342900" eaLnBrk="0" fontAlgn="base" hangingPunct="0">
              <a:spcBef>
                <a:spcPct val="0"/>
              </a:spcBef>
              <a:spcAft>
                <a:spcPct val="0"/>
              </a:spcAft>
              <a:buFont typeface="Wingdings" panose="05000000000000000000" pitchFamily="2" charset="2"/>
              <a:buChar char="Ø"/>
            </a:pPr>
            <a:r>
              <a:rPr lang="en-US" altLang="en-US" sz="2400" baseline="0" dirty="0" smtClean="0">
                <a:solidFill>
                  <a:schemeClr val="bg2">
                    <a:lumMod val="25000"/>
                  </a:schemeClr>
                </a:solidFill>
                <a:latin typeface="Georgia" panose="02040502050405020303" pitchFamily="18" charset="0"/>
              </a:rPr>
              <a:t>While loop</a:t>
            </a:r>
            <a:endParaRPr lang="en-US" altLang="en-US" sz="2400" baseline="0" dirty="0" smtClean="0">
              <a:solidFill>
                <a:schemeClr val="bg2">
                  <a:lumMod val="25000"/>
                </a:schemeClr>
              </a:solidFill>
              <a:latin typeface="Georgia" panose="02040502050405020303" pitchFamily="18" charset="0"/>
            </a:endParaRPr>
          </a:p>
          <a:p>
            <a:pPr marL="1257300" lvl="2" indent="-342900" eaLnBrk="0" fontAlgn="base" hangingPunct="0">
              <a:spcBef>
                <a:spcPct val="0"/>
              </a:spcBef>
              <a:spcAft>
                <a:spcPct val="0"/>
              </a:spcAft>
              <a:buFont typeface="Wingdings" panose="05000000000000000000" pitchFamily="2" charset="2"/>
              <a:buChar char="Ø"/>
            </a:pPr>
            <a:r>
              <a:rPr kumimoji="0" lang="en-US" altLang="en-US" sz="2400" b="0" i="0" u="none" strike="noStrike" cap="none" normalizeH="0" dirty="0" smtClean="0">
                <a:ln>
                  <a:noFill/>
                </a:ln>
                <a:solidFill>
                  <a:schemeClr val="bg2">
                    <a:lumMod val="25000"/>
                  </a:schemeClr>
                </a:solidFill>
                <a:effectLst/>
                <a:latin typeface="Georgia" panose="02040502050405020303" pitchFamily="18" charset="0"/>
              </a:rPr>
              <a:t>Nested loop</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p:txBody>
      </p:sp>
      <p:pic>
        <p:nvPicPr>
          <p:cNvPr id="2" name="Picture 1"/>
          <p:cNvPicPr>
            <a:picLocks noChangeAspect="1"/>
          </p:cNvPicPr>
          <p:nvPr/>
        </p:nvPicPr>
        <p:blipFill>
          <a:blip r:embed="rId2"/>
          <a:stretch>
            <a:fillRect/>
          </a:stretch>
        </p:blipFill>
        <p:spPr>
          <a:xfrm>
            <a:off x="7199759" y="2485622"/>
            <a:ext cx="3806227" cy="4127880"/>
          </a:xfrm>
          <a:prstGeom prst="rect">
            <a:avLst/>
          </a:prstGeom>
          <a:ln w="6350" cap="sq" cmpd="thickThin">
            <a:solidFill>
              <a:srgbClr val="000000"/>
            </a:solidFill>
            <a:prstDash val="solid"/>
            <a:miter lim="800000"/>
            <a:headEnd/>
            <a:tailEnd/>
          </a:ln>
          <a:effectLst>
            <a:innerShdw blurRad="76200">
              <a:srgbClr val="000000"/>
            </a:innerShdw>
          </a:effectLst>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8" name="Rectangle 7"/>
          <p:cNvSpPr/>
          <p:nvPr/>
        </p:nvSpPr>
        <p:spPr>
          <a:xfrm>
            <a:off x="782561" y="685692"/>
            <a:ext cx="1859612" cy="646331"/>
          </a:xfrm>
          <a:prstGeom prst="rect">
            <a:avLst/>
          </a:prstGeom>
        </p:spPr>
        <p:txBody>
          <a:bodyPr wrap="none">
            <a:spAutoFit/>
          </a:bodyPr>
          <a:lstStyle/>
          <a:p>
            <a:r>
              <a:rPr lang="en-US" sz="3600" b="1" dirty="0" smtClean="0">
                <a:solidFill>
                  <a:schemeClr val="bg2">
                    <a:lumMod val="25000"/>
                  </a:schemeClr>
                </a:solidFill>
                <a:latin typeface="Plantagenet Cherokee" panose="02020602070100000000" pitchFamily="18" charset="0"/>
              </a:rPr>
              <a:t>For loop</a:t>
            </a:r>
            <a:endParaRPr lang="en-US" sz="3600" b="1" dirty="0">
              <a:solidFill>
                <a:schemeClr val="bg2">
                  <a:lumMod val="25000"/>
                </a:schemeClr>
              </a:solidFill>
              <a:latin typeface="Plantagenet Cherokee" panose="02020602070100000000" pitchFamily="18" charset="0"/>
            </a:endParaRPr>
          </a:p>
        </p:txBody>
      </p:sp>
      <p:sp>
        <p:nvSpPr>
          <p:cNvPr id="2" name="Rectangle 1"/>
          <p:cNvSpPr>
            <a:spLocks noChangeArrowheads="1"/>
          </p:cNvSpPr>
          <p:nvPr/>
        </p:nvSpPr>
        <p:spPr bwMode="auto">
          <a:xfrm>
            <a:off x="1931306" y="1455092"/>
            <a:ext cx="1047963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eaLnBrk="0" fontAlgn="base" hangingPunct="0">
              <a:spcBef>
                <a:spcPct val="0"/>
              </a:spcBef>
              <a:spcAft>
                <a:spcPct val="0"/>
              </a:spcAft>
            </a:pPr>
            <a:r>
              <a:rPr lang="en-US" altLang="en-US" sz="2400" dirty="0">
                <a:solidFill>
                  <a:schemeClr val="bg2">
                    <a:lumMod val="25000"/>
                  </a:schemeClr>
                </a:solidFill>
                <a:latin typeface="Georgia" panose="02040502050405020303" pitchFamily="18" charset="0"/>
              </a:rPr>
              <a:t>The for loop </a:t>
            </a:r>
            <a:r>
              <a:rPr lang="en-US" altLang="en-US" sz="2400" dirty="0" smtClean="0">
                <a:solidFill>
                  <a:schemeClr val="bg2">
                    <a:lumMod val="25000"/>
                  </a:schemeClr>
                </a:solidFill>
                <a:latin typeface="Georgia" panose="02040502050405020303" pitchFamily="18" charset="0"/>
              </a:rPr>
              <a:t>is </a:t>
            </a:r>
            <a:r>
              <a:rPr lang="en-US" altLang="en-US" sz="2400" dirty="0">
                <a:solidFill>
                  <a:schemeClr val="bg2">
                    <a:lumMod val="25000"/>
                  </a:schemeClr>
                </a:solidFill>
                <a:latin typeface="Georgia" panose="02040502050405020303" pitchFamily="18" charset="0"/>
              </a:rPr>
              <a:t>used to iterate over a sequence (list, tuple, string</a:t>
            </a:r>
            <a:r>
              <a:rPr lang="en-US" altLang="en-US" sz="2400" dirty="0" smtClean="0">
                <a:solidFill>
                  <a:schemeClr val="bg2">
                    <a:lumMod val="25000"/>
                  </a:schemeClr>
                </a:solidFill>
                <a:latin typeface="Georgia" panose="02040502050405020303" pitchFamily="18" charset="0"/>
              </a:rPr>
              <a:t>)</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p:txBody>
      </p:sp>
      <p:sp>
        <p:nvSpPr>
          <p:cNvPr id="3" name="Rectangle 2"/>
          <p:cNvSpPr/>
          <p:nvPr/>
        </p:nvSpPr>
        <p:spPr>
          <a:xfrm>
            <a:off x="2185116" y="2686049"/>
            <a:ext cx="6096000" cy="1569660"/>
          </a:xfrm>
          <a:prstGeom prst="rect">
            <a:avLst/>
          </a:prstGeom>
        </p:spPr>
        <p:txBody>
          <a:bodyPr>
            <a:spAutoFit/>
          </a:bodyPr>
          <a:lstStyle/>
          <a:p>
            <a:r>
              <a:rPr lang="en-US" sz="2400" b="1" dirty="0" smtClean="0">
                <a:solidFill>
                  <a:schemeClr val="bg2">
                    <a:lumMod val="25000"/>
                  </a:schemeClr>
                </a:solidFill>
                <a:latin typeface="Georgia" panose="02040502050405020303" pitchFamily="18" charset="0"/>
              </a:rPr>
              <a:t>Syntax:</a:t>
            </a:r>
            <a:endParaRPr lang="en-US" sz="2400" b="1" dirty="0" smtClean="0">
              <a:solidFill>
                <a:schemeClr val="bg2">
                  <a:lumMod val="25000"/>
                </a:schemeClr>
              </a:solidFill>
              <a:latin typeface="Georgia" panose="02040502050405020303" pitchFamily="18" charset="0"/>
            </a:endParaRPr>
          </a:p>
          <a:p>
            <a:endParaRPr lang="en-US" sz="2400" b="1" dirty="0">
              <a:solidFill>
                <a:schemeClr val="bg2">
                  <a:lumMod val="25000"/>
                </a:schemeClr>
              </a:solidFill>
              <a:latin typeface="Georgia" panose="02040502050405020303" pitchFamily="18" charset="0"/>
            </a:endParaRPr>
          </a:p>
          <a:p>
            <a:r>
              <a:rPr lang="en-US" sz="2400" dirty="0">
                <a:solidFill>
                  <a:schemeClr val="bg2">
                    <a:lumMod val="25000"/>
                  </a:schemeClr>
                </a:solidFill>
                <a:latin typeface="Georgia" panose="02040502050405020303" pitchFamily="18" charset="0"/>
              </a:rPr>
              <a:t>for </a:t>
            </a:r>
            <a:r>
              <a:rPr lang="en-US" sz="2400" dirty="0" err="1">
                <a:solidFill>
                  <a:schemeClr val="bg2">
                    <a:lumMod val="25000"/>
                  </a:schemeClr>
                </a:solidFill>
                <a:latin typeface="Georgia" panose="02040502050405020303" pitchFamily="18" charset="0"/>
              </a:rPr>
              <a:t>val</a:t>
            </a:r>
            <a:r>
              <a:rPr lang="en-US" sz="2400" dirty="0">
                <a:solidFill>
                  <a:schemeClr val="bg2">
                    <a:lumMod val="25000"/>
                  </a:schemeClr>
                </a:solidFill>
                <a:latin typeface="Georgia" panose="02040502050405020303" pitchFamily="18" charset="0"/>
              </a:rPr>
              <a:t> in sequence:</a:t>
            </a:r>
            <a:endParaRPr lang="en-US" sz="2400" dirty="0">
              <a:solidFill>
                <a:schemeClr val="bg2">
                  <a:lumMod val="25000"/>
                </a:schemeClr>
              </a:solidFill>
              <a:latin typeface="Georgia" panose="02040502050405020303" pitchFamily="18" charset="0"/>
            </a:endParaRPr>
          </a:p>
          <a:p>
            <a:r>
              <a:rPr lang="en-US" sz="2400" dirty="0">
                <a:solidFill>
                  <a:schemeClr val="bg2">
                    <a:lumMod val="25000"/>
                  </a:schemeClr>
                </a:solidFill>
                <a:latin typeface="Georgia" panose="02040502050405020303" pitchFamily="18" charset="0"/>
              </a:rPr>
              <a:t>	Body of for</a:t>
            </a:r>
            <a:endParaRPr lang="en-US" sz="2400" dirty="0">
              <a:solidFill>
                <a:schemeClr val="bg2">
                  <a:lumMod val="25000"/>
                </a:schemeClr>
              </a:solidFill>
              <a:latin typeface="Georgia" panose="02040502050405020303" pitchFamily="18" charset="0"/>
            </a:endParaRPr>
          </a:p>
        </p:txBody>
      </p:sp>
      <p:pic>
        <p:nvPicPr>
          <p:cNvPr id="5" name="Picture 4"/>
          <p:cNvPicPr>
            <a:picLocks noChangeAspect="1"/>
          </p:cNvPicPr>
          <p:nvPr/>
        </p:nvPicPr>
        <p:blipFill>
          <a:blip r:embed="rId2"/>
          <a:stretch>
            <a:fillRect/>
          </a:stretch>
        </p:blipFill>
        <p:spPr>
          <a:xfrm>
            <a:off x="6082181" y="2094799"/>
            <a:ext cx="3924703" cy="4321819"/>
          </a:xfrm>
          <a:prstGeom prst="rect">
            <a:avLst/>
          </a:prstGeom>
          <a:ln w="3175" cap="sq" cmpd="thickThin">
            <a:solidFill>
              <a:srgbClr val="000000"/>
            </a:solidFill>
            <a:prstDash val="solid"/>
            <a:miter lim="800000"/>
            <a:headEnd/>
            <a:tailEnd/>
          </a:ln>
          <a:effectLst>
            <a:innerShdw blurRad="76200">
              <a:srgbClr val="000000"/>
            </a:innerShdw>
          </a:effectLst>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8" name="Rectangle 7"/>
          <p:cNvSpPr/>
          <p:nvPr/>
        </p:nvSpPr>
        <p:spPr>
          <a:xfrm>
            <a:off x="782561" y="685692"/>
            <a:ext cx="3710183" cy="646331"/>
          </a:xfrm>
          <a:prstGeom prst="rect">
            <a:avLst/>
          </a:prstGeom>
        </p:spPr>
        <p:txBody>
          <a:bodyPr wrap="none">
            <a:spAutoFit/>
          </a:bodyPr>
          <a:lstStyle/>
          <a:p>
            <a:r>
              <a:rPr lang="en-US" sz="3600" b="1" dirty="0" smtClean="0">
                <a:solidFill>
                  <a:schemeClr val="bg2">
                    <a:lumMod val="25000"/>
                  </a:schemeClr>
                </a:solidFill>
                <a:latin typeface="Plantagenet Cherokee" panose="02020602070100000000" pitchFamily="18" charset="0"/>
              </a:rPr>
              <a:t>For loop example</a:t>
            </a:r>
            <a:endParaRPr lang="en-US" sz="3600" b="1" dirty="0">
              <a:solidFill>
                <a:schemeClr val="bg2">
                  <a:lumMod val="25000"/>
                </a:schemeClr>
              </a:solidFill>
              <a:latin typeface="Plantagenet Cherokee" panose="02020602070100000000" pitchFamily="18" charset="0"/>
            </a:endParaRPr>
          </a:p>
        </p:txBody>
      </p:sp>
      <p:pic>
        <p:nvPicPr>
          <p:cNvPr id="4" name="Picture 3"/>
          <p:cNvPicPr>
            <a:picLocks noChangeAspect="1"/>
          </p:cNvPicPr>
          <p:nvPr/>
        </p:nvPicPr>
        <p:blipFill>
          <a:blip r:embed="rId2"/>
          <a:stretch>
            <a:fillRect/>
          </a:stretch>
        </p:blipFill>
        <p:spPr>
          <a:xfrm>
            <a:off x="1042480" y="2011651"/>
            <a:ext cx="6324236" cy="3406497"/>
          </a:xfrm>
          <a:prstGeom prst="rect">
            <a:avLst/>
          </a:prstGeom>
          <a:ln w="6350" cap="sq" cmpd="thickThin">
            <a:solidFill>
              <a:srgbClr val="000000"/>
            </a:solidFill>
            <a:prstDash val="solid"/>
            <a:miter lim="800000"/>
            <a:headEnd/>
            <a:tailEnd/>
          </a:ln>
          <a:effectLst>
            <a:innerShdw blurRad="76200">
              <a:srgbClr val="000000"/>
            </a:innerShdw>
          </a:effectLst>
        </p:spPr>
      </p:pic>
      <p:pic>
        <p:nvPicPr>
          <p:cNvPr id="7" name="Picture 6"/>
          <p:cNvPicPr>
            <a:picLocks noChangeAspect="1"/>
          </p:cNvPicPr>
          <p:nvPr/>
        </p:nvPicPr>
        <p:blipFill>
          <a:blip r:embed="rId3"/>
          <a:stretch>
            <a:fillRect/>
          </a:stretch>
        </p:blipFill>
        <p:spPr>
          <a:xfrm>
            <a:off x="4893365" y="3267544"/>
            <a:ext cx="6757770" cy="2334766"/>
          </a:xfrm>
          <a:prstGeom prst="rect">
            <a:avLst/>
          </a:prstGeom>
          <a:ln w="6350" cap="sq" cmpd="thickThin">
            <a:solidFill>
              <a:srgbClr val="000000"/>
            </a:solidFill>
            <a:prstDash val="solid"/>
            <a:miter lim="800000"/>
            <a:headEnd/>
            <a:tailEnd/>
          </a:ln>
          <a:effectLst>
            <a:innerShdw blurRad="76200">
              <a:srgbClr val="000000"/>
            </a:innerShdw>
          </a:effectLst>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8" name="Rectangle 7"/>
          <p:cNvSpPr/>
          <p:nvPr/>
        </p:nvSpPr>
        <p:spPr>
          <a:xfrm>
            <a:off x="782561" y="685692"/>
            <a:ext cx="2392771" cy="646331"/>
          </a:xfrm>
          <a:prstGeom prst="rect">
            <a:avLst/>
          </a:prstGeom>
        </p:spPr>
        <p:txBody>
          <a:bodyPr wrap="none">
            <a:spAutoFit/>
          </a:bodyPr>
          <a:lstStyle/>
          <a:p>
            <a:r>
              <a:rPr lang="en-US" sz="3600" b="1" dirty="0" smtClean="0">
                <a:solidFill>
                  <a:schemeClr val="bg2">
                    <a:lumMod val="25000"/>
                  </a:schemeClr>
                </a:solidFill>
                <a:latin typeface="Plantagenet Cherokee" panose="02020602070100000000" pitchFamily="18" charset="0"/>
              </a:rPr>
              <a:t>While loop</a:t>
            </a:r>
            <a:endParaRPr lang="en-US" sz="3600" b="1" dirty="0">
              <a:solidFill>
                <a:schemeClr val="bg2">
                  <a:lumMod val="25000"/>
                </a:schemeClr>
              </a:solidFill>
              <a:latin typeface="Plantagenet Cherokee" panose="02020602070100000000" pitchFamily="18" charset="0"/>
            </a:endParaRPr>
          </a:p>
        </p:txBody>
      </p:sp>
      <p:sp>
        <p:nvSpPr>
          <p:cNvPr id="2" name="Rectangle 1"/>
          <p:cNvSpPr>
            <a:spLocks noChangeArrowheads="1"/>
          </p:cNvSpPr>
          <p:nvPr/>
        </p:nvSpPr>
        <p:spPr bwMode="auto">
          <a:xfrm>
            <a:off x="1490861" y="1593537"/>
            <a:ext cx="1047963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eaLnBrk="0" fontAlgn="base" hangingPunct="0">
              <a:spcBef>
                <a:spcPct val="0"/>
              </a:spcBef>
              <a:spcAft>
                <a:spcPct val="0"/>
              </a:spcAft>
            </a:pPr>
            <a:r>
              <a:rPr lang="en-US" altLang="en-US" sz="2400" dirty="0">
                <a:solidFill>
                  <a:schemeClr val="bg2">
                    <a:lumMod val="25000"/>
                  </a:schemeClr>
                </a:solidFill>
                <a:latin typeface="Georgia" panose="02040502050405020303" pitchFamily="18" charset="0"/>
              </a:rPr>
              <a:t>Python while loop generally used to perform the same action as for loop does, but in different </a:t>
            </a:r>
            <a:r>
              <a:rPr lang="en-US" altLang="en-US" sz="2400" dirty="0" smtClean="0">
                <a:solidFill>
                  <a:schemeClr val="bg2">
                    <a:lumMod val="25000"/>
                  </a:schemeClr>
                </a:solidFill>
                <a:latin typeface="Georgia" panose="02040502050405020303" pitchFamily="18" charset="0"/>
              </a:rPr>
              <a:t>way.</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p:txBody>
      </p:sp>
      <p:sp>
        <p:nvSpPr>
          <p:cNvPr id="3" name="Rectangle 2"/>
          <p:cNvSpPr/>
          <p:nvPr/>
        </p:nvSpPr>
        <p:spPr>
          <a:xfrm>
            <a:off x="2185116" y="2686049"/>
            <a:ext cx="6096000" cy="1569660"/>
          </a:xfrm>
          <a:prstGeom prst="rect">
            <a:avLst/>
          </a:prstGeom>
        </p:spPr>
        <p:txBody>
          <a:bodyPr>
            <a:spAutoFit/>
          </a:bodyPr>
          <a:lstStyle/>
          <a:p>
            <a:r>
              <a:rPr lang="en-US" sz="2400" b="1" dirty="0" smtClean="0">
                <a:solidFill>
                  <a:schemeClr val="bg2">
                    <a:lumMod val="25000"/>
                  </a:schemeClr>
                </a:solidFill>
                <a:latin typeface="Georgia" panose="02040502050405020303" pitchFamily="18" charset="0"/>
              </a:rPr>
              <a:t>Syntax:</a:t>
            </a:r>
            <a:endParaRPr lang="en-US" sz="2400" b="1" dirty="0" smtClean="0">
              <a:solidFill>
                <a:schemeClr val="bg2">
                  <a:lumMod val="25000"/>
                </a:schemeClr>
              </a:solidFill>
              <a:latin typeface="Georgia" panose="02040502050405020303" pitchFamily="18" charset="0"/>
            </a:endParaRPr>
          </a:p>
          <a:p>
            <a:endParaRPr lang="en-US" sz="2400" b="1" dirty="0">
              <a:solidFill>
                <a:schemeClr val="bg2">
                  <a:lumMod val="25000"/>
                </a:schemeClr>
              </a:solidFill>
              <a:latin typeface="Georgia" panose="02040502050405020303" pitchFamily="18" charset="0"/>
            </a:endParaRPr>
          </a:p>
          <a:p>
            <a:r>
              <a:rPr lang="en-US" sz="2400" dirty="0">
                <a:solidFill>
                  <a:schemeClr val="bg2">
                    <a:lumMod val="25000"/>
                  </a:schemeClr>
                </a:solidFill>
                <a:latin typeface="Georgia" panose="02040502050405020303" pitchFamily="18" charset="0"/>
              </a:rPr>
              <a:t>while expression: </a:t>
            </a:r>
            <a:endParaRPr lang="en-US" sz="2400" dirty="0" smtClean="0">
              <a:solidFill>
                <a:schemeClr val="bg2">
                  <a:lumMod val="25000"/>
                </a:schemeClr>
              </a:solidFill>
              <a:latin typeface="Georgia" panose="02040502050405020303" pitchFamily="18" charset="0"/>
            </a:endParaRPr>
          </a:p>
          <a:p>
            <a:r>
              <a:rPr lang="en-US" sz="2400" dirty="0">
                <a:solidFill>
                  <a:schemeClr val="bg2">
                    <a:lumMod val="25000"/>
                  </a:schemeClr>
                </a:solidFill>
                <a:latin typeface="Georgia" panose="02040502050405020303" pitchFamily="18" charset="0"/>
              </a:rPr>
              <a:t>	</a:t>
            </a:r>
            <a:r>
              <a:rPr lang="en-US" sz="2400" dirty="0" smtClean="0">
                <a:solidFill>
                  <a:schemeClr val="bg2">
                    <a:lumMod val="25000"/>
                  </a:schemeClr>
                </a:solidFill>
                <a:latin typeface="Georgia" panose="02040502050405020303" pitchFamily="18" charset="0"/>
              </a:rPr>
              <a:t>statement(s</a:t>
            </a:r>
            <a:r>
              <a:rPr lang="en-US" sz="2400" dirty="0">
                <a:solidFill>
                  <a:schemeClr val="bg2">
                    <a:lumMod val="25000"/>
                  </a:schemeClr>
                </a:solidFill>
                <a:latin typeface="Georgia" panose="02040502050405020303" pitchFamily="18" charset="0"/>
              </a:rPr>
              <a:t>) </a:t>
            </a:r>
            <a:endParaRPr lang="en-US" sz="2400" dirty="0">
              <a:solidFill>
                <a:schemeClr val="bg2">
                  <a:lumMod val="25000"/>
                </a:schemeClr>
              </a:solidFill>
              <a:latin typeface="Georgia" panose="02040502050405020303" pitchFamily="18" charset="0"/>
            </a:endParaRPr>
          </a:p>
        </p:txBody>
      </p:sp>
      <p:pic>
        <p:nvPicPr>
          <p:cNvPr id="7" name="Picture 6"/>
          <p:cNvPicPr>
            <a:picLocks noChangeAspect="1"/>
          </p:cNvPicPr>
          <p:nvPr/>
        </p:nvPicPr>
        <p:blipFill>
          <a:blip r:embed="rId2"/>
          <a:stretch>
            <a:fillRect/>
          </a:stretch>
        </p:blipFill>
        <p:spPr>
          <a:xfrm>
            <a:off x="6622398" y="2107141"/>
            <a:ext cx="3317435" cy="4297136"/>
          </a:xfrm>
          <a:prstGeom prst="rect">
            <a:avLst/>
          </a:prstGeom>
          <a:ln w="6350" cap="sq" cmpd="thickThin">
            <a:solidFill>
              <a:srgbClr val="000000"/>
            </a:solidFill>
            <a:prstDash val="solid"/>
            <a:miter lim="800000"/>
            <a:headEnd/>
            <a:tailEnd/>
          </a:ln>
          <a:effectLst>
            <a:innerShdw blurRad="76200">
              <a:srgbClr val="000000"/>
            </a:innerShdw>
          </a:effectLst>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8" name="Rectangle 7"/>
          <p:cNvSpPr/>
          <p:nvPr/>
        </p:nvSpPr>
        <p:spPr>
          <a:xfrm>
            <a:off x="782561" y="685692"/>
            <a:ext cx="4243341" cy="646331"/>
          </a:xfrm>
          <a:prstGeom prst="rect">
            <a:avLst/>
          </a:prstGeom>
        </p:spPr>
        <p:txBody>
          <a:bodyPr wrap="none">
            <a:spAutoFit/>
          </a:bodyPr>
          <a:lstStyle/>
          <a:p>
            <a:r>
              <a:rPr lang="en-US" sz="3600" b="1" dirty="0" smtClean="0">
                <a:solidFill>
                  <a:schemeClr val="bg2">
                    <a:lumMod val="25000"/>
                  </a:schemeClr>
                </a:solidFill>
                <a:latin typeface="Plantagenet Cherokee" panose="02020602070100000000" pitchFamily="18" charset="0"/>
              </a:rPr>
              <a:t>While loop example</a:t>
            </a:r>
            <a:endParaRPr lang="en-US" sz="3600" b="1" dirty="0">
              <a:solidFill>
                <a:schemeClr val="bg2">
                  <a:lumMod val="25000"/>
                </a:schemeClr>
              </a:solidFill>
              <a:latin typeface="Plantagenet Cherokee" panose="02020602070100000000" pitchFamily="18" charset="0"/>
            </a:endParaRPr>
          </a:p>
        </p:txBody>
      </p:sp>
      <p:pic>
        <p:nvPicPr>
          <p:cNvPr id="3" name="Picture 2"/>
          <p:cNvPicPr>
            <a:picLocks noChangeAspect="1"/>
          </p:cNvPicPr>
          <p:nvPr/>
        </p:nvPicPr>
        <p:blipFill>
          <a:blip r:embed="rId2"/>
          <a:stretch>
            <a:fillRect/>
          </a:stretch>
        </p:blipFill>
        <p:spPr>
          <a:xfrm>
            <a:off x="1567198" y="2105643"/>
            <a:ext cx="3751777" cy="3477257"/>
          </a:xfrm>
          <a:prstGeom prst="rect">
            <a:avLst/>
          </a:prstGeom>
          <a:ln w="6350" cap="sq" cmpd="thickThin">
            <a:solidFill>
              <a:srgbClr val="000000"/>
            </a:solidFill>
            <a:prstDash val="solid"/>
            <a:miter lim="800000"/>
            <a:headEnd/>
            <a:tailEnd/>
          </a:ln>
          <a:effectLst>
            <a:innerShdw blurRad="76200">
              <a:srgbClr val="000000"/>
            </a:innerShdw>
          </a:effectLst>
        </p:spPr>
      </p:pic>
      <p:pic>
        <p:nvPicPr>
          <p:cNvPr id="5" name="Picture 4"/>
          <p:cNvPicPr>
            <a:picLocks noChangeAspect="1"/>
          </p:cNvPicPr>
          <p:nvPr/>
        </p:nvPicPr>
        <p:blipFill>
          <a:blip r:embed="rId3"/>
          <a:stretch>
            <a:fillRect/>
          </a:stretch>
        </p:blipFill>
        <p:spPr>
          <a:xfrm>
            <a:off x="5727879" y="2699560"/>
            <a:ext cx="5850228" cy="2471217"/>
          </a:xfrm>
          <a:prstGeom prst="rect">
            <a:avLst/>
          </a:prstGeom>
          <a:ln w="6350" cap="sq" cmpd="thickThin">
            <a:solidFill>
              <a:srgbClr val="000000"/>
            </a:solidFill>
            <a:prstDash val="solid"/>
            <a:miter lim="800000"/>
            <a:headEnd/>
            <a:tailEnd/>
          </a:ln>
          <a:effectLst>
            <a:innerShdw blurRad="76200">
              <a:srgbClr val="000000"/>
            </a:innerShdw>
          </a:effectLst>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8" name="Rectangle 7"/>
          <p:cNvSpPr/>
          <p:nvPr/>
        </p:nvSpPr>
        <p:spPr>
          <a:xfrm>
            <a:off x="782561" y="685692"/>
            <a:ext cx="2583528" cy="646331"/>
          </a:xfrm>
          <a:prstGeom prst="rect">
            <a:avLst/>
          </a:prstGeom>
        </p:spPr>
        <p:txBody>
          <a:bodyPr wrap="none">
            <a:spAutoFit/>
          </a:bodyPr>
          <a:lstStyle/>
          <a:p>
            <a:r>
              <a:rPr lang="en-US" sz="3600" b="1" dirty="0" smtClean="0">
                <a:solidFill>
                  <a:schemeClr val="bg2">
                    <a:lumMod val="25000"/>
                  </a:schemeClr>
                </a:solidFill>
                <a:latin typeface="Plantagenet Cherokee" panose="02020602070100000000" pitchFamily="18" charset="0"/>
              </a:rPr>
              <a:t>Nested loop</a:t>
            </a:r>
            <a:endParaRPr lang="en-US" sz="3600" b="1" dirty="0">
              <a:solidFill>
                <a:schemeClr val="bg2">
                  <a:lumMod val="25000"/>
                </a:schemeClr>
              </a:solidFill>
              <a:latin typeface="Plantagenet Cherokee" panose="02020602070100000000" pitchFamily="18" charset="0"/>
            </a:endParaRPr>
          </a:p>
        </p:txBody>
      </p:sp>
      <p:sp>
        <p:nvSpPr>
          <p:cNvPr id="2" name="Rectangle 1"/>
          <p:cNvSpPr>
            <a:spLocks noChangeArrowheads="1"/>
          </p:cNvSpPr>
          <p:nvPr/>
        </p:nvSpPr>
        <p:spPr bwMode="auto">
          <a:xfrm>
            <a:off x="1568134" y="1449266"/>
            <a:ext cx="1047963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eaLnBrk="0" fontAlgn="base" hangingPunct="0">
              <a:spcBef>
                <a:spcPct val="0"/>
              </a:spcBef>
              <a:spcAft>
                <a:spcPct val="0"/>
              </a:spcAft>
            </a:pPr>
            <a:r>
              <a:rPr lang="en-US" altLang="en-US" sz="2400" dirty="0">
                <a:solidFill>
                  <a:schemeClr val="bg2">
                    <a:lumMod val="25000"/>
                  </a:schemeClr>
                </a:solidFill>
                <a:latin typeface="Georgia" panose="02040502050405020303" pitchFamily="18" charset="0"/>
              </a:rPr>
              <a:t>Python programming language allows to use one loop inside another loop.</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p:txBody>
      </p:sp>
      <p:sp>
        <p:nvSpPr>
          <p:cNvPr id="3" name="Rectangle 2"/>
          <p:cNvSpPr/>
          <p:nvPr/>
        </p:nvSpPr>
        <p:spPr>
          <a:xfrm>
            <a:off x="1232079" y="2789032"/>
            <a:ext cx="6096000" cy="2308324"/>
          </a:xfrm>
          <a:prstGeom prst="rect">
            <a:avLst/>
          </a:prstGeom>
        </p:spPr>
        <p:txBody>
          <a:bodyPr>
            <a:spAutoFit/>
          </a:bodyPr>
          <a:lstStyle/>
          <a:p>
            <a:r>
              <a:rPr lang="en-US" sz="2400" b="1" dirty="0" smtClean="0">
                <a:solidFill>
                  <a:schemeClr val="bg2">
                    <a:lumMod val="25000"/>
                  </a:schemeClr>
                </a:solidFill>
                <a:latin typeface="Georgia" panose="02040502050405020303" pitchFamily="18" charset="0"/>
              </a:rPr>
              <a:t>Nested for Syntax:</a:t>
            </a:r>
            <a:endParaRPr lang="en-US" sz="2400" b="1" dirty="0" smtClean="0">
              <a:solidFill>
                <a:schemeClr val="bg2">
                  <a:lumMod val="25000"/>
                </a:schemeClr>
              </a:solidFill>
              <a:latin typeface="Georgia" panose="02040502050405020303" pitchFamily="18" charset="0"/>
            </a:endParaRPr>
          </a:p>
          <a:p>
            <a:endParaRPr lang="en-US" sz="2400" b="1" dirty="0">
              <a:solidFill>
                <a:schemeClr val="bg2">
                  <a:lumMod val="25000"/>
                </a:schemeClr>
              </a:solidFill>
              <a:latin typeface="Georgia" panose="02040502050405020303" pitchFamily="18" charset="0"/>
            </a:endParaRPr>
          </a:p>
          <a:p>
            <a:r>
              <a:rPr lang="en-US" sz="2400" dirty="0">
                <a:solidFill>
                  <a:schemeClr val="bg2">
                    <a:lumMod val="25000"/>
                  </a:schemeClr>
                </a:solidFill>
                <a:latin typeface="Georgia" panose="02040502050405020303" pitchFamily="18" charset="0"/>
              </a:rPr>
              <a:t>for </a:t>
            </a:r>
            <a:r>
              <a:rPr lang="en-US" sz="2400" dirty="0" err="1">
                <a:solidFill>
                  <a:schemeClr val="bg2">
                    <a:lumMod val="25000"/>
                  </a:schemeClr>
                </a:solidFill>
                <a:latin typeface="Georgia" panose="02040502050405020303" pitchFamily="18" charset="0"/>
              </a:rPr>
              <a:t>iterating_var</a:t>
            </a:r>
            <a:r>
              <a:rPr lang="en-US" sz="2400" dirty="0">
                <a:solidFill>
                  <a:schemeClr val="bg2">
                    <a:lumMod val="25000"/>
                  </a:schemeClr>
                </a:solidFill>
                <a:latin typeface="Georgia" panose="02040502050405020303" pitchFamily="18" charset="0"/>
              </a:rPr>
              <a:t> in sequence: </a:t>
            </a:r>
            <a:endParaRPr lang="en-US" sz="2400" dirty="0" smtClean="0">
              <a:solidFill>
                <a:schemeClr val="bg2">
                  <a:lumMod val="25000"/>
                </a:schemeClr>
              </a:solidFill>
              <a:latin typeface="Georgia" panose="02040502050405020303" pitchFamily="18" charset="0"/>
            </a:endParaRPr>
          </a:p>
          <a:p>
            <a:r>
              <a:rPr lang="en-US" sz="2400" dirty="0">
                <a:solidFill>
                  <a:schemeClr val="bg2">
                    <a:lumMod val="25000"/>
                  </a:schemeClr>
                </a:solidFill>
                <a:latin typeface="Georgia" panose="02040502050405020303" pitchFamily="18" charset="0"/>
              </a:rPr>
              <a:t>	</a:t>
            </a:r>
            <a:r>
              <a:rPr lang="en-US" sz="2400" dirty="0" smtClean="0">
                <a:solidFill>
                  <a:schemeClr val="bg2">
                    <a:lumMod val="25000"/>
                  </a:schemeClr>
                </a:solidFill>
                <a:latin typeface="Georgia" panose="02040502050405020303" pitchFamily="18" charset="0"/>
              </a:rPr>
              <a:t>for </a:t>
            </a:r>
            <a:r>
              <a:rPr lang="en-US" sz="2400" dirty="0" err="1">
                <a:solidFill>
                  <a:schemeClr val="bg2">
                    <a:lumMod val="25000"/>
                  </a:schemeClr>
                </a:solidFill>
                <a:latin typeface="Georgia" panose="02040502050405020303" pitchFamily="18" charset="0"/>
              </a:rPr>
              <a:t>iterating_var</a:t>
            </a:r>
            <a:r>
              <a:rPr lang="en-US" sz="2400" dirty="0">
                <a:solidFill>
                  <a:schemeClr val="bg2">
                    <a:lumMod val="25000"/>
                  </a:schemeClr>
                </a:solidFill>
                <a:latin typeface="Georgia" panose="02040502050405020303" pitchFamily="18" charset="0"/>
              </a:rPr>
              <a:t> in sequence: </a:t>
            </a:r>
            <a:r>
              <a:rPr lang="en-US" sz="2400" dirty="0" smtClean="0">
                <a:solidFill>
                  <a:schemeClr val="bg2">
                    <a:lumMod val="25000"/>
                  </a:schemeClr>
                </a:solidFill>
                <a:latin typeface="Georgia" panose="02040502050405020303" pitchFamily="18" charset="0"/>
              </a:rPr>
              <a:t>			statements(s</a:t>
            </a:r>
            <a:r>
              <a:rPr lang="en-US" sz="2400" dirty="0">
                <a:solidFill>
                  <a:schemeClr val="bg2">
                    <a:lumMod val="25000"/>
                  </a:schemeClr>
                </a:solidFill>
                <a:latin typeface="Georgia" panose="02040502050405020303" pitchFamily="18" charset="0"/>
              </a:rPr>
              <a:t>) </a:t>
            </a:r>
            <a:endParaRPr lang="en-US" sz="2400" dirty="0" smtClean="0">
              <a:solidFill>
                <a:schemeClr val="bg2">
                  <a:lumMod val="25000"/>
                </a:schemeClr>
              </a:solidFill>
              <a:latin typeface="Georgia" panose="02040502050405020303" pitchFamily="18" charset="0"/>
            </a:endParaRPr>
          </a:p>
          <a:p>
            <a:r>
              <a:rPr lang="en-US" sz="2400" dirty="0">
                <a:solidFill>
                  <a:schemeClr val="bg2">
                    <a:lumMod val="25000"/>
                  </a:schemeClr>
                </a:solidFill>
                <a:latin typeface="Georgia" panose="02040502050405020303" pitchFamily="18" charset="0"/>
              </a:rPr>
              <a:t>	</a:t>
            </a:r>
            <a:r>
              <a:rPr lang="en-US" sz="2400" dirty="0" smtClean="0">
                <a:solidFill>
                  <a:schemeClr val="bg2">
                    <a:lumMod val="25000"/>
                  </a:schemeClr>
                </a:solidFill>
                <a:latin typeface="Georgia" panose="02040502050405020303" pitchFamily="18" charset="0"/>
              </a:rPr>
              <a:t>statements(s</a:t>
            </a:r>
            <a:r>
              <a:rPr lang="en-US" sz="2400" dirty="0">
                <a:solidFill>
                  <a:schemeClr val="bg2">
                    <a:lumMod val="25000"/>
                  </a:schemeClr>
                </a:solidFill>
                <a:latin typeface="Georgia" panose="02040502050405020303" pitchFamily="18" charset="0"/>
              </a:rPr>
              <a:t>) </a:t>
            </a:r>
            <a:endParaRPr lang="en-US" sz="2400" dirty="0">
              <a:solidFill>
                <a:schemeClr val="bg2">
                  <a:lumMod val="25000"/>
                </a:schemeClr>
              </a:solidFill>
              <a:latin typeface="Georgia" panose="02040502050405020303" pitchFamily="18" charset="0"/>
            </a:endParaRPr>
          </a:p>
        </p:txBody>
      </p:sp>
      <p:sp>
        <p:nvSpPr>
          <p:cNvPr id="9" name="Rectangle 8"/>
          <p:cNvSpPr/>
          <p:nvPr/>
        </p:nvSpPr>
        <p:spPr>
          <a:xfrm>
            <a:off x="6606228" y="2789032"/>
            <a:ext cx="6096000" cy="2308324"/>
          </a:xfrm>
          <a:prstGeom prst="rect">
            <a:avLst/>
          </a:prstGeom>
        </p:spPr>
        <p:txBody>
          <a:bodyPr>
            <a:spAutoFit/>
          </a:bodyPr>
          <a:lstStyle/>
          <a:p>
            <a:r>
              <a:rPr lang="en-US" sz="2400" b="1" dirty="0" smtClean="0">
                <a:solidFill>
                  <a:schemeClr val="bg2">
                    <a:lumMod val="25000"/>
                  </a:schemeClr>
                </a:solidFill>
                <a:latin typeface="Georgia" panose="02040502050405020303" pitchFamily="18" charset="0"/>
              </a:rPr>
              <a:t>Nested while Syntax:</a:t>
            </a:r>
            <a:endParaRPr lang="en-US" sz="2400" b="1" dirty="0" smtClean="0">
              <a:solidFill>
                <a:schemeClr val="bg2">
                  <a:lumMod val="25000"/>
                </a:schemeClr>
              </a:solidFill>
              <a:latin typeface="Georgia" panose="02040502050405020303" pitchFamily="18" charset="0"/>
            </a:endParaRPr>
          </a:p>
          <a:p>
            <a:endParaRPr lang="en-US" sz="2400" b="1" dirty="0">
              <a:solidFill>
                <a:schemeClr val="bg2">
                  <a:lumMod val="25000"/>
                </a:schemeClr>
              </a:solidFill>
              <a:latin typeface="Georgia" panose="02040502050405020303" pitchFamily="18" charset="0"/>
            </a:endParaRPr>
          </a:p>
          <a:p>
            <a:r>
              <a:rPr lang="en-US" sz="2400" dirty="0">
                <a:solidFill>
                  <a:schemeClr val="bg2">
                    <a:lumMod val="25000"/>
                  </a:schemeClr>
                </a:solidFill>
                <a:latin typeface="Georgia" panose="02040502050405020303" pitchFamily="18" charset="0"/>
              </a:rPr>
              <a:t>while expression:</a:t>
            </a:r>
            <a:endParaRPr lang="en-US" sz="2400" dirty="0">
              <a:solidFill>
                <a:schemeClr val="bg2">
                  <a:lumMod val="25000"/>
                </a:schemeClr>
              </a:solidFill>
              <a:latin typeface="Georgia" panose="02040502050405020303" pitchFamily="18" charset="0"/>
            </a:endParaRPr>
          </a:p>
          <a:p>
            <a:r>
              <a:rPr lang="en-US" sz="2400" dirty="0" smtClean="0">
                <a:solidFill>
                  <a:schemeClr val="bg2">
                    <a:lumMod val="25000"/>
                  </a:schemeClr>
                </a:solidFill>
                <a:latin typeface="Georgia" panose="02040502050405020303" pitchFamily="18" charset="0"/>
              </a:rPr>
              <a:t>	while </a:t>
            </a:r>
            <a:r>
              <a:rPr lang="en-US" sz="2400" dirty="0">
                <a:solidFill>
                  <a:schemeClr val="bg2">
                    <a:lumMod val="25000"/>
                  </a:schemeClr>
                </a:solidFill>
                <a:latin typeface="Georgia" panose="02040502050405020303" pitchFamily="18" charset="0"/>
              </a:rPr>
              <a:t>expression:</a:t>
            </a:r>
            <a:endParaRPr lang="en-US" sz="2400" dirty="0">
              <a:solidFill>
                <a:schemeClr val="bg2">
                  <a:lumMod val="25000"/>
                </a:schemeClr>
              </a:solidFill>
              <a:latin typeface="Georgia" panose="02040502050405020303" pitchFamily="18" charset="0"/>
            </a:endParaRPr>
          </a:p>
          <a:p>
            <a:r>
              <a:rPr lang="en-US" sz="2400" dirty="0" smtClean="0">
                <a:solidFill>
                  <a:schemeClr val="bg2">
                    <a:lumMod val="25000"/>
                  </a:schemeClr>
                </a:solidFill>
                <a:latin typeface="Georgia" panose="02040502050405020303" pitchFamily="18" charset="0"/>
              </a:rPr>
              <a:t>		statement(s</a:t>
            </a:r>
            <a:r>
              <a:rPr lang="en-US" sz="2400" dirty="0">
                <a:solidFill>
                  <a:schemeClr val="bg2">
                    <a:lumMod val="25000"/>
                  </a:schemeClr>
                </a:solidFill>
                <a:latin typeface="Georgia" panose="02040502050405020303" pitchFamily="18" charset="0"/>
              </a:rPr>
              <a:t>)</a:t>
            </a:r>
            <a:endParaRPr lang="en-US" sz="2400" dirty="0">
              <a:solidFill>
                <a:schemeClr val="bg2">
                  <a:lumMod val="25000"/>
                </a:schemeClr>
              </a:solidFill>
              <a:latin typeface="Georgia" panose="02040502050405020303" pitchFamily="18" charset="0"/>
            </a:endParaRPr>
          </a:p>
          <a:p>
            <a:r>
              <a:rPr lang="en-US" sz="2400" dirty="0">
                <a:solidFill>
                  <a:schemeClr val="bg2">
                    <a:lumMod val="25000"/>
                  </a:schemeClr>
                </a:solidFill>
                <a:latin typeface="Georgia" panose="02040502050405020303" pitchFamily="18" charset="0"/>
              </a:rPr>
              <a:t>   </a:t>
            </a:r>
            <a:r>
              <a:rPr lang="en-US" sz="2400" dirty="0" smtClean="0">
                <a:solidFill>
                  <a:schemeClr val="bg2">
                    <a:lumMod val="25000"/>
                  </a:schemeClr>
                </a:solidFill>
                <a:latin typeface="Georgia" panose="02040502050405020303" pitchFamily="18" charset="0"/>
              </a:rPr>
              <a:t>	statement(s</a:t>
            </a:r>
            <a:r>
              <a:rPr lang="en-US" sz="2400" dirty="0">
                <a:solidFill>
                  <a:schemeClr val="bg2">
                    <a:lumMod val="25000"/>
                  </a:schemeClr>
                </a:solidFill>
                <a:latin typeface="Georgia" panose="02040502050405020303" pitchFamily="18" charset="0"/>
              </a:rPr>
              <a:t>)</a:t>
            </a:r>
            <a:endParaRPr lang="en-US" sz="2400" dirty="0">
              <a:solidFill>
                <a:schemeClr val="bg2">
                  <a:lumMod val="25000"/>
                </a:schemeClr>
              </a:solidFill>
              <a:latin typeface="Georgia" panose="02040502050405020303" pitchFamily="18" charset="0"/>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8" name="Rectangle 7"/>
          <p:cNvSpPr/>
          <p:nvPr/>
        </p:nvSpPr>
        <p:spPr>
          <a:xfrm>
            <a:off x="782561" y="685692"/>
            <a:ext cx="3479094" cy="646331"/>
          </a:xfrm>
          <a:prstGeom prst="rect">
            <a:avLst/>
          </a:prstGeom>
        </p:spPr>
        <p:txBody>
          <a:bodyPr wrap="none">
            <a:spAutoFit/>
          </a:bodyPr>
          <a:lstStyle/>
          <a:p>
            <a:r>
              <a:rPr lang="en-US" sz="3600" b="1" dirty="0" smtClean="0">
                <a:solidFill>
                  <a:schemeClr val="bg2">
                    <a:lumMod val="25000"/>
                  </a:schemeClr>
                </a:solidFill>
                <a:latin typeface="Plantagenet Cherokee" panose="02020602070100000000" pitchFamily="18" charset="0"/>
              </a:rPr>
              <a:t>Break statement</a:t>
            </a:r>
            <a:endParaRPr lang="en-US" sz="3600" b="1" dirty="0">
              <a:solidFill>
                <a:schemeClr val="bg2">
                  <a:lumMod val="25000"/>
                </a:schemeClr>
              </a:solidFill>
              <a:latin typeface="Plantagenet Cherokee" panose="02020602070100000000" pitchFamily="18" charset="0"/>
            </a:endParaRPr>
          </a:p>
        </p:txBody>
      </p:sp>
      <p:sp>
        <p:nvSpPr>
          <p:cNvPr id="2" name="Rectangle 1"/>
          <p:cNvSpPr>
            <a:spLocks noChangeArrowheads="1"/>
          </p:cNvSpPr>
          <p:nvPr/>
        </p:nvSpPr>
        <p:spPr bwMode="auto">
          <a:xfrm>
            <a:off x="2421636" y="1322992"/>
            <a:ext cx="1047963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eaLnBrk="0" fontAlgn="base" hangingPunct="0">
              <a:spcBef>
                <a:spcPct val="0"/>
              </a:spcBef>
              <a:spcAft>
                <a:spcPct val="0"/>
              </a:spcAft>
            </a:pPr>
            <a:r>
              <a:rPr lang="en-US" altLang="en-US" sz="2400" dirty="0">
                <a:solidFill>
                  <a:schemeClr val="bg2">
                    <a:lumMod val="25000"/>
                  </a:schemeClr>
                </a:solidFill>
                <a:latin typeface="Georgia" panose="02040502050405020303" pitchFamily="18" charset="0"/>
              </a:rPr>
              <a:t>The break statement </a:t>
            </a:r>
            <a:r>
              <a:rPr lang="en-US" altLang="en-US" sz="2400" dirty="0" smtClean="0">
                <a:solidFill>
                  <a:schemeClr val="bg2">
                    <a:lumMod val="25000"/>
                  </a:schemeClr>
                </a:solidFill>
                <a:latin typeface="Georgia" panose="02040502050405020303" pitchFamily="18" charset="0"/>
              </a:rPr>
              <a:t>is </a:t>
            </a:r>
            <a:r>
              <a:rPr lang="en-US" altLang="en-US" sz="2400" dirty="0">
                <a:solidFill>
                  <a:schemeClr val="bg2">
                    <a:lumMod val="25000"/>
                  </a:schemeClr>
                </a:solidFill>
                <a:latin typeface="Georgia" panose="02040502050405020303" pitchFamily="18" charset="0"/>
              </a:rPr>
              <a:t>used to exit a loop.</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p:txBody>
      </p:sp>
      <p:sp>
        <p:nvSpPr>
          <p:cNvPr id="3" name="Rectangle 2"/>
          <p:cNvSpPr/>
          <p:nvPr/>
        </p:nvSpPr>
        <p:spPr>
          <a:xfrm>
            <a:off x="2792698" y="1859148"/>
            <a:ext cx="6096000" cy="830997"/>
          </a:xfrm>
          <a:prstGeom prst="rect">
            <a:avLst/>
          </a:prstGeom>
        </p:spPr>
        <p:txBody>
          <a:bodyPr>
            <a:spAutoFit/>
          </a:bodyPr>
          <a:lstStyle/>
          <a:p>
            <a:r>
              <a:rPr lang="en-US" sz="2400" b="1" dirty="0" smtClean="0">
                <a:solidFill>
                  <a:schemeClr val="bg2">
                    <a:lumMod val="25000"/>
                  </a:schemeClr>
                </a:solidFill>
                <a:latin typeface="Georgia" panose="02040502050405020303" pitchFamily="18" charset="0"/>
              </a:rPr>
              <a:t>Syntax:</a:t>
            </a:r>
            <a:endParaRPr lang="en-US" sz="2400" b="1" dirty="0" smtClean="0">
              <a:solidFill>
                <a:schemeClr val="bg2">
                  <a:lumMod val="25000"/>
                </a:schemeClr>
              </a:solidFill>
              <a:latin typeface="Georgia" panose="02040502050405020303" pitchFamily="18" charset="0"/>
            </a:endParaRPr>
          </a:p>
          <a:p>
            <a:r>
              <a:rPr lang="en-US" sz="2400" dirty="0" smtClean="0">
                <a:solidFill>
                  <a:schemeClr val="bg2">
                    <a:lumMod val="25000"/>
                  </a:schemeClr>
                </a:solidFill>
                <a:latin typeface="Georgia" panose="02040502050405020303" pitchFamily="18" charset="0"/>
              </a:rPr>
              <a:t>	break</a:t>
            </a:r>
            <a:endParaRPr lang="en-US" sz="2400" dirty="0">
              <a:solidFill>
                <a:schemeClr val="bg2">
                  <a:lumMod val="25000"/>
                </a:schemeClr>
              </a:solidFill>
              <a:latin typeface="Georgia" panose="02040502050405020303" pitchFamily="18" charset="0"/>
            </a:endParaRPr>
          </a:p>
        </p:txBody>
      </p:sp>
      <p:pic>
        <p:nvPicPr>
          <p:cNvPr id="4" name="Picture 3"/>
          <p:cNvPicPr>
            <a:picLocks noChangeAspect="1"/>
          </p:cNvPicPr>
          <p:nvPr/>
        </p:nvPicPr>
        <p:blipFill>
          <a:blip r:embed="rId2"/>
          <a:stretch>
            <a:fillRect/>
          </a:stretch>
        </p:blipFill>
        <p:spPr>
          <a:xfrm>
            <a:off x="2260954" y="2686049"/>
            <a:ext cx="3314700" cy="3876675"/>
          </a:xfrm>
          <a:prstGeom prst="rect">
            <a:avLst/>
          </a:prstGeom>
          <a:ln w="6350" cap="sq" cmpd="thickThin">
            <a:solidFill>
              <a:srgbClr val="EEF5FF"/>
            </a:solidFill>
            <a:prstDash val="solid"/>
            <a:miter lim="800000"/>
            <a:headEnd/>
            <a:tailEnd/>
          </a:ln>
          <a:effectLst>
            <a:innerShdw blurRad="76200">
              <a:srgbClr val="000000"/>
            </a:innerShdw>
          </a:effectLst>
        </p:spPr>
      </p:pic>
      <p:sp>
        <p:nvSpPr>
          <p:cNvPr id="7" name="Rectangle 6"/>
          <p:cNvSpPr/>
          <p:nvPr/>
        </p:nvSpPr>
        <p:spPr>
          <a:xfrm>
            <a:off x="5840698" y="1932416"/>
            <a:ext cx="7967336" cy="461665"/>
          </a:xfrm>
          <a:prstGeom prst="rect">
            <a:avLst/>
          </a:prstGeom>
        </p:spPr>
        <p:txBody>
          <a:bodyPr wrap="square">
            <a:spAutoFit/>
          </a:bodyPr>
          <a:lstStyle/>
          <a:p>
            <a:r>
              <a:rPr lang="en-US" sz="2400" dirty="0" smtClean="0">
                <a:solidFill>
                  <a:schemeClr val="bg2">
                    <a:lumMod val="25000"/>
                  </a:schemeClr>
                </a:solidFill>
                <a:latin typeface="Georgia" panose="02040502050405020303" pitchFamily="18" charset="0"/>
              </a:rPr>
              <a:t>break </a:t>
            </a:r>
            <a:r>
              <a:rPr lang="en-US" sz="2400" dirty="0">
                <a:solidFill>
                  <a:schemeClr val="bg2">
                    <a:lumMod val="25000"/>
                  </a:schemeClr>
                </a:solidFill>
                <a:latin typeface="Georgia" panose="02040502050405020303" pitchFamily="18" charset="0"/>
              </a:rPr>
              <a:t>statement in for loop and while loop </a:t>
            </a:r>
            <a:endParaRPr lang="en-US" sz="2400" dirty="0">
              <a:solidFill>
                <a:schemeClr val="bg2">
                  <a:lumMod val="25000"/>
                </a:schemeClr>
              </a:solidFill>
              <a:latin typeface="Georgia" panose="02040502050405020303" pitchFamily="18" charset="0"/>
            </a:endParaRPr>
          </a:p>
        </p:txBody>
      </p:sp>
      <p:pic>
        <p:nvPicPr>
          <p:cNvPr id="9" name="Picture 8"/>
          <p:cNvPicPr>
            <a:picLocks noChangeAspect="1"/>
          </p:cNvPicPr>
          <p:nvPr/>
        </p:nvPicPr>
        <p:blipFill>
          <a:blip r:embed="rId3"/>
          <a:stretch>
            <a:fillRect/>
          </a:stretch>
        </p:blipFill>
        <p:spPr>
          <a:xfrm>
            <a:off x="6686727" y="2428940"/>
            <a:ext cx="4403942" cy="4099833"/>
          </a:xfrm>
          <a:prstGeom prst="rect">
            <a:avLst/>
          </a:prstGeom>
          <a:ln w="6350" cap="sq" cmpd="thickThin">
            <a:solidFill>
              <a:srgbClr val="000000"/>
            </a:solidFill>
            <a:prstDash val="solid"/>
            <a:miter lim="800000"/>
            <a:headEnd/>
            <a:tailEnd/>
          </a:ln>
          <a:effectLst>
            <a:innerShdw blurRad="76200">
              <a:srgbClr val="000000"/>
            </a:innerShdw>
          </a:effectLst>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8" name="Rectangle 7"/>
          <p:cNvSpPr/>
          <p:nvPr/>
        </p:nvSpPr>
        <p:spPr>
          <a:xfrm>
            <a:off x="782561" y="685692"/>
            <a:ext cx="5329664" cy="646331"/>
          </a:xfrm>
          <a:prstGeom prst="rect">
            <a:avLst/>
          </a:prstGeom>
        </p:spPr>
        <p:txBody>
          <a:bodyPr wrap="none">
            <a:spAutoFit/>
          </a:bodyPr>
          <a:lstStyle/>
          <a:p>
            <a:r>
              <a:rPr lang="en-US" sz="3600" b="1" dirty="0" smtClean="0">
                <a:solidFill>
                  <a:schemeClr val="bg2">
                    <a:lumMod val="25000"/>
                  </a:schemeClr>
                </a:solidFill>
                <a:latin typeface="Plantagenet Cherokee" panose="02020602070100000000" pitchFamily="18" charset="0"/>
              </a:rPr>
              <a:t>Break statement example</a:t>
            </a:r>
            <a:endParaRPr lang="en-US" sz="3600" b="1" dirty="0">
              <a:solidFill>
                <a:schemeClr val="bg2">
                  <a:lumMod val="25000"/>
                </a:schemeClr>
              </a:solidFill>
              <a:latin typeface="Plantagenet Cherokee" panose="02020602070100000000" pitchFamily="18" charset="0"/>
            </a:endParaRPr>
          </a:p>
        </p:txBody>
      </p:sp>
      <p:pic>
        <p:nvPicPr>
          <p:cNvPr id="2" name="Picture 1"/>
          <p:cNvPicPr>
            <a:picLocks noChangeAspect="1"/>
          </p:cNvPicPr>
          <p:nvPr/>
        </p:nvPicPr>
        <p:blipFill>
          <a:blip r:embed="rId2"/>
          <a:stretch>
            <a:fillRect/>
          </a:stretch>
        </p:blipFill>
        <p:spPr>
          <a:xfrm>
            <a:off x="1117412" y="1908555"/>
            <a:ext cx="5655608" cy="2792234"/>
          </a:xfrm>
          <a:prstGeom prst="rect">
            <a:avLst/>
          </a:prstGeom>
          <a:ln w="6350" cap="sq" cmpd="thickThin">
            <a:solidFill>
              <a:srgbClr val="000000"/>
            </a:solidFill>
            <a:prstDash val="solid"/>
            <a:miter lim="800000"/>
            <a:headEnd/>
            <a:tailEnd/>
          </a:ln>
          <a:effectLst>
            <a:innerShdw blurRad="76200">
              <a:srgbClr val="000000"/>
            </a:innerShdw>
          </a:effectLst>
        </p:spPr>
      </p:pic>
      <p:pic>
        <p:nvPicPr>
          <p:cNvPr id="4" name="Picture 3"/>
          <p:cNvPicPr>
            <a:picLocks noChangeAspect="1"/>
          </p:cNvPicPr>
          <p:nvPr/>
        </p:nvPicPr>
        <p:blipFill>
          <a:blip r:embed="rId3"/>
          <a:stretch>
            <a:fillRect/>
          </a:stretch>
        </p:blipFill>
        <p:spPr>
          <a:xfrm>
            <a:off x="4082736" y="3152506"/>
            <a:ext cx="7410671" cy="2385409"/>
          </a:xfrm>
          <a:prstGeom prst="rect">
            <a:avLst/>
          </a:prstGeom>
          <a:ln w="6350" cap="sq" cmpd="thickThin">
            <a:solidFill>
              <a:srgbClr val="000000"/>
            </a:solidFill>
            <a:prstDash val="solid"/>
            <a:miter lim="800000"/>
            <a:headEnd/>
            <a:tailEnd/>
          </a:ln>
          <a:effectLst>
            <a:innerShdw blurRad="76200">
              <a:srgbClr val="000000"/>
            </a:innerShdw>
          </a:effectLst>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8" name="Rectangle 7"/>
          <p:cNvSpPr/>
          <p:nvPr/>
        </p:nvSpPr>
        <p:spPr>
          <a:xfrm>
            <a:off x="537862" y="393442"/>
            <a:ext cx="4178965" cy="646331"/>
          </a:xfrm>
          <a:prstGeom prst="rect">
            <a:avLst/>
          </a:prstGeom>
        </p:spPr>
        <p:txBody>
          <a:bodyPr wrap="none">
            <a:spAutoFit/>
          </a:bodyPr>
          <a:lstStyle/>
          <a:p>
            <a:r>
              <a:rPr lang="en-US" sz="3600" b="1" dirty="0" smtClean="0">
                <a:solidFill>
                  <a:schemeClr val="bg2">
                    <a:lumMod val="25000"/>
                  </a:schemeClr>
                </a:solidFill>
                <a:latin typeface="Plantagenet Cherokee" panose="02020602070100000000" pitchFamily="18" charset="0"/>
              </a:rPr>
              <a:t>Continue statement</a:t>
            </a:r>
            <a:endParaRPr lang="en-US" sz="3600" b="1" dirty="0">
              <a:solidFill>
                <a:schemeClr val="bg2">
                  <a:lumMod val="25000"/>
                </a:schemeClr>
              </a:solidFill>
              <a:latin typeface="Plantagenet Cherokee" panose="02020602070100000000" pitchFamily="18" charset="0"/>
            </a:endParaRPr>
          </a:p>
        </p:txBody>
      </p:sp>
      <p:sp>
        <p:nvSpPr>
          <p:cNvPr id="2" name="Rectangle 1"/>
          <p:cNvSpPr>
            <a:spLocks noChangeArrowheads="1"/>
          </p:cNvSpPr>
          <p:nvPr/>
        </p:nvSpPr>
        <p:spPr bwMode="auto">
          <a:xfrm>
            <a:off x="1326932" y="1111415"/>
            <a:ext cx="1047963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eaLnBrk="0" fontAlgn="base" hangingPunct="0">
              <a:spcBef>
                <a:spcPct val="0"/>
              </a:spcBef>
              <a:spcAft>
                <a:spcPct val="0"/>
              </a:spcAft>
            </a:pPr>
            <a:r>
              <a:rPr lang="en-US" altLang="en-US" sz="2400" dirty="0">
                <a:solidFill>
                  <a:schemeClr val="bg2">
                    <a:lumMod val="25000"/>
                  </a:schemeClr>
                </a:solidFill>
                <a:latin typeface="Georgia" panose="02040502050405020303" pitchFamily="18" charset="0"/>
              </a:rPr>
              <a:t>The continue statement is used to skip the rest of the code inside a loop for the current iteration only. Loop does not terminate but continues on with the next iteration.</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p:txBody>
      </p:sp>
      <p:sp>
        <p:nvSpPr>
          <p:cNvPr id="3" name="Rectangle 2"/>
          <p:cNvSpPr/>
          <p:nvPr/>
        </p:nvSpPr>
        <p:spPr>
          <a:xfrm>
            <a:off x="2444968" y="2321860"/>
            <a:ext cx="6096000" cy="830997"/>
          </a:xfrm>
          <a:prstGeom prst="rect">
            <a:avLst/>
          </a:prstGeom>
        </p:spPr>
        <p:txBody>
          <a:bodyPr>
            <a:spAutoFit/>
          </a:bodyPr>
          <a:lstStyle/>
          <a:p>
            <a:r>
              <a:rPr lang="en-US" sz="2400" b="1" dirty="0" smtClean="0">
                <a:solidFill>
                  <a:schemeClr val="bg2">
                    <a:lumMod val="25000"/>
                  </a:schemeClr>
                </a:solidFill>
                <a:latin typeface="Georgia" panose="02040502050405020303" pitchFamily="18" charset="0"/>
              </a:rPr>
              <a:t>Syntax:</a:t>
            </a:r>
            <a:endParaRPr lang="en-US" sz="2400" b="1" dirty="0" smtClean="0">
              <a:solidFill>
                <a:schemeClr val="bg2">
                  <a:lumMod val="25000"/>
                </a:schemeClr>
              </a:solidFill>
              <a:latin typeface="Georgia" panose="02040502050405020303" pitchFamily="18" charset="0"/>
            </a:endParaRPr>
          </a:p>
          <a:p>
            <a:r>
              <a:rPr lang="en-US" sz="2400" dirty="0" smtClean="0">
                <a:solidFill>
                  <a:schemeClr val="bg2">
                    <a:lumMod val="25000"/>
                  </a:schemeClr>
                </a:solidFill>
                <a:latin typeface="Georgia" panose="02040502050405020303" pitchFamily="18" charset="0"/>
              </a:rPr>
              <a:t>	continue</a:t>
            </a:r>
            <a:endParaRPr lang="en-US" sz="2400" dirty="0">
              <a:solidFill>
                <a:schemeClr val="bg2">
                  <a:lumMod val="25000"/>
                </a:schemeClr>
              </a:solidFill>
              <a:latin typeface="Georgia" panose="02040502050405020303" pitchFamily="18" charset="0"/>
            </a:endParaRPr>
          </a:p>
        </p:txBody>
      </p:sp>
      <p:sp>
        <p:nvSpPr>
          <p:cNvPr id="7" name="Rectangle 6"/>
          <p:cNvSpPr/>
          <p:nvPr/>
        </p:nvSpPr>
        <p:spPr>
          <a:xfrm>
            <a:off x="5492968" y="2383386"/>
            <a:ext cx="7967336" cy="461665"/>
          </a:xfrm>
          <a:prstGeom prst="rect">
            <a:avLst/>
          </a:prstGeom>
        </p:spPr>
        <p:txBody>
          <a:bodyPr wrap="square">
            <a:spAutoFit/>
          </a:bodyPr>
          <a:lstStyle/>
          <a:p>
            <a:r>
              <a:rPr lang="en-US" sz="2400" dirty="0" smtClean="0">
                <a:solidFill>
                  <a:schemeClr val="bg2">
                    <a:lumMod val="25000"/>
                  </a:schemeClr>
                </a:solidFill>
                <a:latin typeface="Georgia" panose="02040502050405020303" pitchFamily="18" charset="0"/>
              </a:rPr>
              <a:t>continue </a:t>
            </a:r>
            <a:r>
              <a:rPr lang="en-US" sz="2400" dirty="0">
                <a:solidFill>
                  <a:schemeClr val="bg2">
                    <a:lumMod val="25000"/>
                  </a:schemeClr>
                </a:solidFill>
                <a:latin typeface="Georgia" panose="02040502050405020303" pitchFamily="18" charset="0"/>
              </a:rPr>
              <a:t>statement in for loop and while loop </a:t>
            </a:r>
            <a:endParaRPr lang="en-US" sz="2400" dirty="0">
              <a:solidFill>
                <a:schemeClr val="bg2">
                  <a:lumMod val="25000"/>
                </a:schemeClr>
              </a:solidFill>
              <a:latin typeface="Georgia" panose="02040502050405020303" pitchFamily="18" charset="0"/>
            </a:endParaRPr>
          </a:p>
        </p:txBody>
      </p:sp>
      <p:pic>
        <p:nvPicPr>
          <p:cNvPr id="5" name="Picture 4"/>
          <p:cNvPicPr>
            <a:picLocks noChangeAspect="1"/>
          </p:cNvPicPr>
          <p:nvPr/>
        </p:nvPicPr>
        <p:blipFill>
          <a:blip r:embed="rId2"/>
          <a:stretch>
            <a:fillRect/>
          </a:stretch>
        </p:blipFill>
        <p:spPr>
          <a:xfrm>
            <a:off x="1921098" y="3152858"/>
            <a:ext cx="3352800" cy="3557036"/>
          </a:xfrm>
          <a:prstGeom prst="rect">
            <a:avLst/>
          </a:prstGeom>
          <a:ln w="6350" cap="sq" cmpd="thickThin">
            <a:solidFill>
              <a:srgbClr val="000000"/>
            </a:solidFill>
            <a:prstDash val="solid"/>
            <a:miter lim="800000"/>
            <a:headEnd/>
            <a:tailEnd/>
          </a:ln>
          <a:effectLst>
            <a:innerShdw blurRad="76200">
              <a:srgbClr val="000000"/>
            </a:innerShdw>
          </a:effectLst>
        </p:spPr>
      </p:pic>
      <p:pic>
        <p:nvPicPr>
          <p:cNvPr id="10" name="Picture 9"/>
          <p:cNvPicPr>
            <a:picLocks noChangeAspect="1"/>
          </p:cNvPicPr>
          <p:nvPr/>
        </p:nvPicPr>
        <p:blipFill>
          <a:blip r:embed="rId3"/>
          <a:stretch>
            <a:fillRect/>
          </a:stretch>
        </p:blipFill>
        <p:spPr>
          <a:xfrm>
            <a:off x="7047521" y="3071924"/>
            <a:ext cx="3667701" cy="3557037"/>
          </a:xfrm>
          <a:prstGeom prst="rect">
            <a:avLst/>
          </a:prstGeom>
          <a:ln w="6350" cap="sq" cmpd="thickThin">
            <a:solidFill>
              <a:srgbClr val="EEF5FF"/>
            </a:solidFill>
            <a:prstDash val="solid"/>
            <a:miter lim="800000"/>
            <a:headEnd/>
            <a:tailEnd/>
          </a:ln>
          <a:effectLst>
            <a:innerShdw blurRad="76200">
              <a:srgbClr val="000000"/>
            </a:innerShdw>
          </a:effectLst>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8" name="Rectangle 7"/>
          <p:cNvSpPr/>
          <p:nvPr/>
        </p:nvSpPr>
        <p:spPr>
          <a:xfrm>
            <a:off x="782561" y="685692"/>
            <a:ext cx="6029536" cy="646331"/>
          </a:xfrm>
          <a:prstGeom prst="rect">
            <a:avLst/>
          </a:prstGeom>
        </p:spPr>
        <p:txBody>
          <a:bodyPr wrap="none">
            <a:spAutoFit/>
          </a:bodyPr>
          <a:lstStyle/>
          <a:p>
            <a:r>
              <a:rPr lang="en-US" sz="3600" b="1" dirty="0" smtClean="0">
                <a:solidFill>
                  <a:schemeClr val="bg2">
                    <a:lumMod val="25000"/>
                  </a:schemeClr>
                </a:solidFill>
                <a:latin typeface="Plantagenet Cherokee" panose="02020602070100000000" pitchFamily="18" charset="0"/>
              </a:rPr>
              <a:t>Continue statement example</a:t>
            </a:r>
            <a:endParaRPr lang="en-US" sz="3600" b="1" dirty="0">
              <a:solidFill>
                <a:schemeClr val="bg2">
                  <a:lumMod val="25000"/>
                </a:schemeClr>
              </a:solidFill>
              <a:latin typeface="Plantagenet Cherokee" panose="02020602070100000000" pitchFamily="18" charset="0"/>
            </a:endParaRPr>
          </a:p>
        </p:txBody>
      </p:sp>
      <p:pic>
        <p:nvPicPr>
          <p:cNvPr id="3" name="Picture 2"/>
          <p:cNvPicPr>
            <a:picLocks noChangeAspect="1"/>
          </p:cNvPicPr>
          <p:nvPr/>
        </p:nvPicPr>
        <p:blipFill>
          <a:blip r:embed="rId2"/>
          <a:stretch>
            <a:fillRect/>
          </a:stretch>
        </p:blipFill>
        <p:spPr>
          <a:xfrm>
            <a:off x="906753" y="2208122"/>
            <a:ext cx="6910723" cy="2969184"/>
          </a:xfrm>
          <a:prstGeom prst="rect">
            <a:avLst/>
          </a:prstGeom>
          <a:ln w="6350" cap="sq" cmpd="thickThin">
            <a:solidFill>
              <a:srgbClr val="000000"/>
            </a:solidFill>
            <a:prstDash val="solid"/>
            <a:miter lim="800000"/>
            <a:headEnd/>
            <a:tailEnd/>
          </a:ln>
          <a:effectLst>
            <a:innerShdw blurRad="76200">
              <a:srgbClr val="000000"/>
            </a:innerShdw>
          </a:effectLst>
        </p:spPr>
      </p:pic>
      <p:pic>
        <p:nvPicPr>
          <p:cNvPr id="5" name="Picture 4"/>
          <p:cNvPicPr>
            <a:picLocks noChangeAspect="1"/>
          </p:cNvPicPr>
          <p:nvPr/>
        </p:nvPicPr>
        <p:blipFill>
          <a:blip r:embed="rId3"/>
          <a:stretch>
            <a:fillRect/>
          </a:stretch>
        </p:blipFill>
        <p:spPr>
          <a:xfrm>
            <a:off x="3994376" y="3316042"/>
            <a:ext cx="7646200" cy="2312026"/>
          </a:xfrm>
          <a:prstGeom prst="rect">
            <a:avLst/>
          </a:prstGeom>
          <a:ln w="6350" cap="sq" cmpd="thickThin">
            <a:solidFill>
              <a:srgbClr val="000000"/>
            </a:solidFill>
            <a:prstDash val="solid"/>
            <a:miter lim="800000"/>
            <a:headEnd/>
            <a:tailEnd/>
          </a:ln>
          <a:effectLst>
            <a:innerShdw blurRad="76200">
              <a:srgbClr val="000000"/>
            </a:innerShdw>
          </a:effectLst>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8" name="Rectangle 7"/>
          <p:cNvSpPr/>
          <p:nvPr/>
        </p:nvSpPr>
        <p:spPr>
          <a:xfrm>
            <a:off x="550741" y="877604"/>
            <a:ext cx="3147657" cy="646331"/>
          </a:xfrm>
          <a:prstGeom prst="rect">
            <a:avLst/>
          </a:prstGeom>
        </p:spPr>
        <p:txBody>
          <a:bodyPr wrap="none">
            <a:spAutoFit/>
          </a:bodyPr>
          <a:lstStyle/>
          <a:p>
            <a:r>
              <a:rPr lang="en-US" sz="3600" b="1" dirty="0" smtClean="0">
                <a:solidFill>
                  <a:schemeClr val="bg2">
                    <a:lumMod val="25000"/>
                  </a:schemeClr>
                </a:solidFill>
                <a:latin typeface="Plantagenet Cherokee" panose="02020602070100000000" pitchFamily="18" charset="0"/>
              </a:rPr>
              <a:t>Pass statement</a:t>
            </a:r>
            <a:endParaRPr lang="en-US" sz="3600" b="1" dirty="0">
              <a:solidFill>
                <a:schemeClr val="bg2">
                  <a:lumMod val="25000"/>
                </a:schemeClr>
              </a:solidFill>
              <a:latin typeface="Plantagenet Cherokee" panose="02020602070100000000" pitchFamily="18" charset="0"/>
            </a:endParaRPr>
          </a:p>
        </p:txBody>
      </p:sp>
      <p:sp>
        <p:nvSpPr>
          <p:cNvPr id="2" name="Rectangle 1"/>
          <p:cNvSpPr>
            <a:spLocks noChangeArrowheads="1"/>
          </p:cNvSpPr>
          <p:nvPr/>
        </p:nvSpPr>
        <p:spPr bwMode="auto">
          <a:xfrm>
            <a:off x="1571630" y="1841150"/>
            <a:ext cx="10479633"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342900" lvl="0" indent="-342900" eaLnBrk="0" fontAlgn="base" hangingPunct="0">
              <a:spcBef>
                <a:spcPct val="0"/>
              </a:spcBef>
              <a:spcAft>
                <a:spcPct val="0"/>
              </a:spcAft>
              <a:buFont typeface="Wingdings" panose="05000000000000000000" pitchFamily="2" charset="2"/>
              <a:buChar char="Ø"/>
            </a:pPr>
            <a:r>
              <a:rPr lang="en-US" altLang="en-US" sz="2400" dirty="0">
                <a:solidFill>
                  <a:schemeClr val="bg2">
                    <a:lumMod val="25000"/>
                  </a:schemeClr>
                </a:solidFill>
                <a:latin typeface="Georgia" panose="02040502050405020303" pitchFamily="18" charset="0"/>
              </a:rPr>
              <a:t>The pass statement is a null operation; </a:t>
            </a:r>
            <a:endParaRPr lang="en-US" altLang="en-US" sz="2400" dirty="0" smtClean="0">
              <a:solidFill>
                <a:schemeClr val="bg2">
                  <a:lumMod val="25000"/>
                </a:schemeClr>
              </a:solidFill>
              <a:latin typeface="Georgia" panose="02040502050405020303" pitchFamily="18" charset="0"/>
            </a:endParaRPr>
          </a:p>
          <a:p>
            <a:pPr marL="342900" lvl="0" indent="-342900" eaLnBrk="0" fontAlgn="base" hangingPunct="0">
              <a:spcBef>
                <a:spcPct val="0"/>
              </a:spcBef>
              <a:spcAft>
                <a:spcPct val="0"/>
              </a:spcAft>
              <a:buFont typeface="Wingdings" panose="05000000000000000000" pitchFamily="2" charset="2"/>
              <a:buChar char="Ø"/>
            </a:pPr>
            <a:r>
              <a:rPr lang="en-US" altLang="en-US" sz="2400" dirty="0" smtClean="0">
                <a:solidFill>
                  <a:schemeClr val="bg2">
                    <a:lumMod val="25000"/>
                  </a:schemeClr>
                </a:solidFill>
                <a:latin typeface="Georgia" panose="02040502050405020303" pitchFamily="18" charset="0"/>
              </a:rPr>
              <a:t>nothing </a:t>
            </a:r>
            <a:r>
              <a:rPr lang="en-US" altLang="en-US" sz="2400" dirty="0">
                <a:solidFill>
                  <a:schemeClr val="bg2">
                    <a:lumMod val="25000"/>
                  </a:schemeClr>
                </a:solidFill>
                <a:latin typeface="Georgia" panose="02040502050405020303" pitchFamily="18" charset="0"/>
              </a:rPr>
              <a:t>happens when it executes. </a:t>
            </a:r>
            <a:endParaRPr lang="en-US" altLang="en-US" sz="2400" dirty="0" smtClean="0">
              <a:solidFill>
                <a:schemeClr val="bg2">
                  <a:lumMod val="25000"/>
                </a:schemeClr>
              </a:solidFill>
              <a:latin typeface="Georgia" panose="02040502050405020303" pitchFamily="18" charset="0"/>
            </a:endParaRPr>
          </a:p>
          <a:p>
            <a:pPr marL="342900" lvl="0" indent="-342900" eaLnBrk="0" fontAlgn="base" hangingPunct="0">
              <a:spcBef>
                <a:spcPct val="0"/>
              </a:spcBef>
              <a:spcAft>
                <a:spcPct val="0"/>
              </a:spcAft>
              <a:buFont typeface="Wingdings" panose="05000000000000000000" pitchFamily="2" charset="2"/>
              <a:buChar char="Ø"/>
            </a:pPr>
            <a:r>
              <a:rPr lang="en-US" altLang="en-US" sz="2400" dirty="0" smtClean="0">
                <a:solidFill>
                  <a:schemeClr val="bg2">
                    <a:lumMod val="25000"/>
                  </a:schemeClr>
                </a:solidFill>
                <a:latin typeface="Georgia" panose="02040502050405020303" pitchFamily="18" charset="0"/>
              </a:rPr>
              <a:t>The </a:t>
            </a:r>
            <a:r>
              <a:rPr lang="en-US" altLang="en-US" sz="2400" dirty="0">
                <a:solidFill>
                  <a:schemeClr val="bg2">
                    <a:lumMod val="25000"/>
                  </a:schemeClr>
                </a:solidFill>
                <a:latin typeface="Georgia" panose="02040502050405020303" pitchFamily="18" charset="0"/>
              </a:rPr>
              <a:t>pass is also useful in places where your code will eventually go, but has not been written yet</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p:txBody>
      </p:sp>
      <p:sp>
        <p:nvSpPr>
          <p:cNvPr id="3" name="Rectangle 2"/>
          <p:cNvSpPr/>
          <p:nvPr/>
        </p:nvSpPr>
        <p:spPr>
          <a:xfrm>
            <a:off x="4093465" y="4150661"/>
            <a:ext cx="6096000" cy="830997"/>
          </a:xfrm>
          <a:prstGeom prst="rect">
            <a:avLst/>
          </a:prstGeom>
        </p:spPr>
        <p:txBody>
          <a:bodyPr>
            <a:spAutoFit/>
          </a:bodyPr>
          <a:lstStyle/>
          <a:p>
            <a:r>
              <a:rPr lang="en-US" sz="2400" b="1" dirty="0" smtClean="0">
                <a:solidFill>
                  <a:schemeClr val="bg2">
                    <a:lumMod val="25000"/>
                  </a:schemeClr>
                </a:solidFill>
                <a:latin typeface="Georgia" panose="02040502050405020303" pitchFamily="18" charset="0"/>
              </a:rPr>
              <a:t>Syntax:</a:t>
            </a:r>
            <a:endParaRPr lang="en-US" sz="2400" b="1" dirty="0" smtClean="0">
              <a:solidFill>
                <a:schemeClr val="bg2">
                  <a:lumMod val="25000"/>
                </a:schemeClr>
              </a:solidFill>
              <a:latin typeface="Georgia" panose="02040502050405020303" pitchFamily="18" charset="0"/>
            </a:endParaRPr>
          </a:p>
          <a:p>
            <a:r>
              <a:rPr lang="en-US" sz="2400" dirty="0" smtClean="0">
                <a:solidFill>
                  <a:schemeClr val="bg2">
                    <a:lumMod val="25000"/>
                  </a:schemeClr>
                </a:solidFill>
                <a:latin typeface="Georgia" panose="02040502050405020303" pitchFamily="18" charset="0"/>
              </a:rPr>
              <a:t>	pass</a:t>
            </a:r>
            <a:endParaRPr lang="en-US" sz="2400" dirty="0">
              <a:solidFill>
                <a:schemeClr val="bg2">
                  <a:lumMod val="25000"/>
                </a:schemeClr>
              </a:solidFill>
              <a:latin typeface="Georgia" panose="02040502050405020303" pitchFamily="18" charset="0"/>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8" name="Rectangle 7"/>
          <p:cNvSpPr/>
          <p:nvPr/>
        </p:nvSpPr>
        <p:spPr>
          <a:xfrm>
            <a:off x="782561" y="685692"/>
            <a:ext cx="4998228" cy="646331"/>
          </a:xfrm>
          <a:prstGeom prst="rect">
            <a:avLst/>
          </a:prstGeom>
        </p:spPr>
        <p:txBody>
          <a:bodyPr wrap="none">
            <a:spAutoFit/>
          </a:bodyPr>
          <a:lstStyle/>
          <a:p>
            <a:r>
              <a:rPr lang="en-US" sz="3600" b="1" dirty="0" smtClean="0">
                <a:solidFill>
                  <a:schemeClr val="bg2">
                    <a:lumMod val="25000"/>
                  </a:schemeClr>
                </a:solidFill>
                <a:latin typeface="Plantagenet Cherokee" panose="02020602070100000000" pitchFamily="18" charset="0"/>
              </a:rPr>
              <a:t>Pass statement example</a:t>
            </a:r>
            <a:endParaRPr lang="en-US" sz="3600" b="1" dirty="0">
              <a:solidFill>
                <a:schemeClr val="bg2">
                  <a:lumMod val="25000"/>
                </a:schemeClr>
              </a:solidFill>
              <a:latin typeface="Plantagenet Cherokee" panose="02020602070100000000" pitchFamily="18" charset="0"/>
            </a:endParaRPr>
          </a:p>
        </p:txBody>
      </p:sp>
      <p:pic>
        <p:nvPicPr>
          <p:cNvPr id="2" name="Picture 1"/>
          <p:cNvPicPr>
            <a:picLocks noChangeAspect="1"/>
          </p:cNvPicPr>
          <p:nvPr/>
        </p:nvPicPr>
        <p:blipFill>
          <a:blip r:embed="rId2"/>
          <a:stretch>
            <a:fillRect/>
          </a:stretch>
        </p:blipFill>
        <p:spPr>
          <a:xfrm>
            <a:off x="1149774" y="2217313"/>
            <a:ext cx="5690766" cy="2869842"/>
          </a:xfrm>
          <a:prstGeom prst="rect">
            <a:avLst/>
          </a:prstGeom>
          <a:ln w="6350" cap="sq" cmpd="thickThin">
            <a:solidFill>
              <a:srgbClr val="000000"/>
            </a:solidFill>
            <a:prstDash val="solid"/>
            <a:miter lim="800000"/>
            <a:headEnd/>
            <a:tailEnd/>
          </a:ln>
          <a:effectLst>
            <a:innerShdw blurRad="76200">
              <a:srgbClr val="000000"/>
            </a:innerShdw>
          </a:effectLst>
        </p:spPr>
      </p:pic>
      <p:pic>
        <p:nvPicPr>
          <p:cNvPr id="4" name="Picture 3"/>
          <p:cNvPicPr>
            <a:picLocks noChangeAspect="1"/>
          </p:cNvPicPr>
          <p:nvPr/>
        </p:nvPicPr>
        <p:blipFill>
          <a:blip r:embed="rId3"/>
          <a:stretch>
            <a:fillRect/>
          </a:stretch>
        </p:blipFill>
        <p:spPr>
          <a:xfrm>
            <a:off x="4724033" y="3795577"/>
            <a:ext cx="6514978" cy="2270371"/>
          </a:xfrm>
          <a:prstGeom prst="rect">
            <a:avLst/>
          </a:prstGeom>
          <a:ln w="6350" cap="sq" cmpd="thickThin">
            <a:solidFill>
              <a:srgbClr val="000000"/>
            </a:solidFill>
            <a:prstDash val="solid"/>
            <a:miter lim="800000"/>
            <a:headEnd/>
            <a:tailEnd/>
          </a:ln>
          <a:effectLst>
            <a:innerShdw blurRad="76200">
              <a:srgbClr val="000000"/>
            </a:innerShdw>
          </a:effectLst>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8" name="Rectangle 7"/>
          <p:cNvSpPr/>
          <p:nvPr/>
        </p:nvSpPr>
        <p:spPr>
          <a:xfrm>
            <a:off x="885592" y="778133"/>
            <a:ext cx="1610762" cy="646331"/>
          </a:xfrm>
          <a:prstGeom prst="rect">
            <a:avLst/>
          </a:prstGeom>
        </p:spPr>
        <p:txBody>
          <a:bodyPr wrap="none">
            <a:spAutoFit/>
          </a:bodyPr>
          <a:lstStyle/>
          <a:p>
            <a:r>
              <a:rPr lang="en-US" sz="3600" b="1" dirty="0" smtClean="0">
                <a:solidFill>
                  <a:schemeClr val="bg2">
                    <a:lumMod val="25000"/>
                  </a:schemeClr>
                </a:solidFill>
                <a:latin typeface="Plantagenet Cherokee" panose="02020602070100000000" pitchFamily="18" charset="0"/>
              </a:rPr>
              <a:t>Strings</a:t>
            </a:r>
            <a:endParaRPr lang="en-US" sz="3600" b="1" dirty="0">
              <a:solidFill>
                <a:schemeClr val="bg2">
                  <a:lumMod val="25000"/>
                </a:schemeClr>
              </a:solidFill>
              <a:latin typeface="Plantagenet Cherokee" panose="02020602070100000000" pitchFamily="18" charset="0"/>
            </a:endParaRPr>
          </a:p>
        </p:txBody>
      </p:sp>
      <p:sp>
        <p:nvSpPr>
          <p:cNvPr id="2" name="Rectangle 1"/>
          <p:cNvSpPr>
            <a:spLocks noChangeArrowheads="1"/>
          </p:cNvSpPr>
          <p:nvPr/>
        </p:nvSpPr>
        <p:spPr bwMode="auto">
          <a:xfrm>
            <a:off x="1517560" y="1604969"/>
            <a:ext cx="10479633"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342900" lvl="0" indent="-342900" eaLnBrk="0" fontAlgn="base" hangingPunct="0">
              <a:spcBef>
                <a:spcPct val="0"/>
              </a:spcBef>
              <a:spcAft>
                <a:spcPct val="0"/>
              </a:spcAft>
              <a:buFont typeface="Wingdings" panose="05000000000000000000" pitchFamily="2" charset="2"/>
              <a:buChar char="Ø"/>
            </a:pPr>
            <a:r>
              <a:rPr lang="en-US" altLang="en-US" sz="2400" dirty="0">
                <a:solidFill>
                  <a:schemeClr val="bg2">
                    <a:lumMod val="25000"/>
                  </a:schemeClr>
                </a:solidFill>
                <a:latin typeface="Georgia" panose="02040502050405020303" pitchFamily="18" charset="0"/>
              </a:rPr>
              <a:t>A string is a sequence of characters</a:t>
            </a:r>
            <a:r>
              <a:rPr lang="en-US" altLang="en-US" sz="2400" dirty="0" smtClean="0">
                <a:solidFill>
                  <a:schemeClr val="bg2">
                    <a:lumMod val="25000"/>
                  </a:schemeClr>
                </a:solidFill>
                <a:latin typeface="Georgia" panose="02040502050405020303" pitchFamily="18" charset="0"/>
              </a:rPr>
              <a:t>.</a:t>
            </a:r>
            <a:endParaRPr lang="en-US" altLang="en-US" sz="2400" dirty="0">
              <a:solidFill>
                <a:schemeClr val="bg2">
                  <a:lumMod val="25000"/>
                </a:schemeClr>
              </a:solidFill>
              <a:latin typeface="Georgia" panose="02040502050405020303" pitchFamily="18" charset="0"/>
            </a:endParaRPr>
          </a:p>
          <a:p>
            <a:pPr marL="342900" lvl="0" indent="-342900" eaLnBrk="0" fontAlgn="base" hangingPunct="0">
              <a:spcBef>
                <a:spcPct val="0"/>
              </a:spcBef>
              <a:spcAft>
                <a:spcPct val="0"/>
              </a:spcAft>
              <a:buFont typeface="Wingdings" panose="05000000000000000000" pitchFamily="2" charset="2"/>
              <a:buChar char="Ø"/>
            </a:pPr>
            <a:r>
              <a:rPr lang="en-US" altLang="en-US" sz="2400" dirty="0">
                <a:solidFill>
                  <a:schemeClr val="bg2">
                    <a:lumMod val="25000"/>
                  </a:schemeClr>
                </a:solidFill>
                <a:latin typeface="Georgia" panose="02040502050405020303" pitchFamily="18" charset="0"/>
              </a:rPr>
              <a:t>A character is simply a symbol</a:t>
            </a:r>
            <a:r>
              <a:rPr lang="en-US" altLang="en-US" sz="2400" dirty="0" smtClean="0">
                <a:solidFill>
                  <a:schemeClr val="bg2">
                    <a:lumMod val="25000"/>
                  </a:schemeClr>
                </a:solidFill>
                <a:latin typeface="Georgia" panose="02040502050405020303" pitchFamily="18" charset="0"/>
              </a:rPr>
              <a:t>.</a:t>
            </a:r>
            <a:endParaRPr lang="en-US" altLang="en-US" sz="2400" dirty="0" smtClean="0">
              <a:solidFill>
                <a:schemeClr val="bg2">
                  <a:lumMod val="25000"/>
                </a:schemeClr>
              </a:solidFill>
              <a:latin typeface="Georgia" panose="02040502050405020303" pitchFamily="18" charset="0"/>
            </a:endParaRPr>
          </a:p>
          <a:p>
            <a:pPr marL="342900" lvl="0" indent="-342900" eaLnBrk="0" fontAlgn="base" hangingPunct="0">
              <a:spcBef>
                <a:spcPct val="0"/>
              </a:spcBef>
              <a:spcAft>
                <a:spcPct val="0"/>
              </a:spcAft>
              <a:buFont typeface="Wingdings" panose="05000000000000000000" pitchFamily="2" charset="2"/>
              <a:buChar char="Ø"/>
            </a:pPr>
            <a:r>
              <a:rPr lang="en-US" altLang="en-US" sz="2400" dirty="0">
                <a:solidFill>
                  <a:schemeClr val="bg2">
                    <a:lumMod val="25000"/>
                  </a:schemeClr>
                </a:solidFill>
                <a:latin typeface="Georgia" panose="02040502050405020303" pitchFamily="18" charset="0"/>
              </a:rPr>
              <a:t>In Python, string is a sequence of Unicode </a:t>
            </a:r>
            <a:r>
              <a:rPr lang="en-US" altLang="en-US" sz="2400" dirty="0" smtClean="0">
                <a:solidFill>
                  <a:schemeClr val="bg2">
                    <a:lumMod val="25000"/>
                  </a:schemeClr>
                </a:solidFill>
                <a:latin typeface="Georgia" panose="02040502050405020303" pitchFamily="18" charset="0"/>
              </a:rPr>
              <a:t>character</a:t>
            </a:r>
            <a:endParaRPr lang="en-US" altLang="en-US" sz="2400" dirty="0" smtClean="0">
              <a:solidFill>
                <a:schemeClr val="bg2">
                  <a:lumMod val="25000"/>
                </a:schemeClr>
              </a:solidFill>
              <a:latin typeface="Georgia" panose="02040502050405020303" pitchFamily="18" charset="0"/>
            </a:endParaRPr>
          </a:p>
          <a:p>
            <a:pPr marL="342900" lvl="0" indent="-342900" eaLnBrk="0" fontAlgn="base" hangingPunct="0">
              <a:spcBef>
                <a:spcPct val="0"/>
              </a:spcBef>
              <a:spcAft>
                <a:spcPct val="0"/>
              </a:spcAft>
              <a:buFont typeface="Wingdings" panose="05000000000000000000" pitchFamily="2" charset="2"/>
              <a:buChar char="Ø"/>
            </a:pPr>
            <a:r>
              <a:rPr lang="en-US" altLang="en-US" sz="2400" dirty="0">
                <a:solidFill>
                  <a:schemeClr val="bg2">
                    <a:lumMod val="25000"/>
                  </a:schemeClr>
                </a:solidFill>
                <a:latin typeface="Georgia" panose="02040502050405020303" pitchFamily="18" charset="0"/>
              </a:rPr>
              <a:t>Strings can be created by enclosing characters inside a single quote or double quotes</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p:txBody>
      </p:sp>
      <p:sp>
        <p:nvSpPr>
          <p:cNvPr id="3" name="Rectangle 2"/>
          <p:cNvSpPr/>
          <p:nvPr/>
        </p:nvSpPr>
        <p:spPr>
          <a:xfrm>
            <a:off x="4093465" y="4150661"/>
            <a:ext cx="6096000" cy="2306955"/>
          </a:xfrm>
          <a:prstGeom prst="rect">
            <a:avLst/>
          </a:prstGeom>
        </p:spPr>
        <p:txBody>
          <a:bodyPr>
            <a:spAutoFit/>
          </a:bodyPr>
          <a:lstStyle/>
          <a:p>
            <a:r>
              <a:rPr lang="en-US" sz="2400" b="1" dirty="0" smtClean="0">
                <a:solidFill>
                  <a:schemeClr val="bg2">
                    <a:lumMod val="25000"/>
                  </a:schemeClr>
                </a:solidFill>
                <a:latin typeface="Georgia" panose="02040502050405020303" pitchFamily="18" charset="0"/>
              </a:rPr>
              <a:t>Syntax:</a:t>
            </a:r>
            <a:endParaRPr lang="en-US" sz="2400" b="1" dirty="0" smtClean="0">
              <a:solidFill>
                <a:schemeClr val="bg2">
                  <a:lumMod val="25000"/>
                </a:schemeClr>
              </a:solidFill>
              <a:latin typeface="Georgia" panose="02040502050405020303" pitchFamily="18" charset="0"/>
            </a:endParaRPr>
          </a:p>
          <a:p>
            <a:r>
              <a:rPr lang="en-US" sz="2400" dirty="0" smtClean="0">
                <a:solidFill>
                  <a:schemeClr val="bg2">
                    <a:lumMod val="25000"/>
                  </a:schemeClr>
                </a:solidFill>
                <a:latin typeface="Georgia" panose="02040502050405020303" pitchFamily="18" charset="0"/>
              </a:rPr>
              <a:t>	“ String “</a:t>
            </a:r>
            <a:endParaRPr lang="en-US" sz="2400" dirty="0" smtClean="0">
              <a:solidFill>
                <a:schemeClr val="bg2">
                  <a:lumMod val="25000"/>
                </a:schemeClr>
              </a:solidFill>
              <a:latin typeface="Georgia" panose="02040502050405020303" pitchFamily="18" charset="0"/>
            </a:endParaRPr>
          </a:p>
          <a:p>
            <a:r>
              <a:rPr lang="en-US" sz="2400" dirty="0">
                <a:solidFill>
                  <a:schemeClr val="bg2">
                    <a:lumMod val="25000"/>
                  </a:schemeClr>
                </a:solidFill>
                <a:latin typeface="Georgia" panose="02040502050405020303" pitchFamily="18" charset="0"/>
              </a:rPr>
              <a:t>            ‘ String ‘</a:t>
            </a:r>
            <a:endParaRPr lang="en-US" sz="2400" dirty="0">
              <a:solidFill>
                <a:schemeClr val="bg2">
                  <a:lumMod val="25000"/>
                </a:schemeClr>
              </a:solidFill>
              <a:latin typeface="Georgia" panose="02040502050405020303" pitchFamily="18" charset="0"/>
            </a:endParaRPr>
          </a:p>
          <a:p>
            <a:r>
              <a:rPr lang="en-US" sz="2400" dirty="0">
                <a:solidFill>
                  <a:schemeClr val="bg2">
                    <a:lumMod val="25000"/>
                  </a:schemeClr>
                </a:solidFill>
                <a:latin typeface="Georgia" panose="02040502050405020303" pitchFamily="18" charset="0"/>
              </a:rPr>
              <a:t>            “ Strings “</a:t>
            </a:r>
            <a:endParaRPr lang="en-US" sz="2400" dirty="0">
              <a:solidFill>
                <a:schemeClr val="bg2">
                  <a:lumMod val="25000"/>
                </a:schemeClr>
              </a:solidFill>
              <a:latin typeface="Georgia" panose="02040502050405020303" pitchFamily="18" charset="0"/>
            </a:endParaRPr>
          </a:p>
          <a:p>
            <a:r>
              <a:rPr lang="en-US" sz="2400" dirty="0">
                <a:solidFill>
                  <a:schemeClr val="bg2">
                    <a:lumMod val="25000"/>
                  </a:schemeClr>
                </a:solidFill>
                <a:latin typeface="Georgia" panose="02040502050405020303" pitchFamily="18" charset="0"/>
              </a:rPr>
              <a:t>            ‘ Strings ‘</a:t>
            </a:r>
            <a:endParaRPr lang="en-US" sz="2400" dirty="0">
              <a:solidFill>
                <a:schemeClr val="bg2">
                  <a:lumMod val="25000"/>
                </a:schemeClr>
              </a:solidFill>
              <a:latin typeface="Georgia" panose="02040502050405020303" pitchFamily="18" charset="0"/>
            </a:endParaRPr>
          </a:p>
          <a:p>
            <a:endParaRPr lang="en-US" sz="2400" dirty="0">
              <a:solidFill>
                <a:schemeClr val="bg2">
                  <a:lumMod val="25000"/>
                </a:schemeClr>
              </a:solidFill>
              <a:latin typeface="Georgia" panose="02040502050405020303" pitchFamily="18" charset="0"/>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8" name="Rectangle 7"/>
          <p:cNvSpPr/>
          <p:nvPr/>
        </p:nvSpPr>
        <p:spPr>
          <a:xfrm>
            <a:off x="1078775" y="971316"/>
            <a:ext cx="1610762" cy="646331"/>
          </a:xfrm>
          <a:prstGeom prst="rect">
            <a:avLst/>
          </a:prstGeom>
        </p:spPr>
        <p:txBody>
          <a:bodyPr wrap="none">
            <a:spAutoFit/>
          </a:bodyPr>
          <a:lstStyle/>
          <a:p>
            <a:r>
              <a:rPr lang="en-US" sz="3600" b="1" dirty="0" smtClean="0">
                <a:solidFill>
                  <a:schemeClr val="bg2">
                    <a:lumMod val="25000"/>
                  </a:schemeClr>
                </a:solidFill>
                <a:latin typeface="Plantagenet Cherokee" panose="02020602070100000000" pitchFamily="18" charset="0"/>
              </a:rPr>
              <a:t>Strings</a:t>
            </a:r>
            <a:endParaRPr lang="en-US" sz="3600" b="1" dirty="0">
              <a:solidFill>
                <a:schemeClr val="bg2">
                  <a:lumMod val="25000"/>
                </a:schemeClr>
              </a:solidFill>
              <a:latin typeface="Plantagenet Cherokee" panose="02020602070100000000" pitchFamily="18" charset="0"/>
            </a:endParaRPr>
          </a:p>
        </p:txBody>
      </p:sp>
      <p:sp>
        <p:nvSpPr>
          <p:cNvPr id="2" name="Rectangle 1"/>
          <p:cNvSpPr>
            <a:spLocks noChangeArrowheads="1"/>
          </p:cNvSpPr>
          <p:nvPr/>
        </p:nvSpPr>
        <p:spPr bwMode="auto">
          <a:xfrm>
            <a:off x="1712367" y="1802313"/>
            <a:ext cx="10479633"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342900" lvl="0" indent="-342900" eaLnBrk="0" fontAlgn="base" hangingPunct="0">
              <a:spcBef>
                <a:spcPct val="0"/>
              </a:spcBef>
              <a:spcAft>
                <a:spcPct val="0"/>
              </a:spcAft>
              <a:buFont typeface="Wingdings" panose="05000000000000000000" pitchFamily="2" charset="2"/>
              <a:buChar char="Ø"/>
            </a:pPr>
            <a:r>
              <a:rPr lang="en-US" altLang="en-US" sz="2400" dirty="0">
                <a:solidFill>
                  <a:schemeClr val="bg2">
                    <a:lumMod val="25000"/>
                  </a:schemeClr>
                </a:solidFill>
                <a:latin typeface="Georgia" panose="02040502050405020303" pitchFamily="18" charset="0"/>
              </a:rPr>
              <a:t>A string is a sequence of characters</a:t>
            </a:r>
            <a:r>
              <a:rPr lang="en-US" altLang="en-US" sz="2400" dirty="0" smtClean="0">
                <a:solidFill>
                  <a:schemeClr val="bg2">
                    <a:lumMod val="25000"/>
                  </a:schemeClr>
                </a:solidFill>
                <a:latin typeface="Georgia" panose="02040502050405020303" pitchFamily="18" charset="0"/>
              </a:rPr>
              <a:t>.</a:t>
            </a:r>
            <a:endParaRPr lang="en-US" altLang="en-US" sz="2400" dirty="0">
              <a:solidFill>
                <a:schemeClr val="bg2">
                  <a:lumMod val="25000"/>
                </a:schemeClr>
              </a:solidFill>
              <a:latin typeface="Georgia" panose="02040502050405020303" pitchFamily="18" charset="0"/>
            </a:endParaRPr>
          </a:p>
          <a:p>
            <a:pPr marL="342900" lvl="0" indent="-342900" eaLnBrk="0" fontAlgn="base" hangingPunct="0">
              <a:spcBef>
                <a:spcPct val="0"/>
              </a:spcBef>
              <a:spcAft>
                <a:spcPct val="0"/>
              </a:spcAft>
              <a:buFont typeface="Wingdings" panose="05000000000000000000" pitchFamily="2" charset="2"/>
              <a:buChar char="Ø"/>
            </a:pPr>
            <a:r>
              <a:rPr lang="en-US" altLang="en-US" sz="2400" dirty="0">
                <a:solidFill>
                  <a:schemeClr val="bg2">
                    <a:lumMod val="25000"/>
                  </a:schemeClr>
                </a:solidFill>
                <a:latin typeface="Georgia" panose="02040502050405020303" pitchFamily="18" charset="0"/>
              </a:rPr>
              <a:t>A character is simply a symbol</a:t>
            </a:r>
            <a:r>
              <a:rPr lang="en-US" altLang="en-US" sz="2400" dirty="0" smtClean="0">
                <a:solidFill>
                  <a:schemeClr val="bg2">
                    <a:lumMod val="25000"/>
                  </a:schemeClr>
                </a:solidFill>
                <a:latin typeface="Georgia" panose="02040502050405020303" pitchFamily="18" charset="0"/>
              </a:rPr>
              <a:t>.</a:t>
            </a:r>
            <a:endParaRPr lang="en-US" altLang="en-US" sz="2400" dirty="0" smtClean="0">
              <a:solidFill>
                <a:schemeClr val="bg2">
                  <a:lumMod val="25000"/>
                </a:schemeClr>
              </a:solidFill>
              <a:latin typeface="Georgia" panose="02040502050405020303" pitchFamily="18" charset="0"/>
            </a:endParaRPr>
          </a:p>
          <a:p>
            <a:pPr marL="342900" lvl="0" indent="-342900" eaLnBrk="0" fontAlgn="base" hangingPunct="0">
              <a:spcBef>
                <a:spcPct val="0"/>
              </a:spcBef>
              <a:spcAft>
                <a:spcPct val="0"/>
              </a:spcAft>
              <a:buFont typeface="Wingdings" panose="05000000000000000000" pitchFamily="2" charset="2"/>
              <a:buChar char="Ø"/>
            </a:pPr>
            <a:r>
              <a:rPr lang="en-US" altLang="en-US" sz="2400" dirty="0">
                <a:solidFill>
                  <a:schemeClr val="bg2">
                    <a:lumMod val="25000"/>
                  </a:schemeClr>
                </a:solidFill>
                <a:latin typeface="Georgia" panose="02040502050405020303" pitchFamily="18" charset="0"/>
              </a:rPr>
              <a:t>In Python, string is a sequence of Unicode </a:t>
            </a:r>
            <a:r>
              <a:rPr lang="en-US" altLang="en-US" sz="2400" dirty="0" smtClean="0">
                <a:solidFill>
                  <a:schemeClr val="bg2">
                    <a:lumMod val="25000"/>
                  </a:schemeClr>
                </a:solidFill>
                <a:latin typeface="Georgia" panose="02040502050405020303" pitchFamily="18" charset="0"/>
              </a:rPr>
              <a:t>character</a:t>
            </a:r>
            <a:endParaRPr lang="en-US" altLang="en-US" sz="2400" dirty="0" smtClean="0">
              <a:solidFill>
                <a:schemeClr val="bg2">
                  <a:lumMod val="25000"/>
                </a:schemeClr>
              </a:solidFill>
              <a:latin typeface="Georgia" panose="02040502050405020303" pitchFamily="18" charset="0"/>
            </a:endParaRPr>
          </a:p>
          <a:p>
            <a:pPr lvl="0" eaLnBrk="0" fontAlgn="base" hangingPunct="0">
              <a:spcBef>
                <a:spcPct val="0"/>
              </a:spcBef>
              <a:spcAft>
                <a:spcPct val="0"/>
              </a:spcAft>
            </a:pPr>
            <a:endParaRPr lang="en-US" altLang="en-US" sz="2400" dirty="0">
              <a:solidFill>
                <a:schemeClr val="bg2">
                  <a:lumMod val="25000"/>
                </a:schemeClr>
              </a:solidFill>
              <a:latin typeface="Georgia" panose="02040502050405020303" pitchFamily="18" charset="0"/>
            </a:endParaRPr>
          </a:p>
          <a:p>
            <a:pPr lvl="0" eaLnBrk="0" fontAlgn="base" hangingPunct="0">
              <a:spcBef>
                <a:spcPct val="0"/>
              </a:spcBef>
              <a:spcAft>
                <a:spcPct val="0"/>
              </a:spcAft>
            </a:pPr>
            <a:endParaRPr lang="en-US" altLang="en-US" sz="2400" dirty="0" smtClean="0">
              <a:solidFill>
                <a:schemeClr val="bg2">
                  <a:lumMod val="25000"/>
                </a:schemeClr>
              </a:solidFill>
              <a:latin typeface="Georgia" panose="02040502050405020303" pitchFamily="18" charset="0"/>
            </a:endParaRPr>
          </a:p>
          <a:p>
            <a:pPr marL="342900" lvl="0" indent="-342900" eaLnBrk="0" fontAlgn="base" hangingPunct="0">
              <a:spcBef>
                <a:spcPct val="0"/>
              </a:spcBef>
              <a:spcAft>
                <a:spcPct val="0"/>
              </a:spcAft>
              <a:buFont typeface="Wingdings" panose="05000000000000000000" pitchFamily="2" charset="2"/>
              <a:buChar char="Ø"/>
            </a:pPr>
            <a:endParaRPr lang="en-US" altLang="en-US" sz="2400" dirty="0" smtClean="0">
              <a:solidFill>
                <a:schemeClr val="bg2">
                  <a:lumMod val="25000"/>
                </a:schemeClr>
              </a:solidFill>
              <a:latin typeface="Georgia" panose="02040502050405020303" pitchFamily="18" charset="0"/>
            </a:endParaRPr>
          </a:p>
          <a:p>
            <a:pPr marL="342900" lvl="0" indent="-342900" eaLnBrk="0" fontAlgn="base" hangingPunct="0">
              <a:spcBef>
                <a:spcPct val="0"/>
              </a:spcBef>
              <a:spcAft>
                <a:spcPct val="0"/>
              </a:spcAft>
              <a:buFont typeface="Wingdings" panose="05000000000000000000" pitchFamily="2" charset="2"/>
              <a:buChar char="Ø"/>
            </a:pPr>
            <a:r>
              <a:rPr lang="en-US" altLang="en-US" sz="2400" dirty="0" smtClean="0">
                <a:solidFill>
                  <a:schemeClr val="bg2">
                    <a:lumMod val="25000"/>
                  </a:schemeClr>
                </a:solidFill>
                <a:latin typeface="Georgia" panose="02040502050405020303" pitchFamily="18" charset="0"/>
              </a:rPr>
              <a:t>Strings </a:t>
            </a:r>
            <a:r>
              <a:rPr lang="en-US" altLang="en-US" sz="2400" dirty="0">
                <a:solidFill>
                  <a:schemeClr val="bg2">
                    <a:lumMod val="25000"/>
                  </a:schemeClr>
                </a:solidFill>
                <a:latin typeface="Georgia" panose="02040502050405020303" pitchFamily="18" charset="0"/>
              </a:rPr>
              <a:t>can be created by enclosing characters inside a single quote or double </a:t>
            </a:r>
            <a:r>
              <a:rPr lang="en-US" altLang="en-US" sz="2400" dirty="0" smtClean="0">
                <a:solidFill>
                  <a:schemeClr val="bg2">
                    <a:lumMod val="25000"/>
                  </a:schemeClr>
                </a:solidFill>
                <a:latin typeface="Georgia" panose="02040502050405020303" pitchFamily="18" charset="0"/>
              </a:rPr>
              <a:t>quotes</a:t>
            </a:r>
            <a:endParaRPr lang="en-US" altLang="en-US" sz="2400" dirty="0" smtClean="0">
              <a:solidFill>
                <a:schemeClr val="bg2">
                  <a:lumMod val="25000"/>
                </a:schemeClr>
              </a:solidFill>
              <a:latin typeface="Georgia" panose="02040502050405020303" pitchFamily="18" charset="0"/>
            </a:endParaRPr>
          </a:p>
          <a:p>
            <a:pPr marL="342900" lvl="0" indent="-342900" eaLnBrk="0" fontAlgn="base" hangingPunct="0">
              <a:spcBef>
                <a:spcPct val="0"/>
              </a:spcBef>
              <a:spcAft>
                <a:spcPct val="0"/>
              </a:spcAft>
              <a:buFont typeface="Wingdings" panose="05000000000000000000" pitchFamily="2" charset="2"/>
              <a:buChar char="Ø"/>
            </a:pPr>
            <a:r>
              <a:rPr lang="en-US" altLang="en-US" sz="2400" dirty="0">
                <a:solidFill>
                  <a:schemeClr val="bg2">
                    <a:lumMod val="25000"/>
                  </a:schemeClr>
                </a:solidFill>
                <a:latin typeface="Georgia" panose="02040502050405020303" pitchFamily="18" charset="0"/>
              </a:rPr>
              <a:t>Even triple quotes can be used in Python but generally used to represent multiline </a:t>
            </a:r>
            <a:r>
              <a:rPr lang="en-US" altLang="en-US" sz="2400" dirty="0" smtClean="0">
                <a:solidFill>
                  <a:schemeClr val="bg2">
                    <a:lumMod val="25000"/>
                  </a:schemeClr>
                </a:solidFill>
                <a:latin typeface="Georgia" panose="02040502050405020303" pitchFamily="18" charset="0"/>
              </a:rPr>
              <a:t>string.</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p:txBody>
      </p:sp>
      <p:sp>
        <p:nvSpPr>
          <p:cNvPr id="7" name="Rectangle 6"/>
          <p:cNvSpPr/>
          <p:nvPr/>
        </p:nvSpPr>
        <p:spPr>
          <a:xfrm>
            <a:off x="1078775" y="3399699"/>
            <a:ext cx="5434501" cy="461665"/>
          </a:xfrm>
          <a:prstGeom prst="rect">
            <a:avLst/>
          </a:prstGeom>
        </p:spPr>
        <p:txBody>
          <a:bodyPr wrap="none">
            <a:spAutoFit/>
          </a:bodyPr>
          <a:lstStyle/>
          <a:p>
            <a:r>
              <a:rPr lang="en-US" sz="2400" b="1" dirty="0">
                <a:solidFill>
                  <a:schemeClr val="bg2">
                    <a:lumMod val="25000"/>
                  </a:schemeClr>
                </a:solidFill>
                <a:latin typeface="Georgia" panose="02040502050405020303" pitchFamily="18" charset="0"/>
              </a:rPr>
              <a:t>How to create a string in Python?</a:t>
            </a:r>
            <a:endParaRPr lang="en-US" sz="2400" b="1" dirty="0">
              <a:solidFill>
                <a:schemeClr val="bg2">
                  <a:lumMod val="25000"/>
                </a:schemeClr>
              </a:solidFill>
              <a:latin typeface="Georgia" panose="02040502050405020303" pitchFamily="18" charset="0"/>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8" name="Rectangle 7"/>
          <p:cNvSpPr/>
          <p:nvPr/>
        </p:nvSpPr>
        <p:spPr>
          <a:xfrm>
            <a:off x="782561" y="685692"/>
            <a:ext cx="3342966" cy="646331"/>
          </a:xfrm>
          <a:prstGeom prst="rect">
            <a:avLst/>
          </a:prstGeom>
        </p:spPr>
        <p:txBody>
          <a:bodyPr wrap="none">
            <a:spAutoFit/>
          </a:bodyPr>
          <a:lstStyle/>
          <a:p>
            <a:r>
              <a:rPr lang="en-US" sz="3600" b="1" dirty="0" smtClean="0">
                <a:solidFill>
                  <a:schemeClr val="bg2">
                    <a:lumMod val="25000"/>
                  </a:schemeClr>
                </a:solidFill>
                <a:latin typeface="Plantagenet Cherokee" panose="02020602070100000000" pitchFamily="18" charset="0"/>
              </a:rPr>
              <a:t>String Example</a:t>
            </a:r>
            <a:endParaRPr lang="en-US" sz="3600" b="1" dirty="0">
              <a:solidFill>
                <a:schemeClr val="bg2">
                  <a:lumMod val="25000"/>
                </a:schemeClr>
              </a:solidFill>
              <a:latin typeface="Plantagenet Cherokee" panose="02020602070100000000" pitchFamily="18" charset="0"/>
            </a:endParaRPr>
          </a:p>
        </p:txBody>
      </p:sp>
      <p:pic>
        <p:nvPicPr>
          <p:cNvPr id="3" name="Picture 2"/>
          <p:cNvPicPr>
            <a:picLocks noChangeAspect="1"/>
          </p:cNvPicPr>
          <p:nvPr/>
        </p:nvPicPr>
        <p:blipFill>
          <a:blip r:embed="rId2"/>
          <a:stretch>
            <a:fillRect/>
          </a:stretch>
        </p:blipFill>
        <p:spPr>
          <a:xfrm>
            <a:off x="1007314" y="1503028"/>
            <a:ext cx="6236425" cy="3378064"/>
          </a:xfrm>
          <a:prstGeom prst="rect">
            <a:avLst/>
          </a:prstGeom>
          <a:ln w="6350" cap="sq" cmpd="thickThin">
            <a:solidFill>
              <a:srgbClr val="000000"/>
            </a:solidFill>
            <a:prstDash val="solid"/>
            <a:miter lim="800000"/>
            <a:headEnd/>
            <a:tailEnd/>
          </a:ln>
          <a:effectLst>
            <a:innerShdw blurRad="76200">
              <a:srgbClr val="000000"/>
            </a:innerShdw>
          </a:effectLst>
        </p:spPr>
      </p:pic>
      <p:pic>
        <p:nvPicPr>
          <p:cNvPr id="5" name="Picture 4"/>
          <p:cNvPicPr>
            <a:picLocks noChangeAspect="1"/>
          </p:cNvPicPr>
          <p:nvPr/>
        </p:nvPicPr>
        <p:blipFill>
          <a:blip r:embed="rId3"/>
          <a:stretch>
            <a:fillRect/>
          </a:stretch>
        </p:blipFill>
        <p:spPr>
          <a:xfrm>
            <a:off x="4685226" y="4246328"/>
            <a:ext cx="7104584" cy="2152448"/>
          </a:xfrm>
          <a:prstGeom prst="rect">
            <a:avLst/>
          </a:prstGeom>
          <a:ln w="6350" cap="sq" cmpd="thickThin">
            <a:solidFill>
              <a:srgbClr val="000000"/>
            </a:solidFill>
            <a:prstDash val="solid"/>
            <a:miter lim="800000"/>
            <a:headEnd/>
            <a:tailEnd/>
          </a:ln>
          <a:effectLst>
            <a:innerShdw blurRad="76200">
              <a:srgbClr val="000000"/>
            </a:innerShdw>
          </a:effectLst>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8" name="Rectangle 7"/>
          <p:cNvSpPr/>
          <p:nvPr/>
        </p:nvSpPr>
        <p:spPr>
          <a:xfrm>
            <a:off x="769682" y="362634"/>
            <a:ext cx="5316584" cy="646331"/>
          </a:xfrm>
          <a:prstGeom prst="rect">
            <a:avLst/>
          </a:prstGeom>
        </p:spPr>
        <p:txBody>
          <a:bodyPr wrap="none">
            <a:spAutoFit/>
          </a:bodyPr>
          <a:lstStyle/>
          <a:p>
            <a:r>
              <a:rPr lang="en-US" sz="3600" b="1" dirty="0">
                <a:solidFill>
                  <a:schemeClr val="bg2">
                    <a:lumMod val="25000"/>
                  </a:schemeClr>
                </a:solidFill>
                <a:latin typeface="Plantagenet Cherokee" panose="02020602070100000000" pitchFamily="18" charset="0"/>
              </a:rPr>
              <a:t>Accessing Python Strings</a:t>
            </a:r>
            <a:endParaRPr lang="en-US" sz="3600" b="1" dirty="0">
              <a:solidFill>
                <a:schemeClr val="bg2">
                  <a:lumMod val="25000"/>
                </a:schemeClr>
              </a:solidFill>
              <a:latin typeface="Plantagenet Cherokee" panose="02020602070100000000" pitchFamily="18" charset="0"/>
            </a:endParaRPr>
          </a:p>
        </p:txBody>
      </p:sp>
      <p:sp>
        <p:nvSpPr>
          <p:cNvPr id="2" name="Rectangle 1"/>
          <p:cNvSpPr>
            <a:spLocks noChangeArrowheads="1"/>
          </p:cNvSpPr>
          <p:nvPr/>
        </p:nvSpPr>
        <p:spPr bwMode="auto">
          <a:xfrm>
            <a:off x="1712367" y="1008965"/>
            <a:ext cx="10479633"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342900" lvl="0" indent="-342900" eaLnBrk="0" fontAlgn="base" hangingPunct="0">
              <a:spcBef>
                <a:spcPct val="0"/>
              </a:spcBef>
              <a:spcAft>
                <a:spcPct val="0"/>
              </a:spcAft>
              <a:buFont typeface="Wingdings" panose="05000000000000000000" pitchFamily="2" charset="2"/>
              <a:buChar char="Ø"/>
            </a:pPr>
            <a:endParaRPr lang="en-US" altLang="en-US" sz="2400" dirty="0">
              <a:solidFill>
                <a:schemeClr val="bg2">
                  <a:lumMod val="25000"/>
                </a:schemeClr>
              </a:solidFill>
              <a:latin typeface="Georgia" panose="02040502050405020303" pitchFamily="18" charset="0"/>
            </a:endParaRPr>
          </a:p>
          <a:p>
            <a:pPr marL="342900" lvl="0" indent="-342900" eaLnBrk="0" fontAlgn="base" hangingPunct="0">
              <a:spcBef>
                <a:spcPct val="0"/>
              </a:spcBef>
              <a:spcAft>
                <a:spcPct val="0"/>
              </a:spcAft>
              <a:buFont typeface="Wingdings" panose="05000000000000000000" pitchFamily="2" charset="2"/>
              <a:buChar char="Ø"/>
            </a:pPr>
            <a:r>
              <a:rPr lang="en-US" altLang="en-US" sz="2400" dirty="0" smtClean="0">
                <a:solidFill>
                  <a:schemeClr val="bg2">
                    <a:lumMod val="25000"/>
                  </a:schemeClr>
                </a:solidFill>
                <a:latin typeface="Georgia" panose="02040502050405020303" pitchFamily="18" charset="0"/>
              </a:rPr>
              <a:t>Strings </a:t>
            </a:r>
            <a:r>
              <a:rPr lang="en-US" altLang="en-US" sz="2400" dirty="0">
                <a:solidFill>
                  <a:schemeClr val="bg2">
                    <a:lumMod val="25000"/>
                  </a:schemeClr>
                </a:solidFill>
                <a:latin typeface="Georgia" panose="02040502050405020303" pitchFamily="18" charset="0"/>
              </a:rPr>
              <a:t>are stored as individual characters in a contiguous memory location.</a:t>
            </a:r>
            <a:endParaRPr lang="en-US" altLang="en-US" sz="2400" dirty="0">
              <a:solidFill>
                <a:schemeClr val="bg2">
                  <a:lumMod val="25000"/>
                </a:schemeClr>
              </a:solidFill>
              <a:latin typeface="Georgia" panose="02040502050405020303" pitchFamily="18" charset="0"/>
            </a:endParaRPr>
          </a:p>
          <a:p>
            <a:pPr marL="342900" lvl="0" indent="-342900" eaLnBrk="0" fontAlgn="base" hangingPunct="0">
              <a:spcBef>
                <a:spcPct val="0"/>
              </a:spcBef>
              <a:spcAft>
                <a:spcPct val="0"/>
              </a:spcAft>
              <a:buFont typeface="Wingdings" panose="05000000000000000000" pitchFamily="2" charset="2"/>
              <a:buChar char="Ø"/>
            </a:pPr>
            <a:r>
              <a:rPr lang="en-US" altLang="en-US" sz="2400" dirty="0" smtClean="0">
                <a:solidFill>
                  <a:schemeClr val="bg2">
                    <a:lumMod val="25000"/>
                  </a:schemeClr>
                </a:solidFill>
                <a:latin typeface="Georgia" panose="02040502050405020303" pitchFamily="18" charset="0"/>
              </a:rPr>
              <a:t>The </a:t>
            </a:r>
            <a:r>
              <a:rPr lang="en-US" altLang="en-US" sz="2400" dirty="0">
                <a:solidFill>
                  <a:schemeClr val="bg2">
                    <a:lumMod val="25000"/>
                  </a:schemeClr>
                </a:solidFill>
                <a:latin typeface="Georgia" panose="02040502050405020303" pitchFamily="18" charset="0"/>
              </a:rPr>
              <a:t>benefit of using String is that it can be accessed from both the directions (forward and backward).</a:t>
            </a:r>
            <a:endParaRPr lang="en-US" altLang="en-US" sz="2400" dirty="0">
              <a:solidFill>
                <a:schemeClr val="bg2">
                  <a:lumMod val="25000"/>
                </a:schemeClr>
              </a:solidFill>
              <a:latin typeface="Georgia" panose="02040502050405020303" pitchFamily="18" charset="0"/>
            </a:endParaRPr>
          </a:p>
          <a:p>
            <a:pPr lvl="2" eaLnBrk="0" fontAlgn="base" hangingPunct="0">
              <a:spcBef>
                <a:spcPct val="0"/>
              </a:spcBef>
              <a:spcAft>
                <a:spcPct val="0"/>
              </a:spcAft>
            </a:pPr>
            <a:endParaRPr lang="en-US" altLang="en-US" sz="2400" dirty="0" smtClean="0">
              <a:solidFill>
                <a:schemeClr val="bg2">
                  <a:lumMod val="25000"/>
                </a:schemeClr>
              </a:solidFill>
              <a:latin typeface="Georgia" panose="02040502050405020303" pitchFamily="18" charset="0"/>
            </a:endParaRPr>
          </a:p>
          <a:p>
            <a:pPr lvl="2" eaLnBrk="0" fontAlgn="base" hangingPunct="0">
              <a:spcBef>
                <a:spcPct val="0"/>
              </a:spcBef>
              <a:spcAft>
                <a:spcPct val="0"/>
              </a:spcAft>
            </a:pPr>
            <a:r>
              <a:rPr lang="en-US" altLang="en-US" sz="2400" dirty="0" smtClean="0">
                <a:solidFill>
                  <a:schemeClr val="bg2">
                    <a:lumMod val="25000"/>
                  </a:schemeClr>
                </a:solidFill>
                <a:latin typeface="Georgia" panose="02040502050405020303" pitchFamily="18" charset="0"/>
              </a:rPr>
              <a:t>Forward </a:t>
            </a:r>
            <a:r>
              <a:rPr lang="en-US" altLang="en-US" sz="2400" dirty="0">
                <a:solidFill>
                  <a:schemeClr val="bg2">
                    <a:lumMod val="25000"/>
                  </a:schemeClr>
                </a:solidFill>
                <a:latin typeface="Georgia" panose="02040502050405020303" pitchFamily="18" charset="0"/>
              </a:rPr>
              <a:t>indexing starts with 0,1,2,3</a:t>
            </a:r>
            <a:r>
              <a:rPr lang="en-US" altLang="en-US" sz="2400" dirty="0" smtClean="0">
                <a:solidFill>
                  <a:schemeClr val="bg2">
                    <a:lumMod val="25000"/>
                  </a:schemeClr>
                </a:solidFill>
                <a:latin typeface="Georgia" panose="02040502050405020303" pitchFamily="18" charset="0"/>
              </a:rPr>
              <a:t>,....</a:t>
            </a:r>
            <a:endParaRPr lang="en-US" altLang="en-US" sz="2400" dirty="0" smtClean="0">
              <a:solidFill>
                <a:schemeClr val="bg2">
                  <a:lumMod val="25000"/>
                </a:schemeClr>
              </a:solidFill>
              <a:latin typeface="Georgia" panose="02040502050405020303" pitchFamily="18" charset="0"/>
            </a:endParaRPr>
          </a:p>
          <a:p>
            <a:pPr lvl="2" eaLnBrk="0" fontAlgn="base" hangingPunct="0">
              <a:spcBef>
                <a:spcPct val="0"/>
              </a:spcBef>
              <a:spcAft>
                <a:spcPct val="0"/>
              </a:spcAft>
            </a:pPr>
            <a:r>
              <a:rPr lang="en-US" altLang="en-US" sz="2400" dirty="0" smtClean="0">
                <a:solidFill>
                  <a:schemeClr val="bg2">
                    <a:lumMod val="25000"/>
                  </a:schemeClr>
                </a:solidFill>
                <a:latin typeface="Georgia" panose="02040502050405020303" pitchFamily="18" charset="0"/>
              </a:rPr>
              <a:t>Backward </a:t>
            </a:r>
            <a:r>
              <a:rPr lang="en-US" altLang="en-US" sz="2400" dirty="0">
                <a:solidFill>
                  <a:schemeClr val="bg2">
                    <a:lumMod val="25000"/>
                  </a:schemeClr>
                </a:solidFill>
                <a:latin typeface="Georgia" panose="02040502050405020303" pitchFamily="18" charset="0"/>
              </a:rPr>
              <a:t>indexing starts with -1,-2,-3,-4,....</a:t>
            </a:r>
            <a:endParaRPr lang="en-US" altLang="en-US" sz="2400" dirty="0">
              <a:solidFill>
                <a:schemeClr val="bg2">
                  <a:lumMod val="25000"/>
                </a:schemeClr>
              </a:solidFill>
              <a:latin typeface="Georgia" panose="02040502050405020303" pitchFamily="18" charset="0"/>
            </a:endParaRPr>
          </a:p>
          <a:p>
            <a:pPr lvl="0" eaLnBrk="0" fontAlgn="base" hangingPunct="0">
              <a:spcBef>
                <a:spcPct val="0"/>
              </a:spcBef>
              <a:spcAft>
                <a:spcPct val="0"/>
              </a:spcAft>
            </a:pPr>
            <a:endParaRPr lang="en-US" altLang="en-US" sz="2400" dirty="0">
              <a:solidFill>
                <a:schemeClr val="bg2">
                  <a:lumMod val="25000"/>
                </a:schemeClr>
              </a:solidFill>
              <a:latin typeface="Georgia" panose="02040502050405020303" pitchFamily="18" charset="0"/>
            </a:endParaRPr>
          </a:p>
          <a:p>
            <a:pPr lvl="0" eaLnBrk="0" fontAlgn="base" hangingPunct="0">
              <a:spcBef>
                <a:spcPct val="0"/>
              </a:spcBef>
              <a:spcAft>
                <a:spcPct val="0"/>
              </a:spcAft>
            </a:pPr>
            <a:endParaRPr lang="en-US" altLang="en-US" sz="2400" dirty="0" smtClean="0">
              <a:solidFill>
                <a:schemeClr val="bg2">
                  <a:lumMod val="25000"/>
                </a:schemeClr>
              </a:solidFill>
              <a:latin typeface="Georgia" panose="02040502050405020303" pitchFamily="18" charset="0"/>
            </a:endParaRPr>
          </a:p>
          <a:p>
            <a:pPr lvl="0" eaLnBrk="0" fontAlgn="base" hangingPunct="0">
              <a:spcBef>
                <a:spcPct val="0"/>
              </a:spcBef>
              <a:spcAft>
                <a:spcPct val="0"/>
              </a:spcAft>
            </a:pPr>
            <a:endParaRPr lang="en-US" altLang="en-US" sz="2400" dirty="0" smtClean="0">
              <a:solidFill>
                <a:schemeClr val="bg2">
                  <a:lumMod val="25000"/>
                </a:schemeClr>
              </a:solidFill>
              <a:latin typeface="Georgia" panose="02040502050405020303" pitchFamily="18" charset="0"/>
            </a:endParaRPr>
          </a:p>
        </p:txBody>
      </p:sp>
      <p:pic>
        <p:nvPicPr>
          <p:cNvPr id="3" name="Picture 2"/>
          <p:cNvPicPr>
            <a:picLocks noChangeAspect="1"/>
          </p:cNvPicPr>
          <p:nvPr/>
        </p:nvPicPr>
        <p:blipFill>
          <a:blip r:embed="rId2"/>
          <a:stretch>
            <a:fillRect/>
          </a:stretch>
        </p:blipFill>
        <p:spPr>
          <a:xfrm>
            <a:off x="2435179" y="4243185"/>
            <a:ext cx="6417315" cy="2260645"/>
          </a:xfrm>
          <a:prstGeom prst="rect">
            <a:avLst/>
          </a:prstGeom>
          <a:ln w="6350" cap="sq" cmpd="thickThin">
            <a:solidFill>
              <a:srgbClr val="000000"/>
            </a:solidFill>
            <a:prstDash val="solid"/>
            <a:miter lim="800000"/>
            <a:headEnd/>
            <a:tailEnd/>
          </a:ln>
          <a:effectLst>
            <a:innerShdw blurRad="76200">
              <a:srgbClr val="000000"/>
            </a:innerShdw>
          </a:effectLst>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8" name="Rectangle 7"/>
          <p:cNvSpPr/>
          <p:nvPr/>
        </p:nvSpPr>
        <p:spPr>
          <a:xfrm>
            <a:off x="756803" y="517181"/>
            <a:ext cx="3296159" cy="646331"/>
          </a:xfrm>
          <a:prstGeom prst="rect">
            <a:avLst/>
          </a:prstGeom>
        </p:spPr>
        <p:txBody>
          <a:bodyPr wrap="none">
            <a:spAutoFit/>
          </a:bodyPr>
          <a:lstStyle/>
          <a:p>
            <a:r>
              <a:rPr lang="en-US" sz="3600" b="1" dirty="0" smtClean="0">
                <a:solidFill>
                  <a:schemeClr val="bg2">
                    <a:lumMod val="25000"/>
                  </a:schemeClr>
                </a:solidFill>
                <a:latin typeface="Plantagenet Cherokee" panose="02020602070100000000" pitchFamily="18" charset="0"/>
              </a:rPr>
              <a:t>String methods</a:t>
            </a:r>
            <a:endParaRPr lang="en-US" sz="3600" b="1" dirty="0">
              <a:solidFill>
                <a:schemeClr val="bg2">
                  <a:lumMod val="25000"/>
                </a:schemeClr>
              </a:solidFill>
              <a:latin typeface="Plantagenet Cherokee" panose="02020602070100000000" pitchFamily="18" charset="0"/>
            </a:endParaRPr>
          </a:p>
        </p:txBody>
      </p:sp>
      <p:sp>
        <p:nvSpPr>
          <p:cNvPr id="2" name="Rectangle 1"/>
          <p:cNvSpPr>
            <a:spLocks noChangeArrowheads="1"/>
          </p:cNvSpPr>
          <p:nvPr/>
        </p:nvSpPr>
        <p:spPr bwMode="auto">
          <a:xfrm>
            <a:off x="1248727" y="1734957"/>
            <a:ext cx="10479633"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342900" lvl="0" indent="-342900" eaLnBrk="0" fontAlgn="base" hangingPunct="0">
              <a:spcBef>
                <a:spcPct val="0"/>
              </a:spcBef>
              <a:spcAft>
                <a:spcPct val="0"/>
              </a:spcAft>
              <a:buFont typeface="Wingdings" panose="05000000000000000000" pitchFamily="2" charset="2"/>
              <a:buChar char="Ø"/>
            </a:pPr>
            <a:r>
              <a:rPr lang="en-US" altLang="en-US" sz="2400" dirty="0">
                <a:solidFill>
                  <a:schemeClr val="bg2">
                    <a:lumMod val="25000"/>
                  </a:schemeClr>
                </a:solidFill>
                <a:latin typeface="Georgia" panose="02040502050405020303" pitchFamily="18" charset="0"/>
              </a:rPr>
              <a:t>Python has several built-in functions associated with the string data </a:t>
            </a:r>
            <a:r>
              <a:rPr lang="en-US" altLang="en-US" sz="2400" dirty="0" smtClean="0">
                <a:solidFill>
                  <a:schemeClr val="bg2">
                    <a:lumMod val="25000"/>
                  </a:schemeClr>
                </a:solidFill>
                <a:latin typeface="Georgia" panose="02040502050405020303" pitchFamily="18" charset="0"/>
              </a:rPr>
              <a:t>type.</a:t>
            </a:r>
            <a:endParaRPr lang="en-US" altLang="en-US" sz="2400" dirty="0" smtClean="0">
              <a:solidFill>
                <a:schemeClr val="bg2">
                  <a:lumMod val="25000"/>
                </a:schemeClr>
              </a:solidFill>
              <a:latin typeface="Georgia" panose="02040502050405020303" pitchFamily="18" charset="0"/>
            </a:endParaRPr>
          </a:p>
          <a:p>
            <a:pPr marL="342900" lvl="0" indent="-342900" eaLnBrk="0" fontAlgn="base" hangingPunct="0">
              <a:spcBef>
                <a:spcPct val="0"/>
              </a:spcBef>
              <a:spcAft>
                <a:spcPct val="0"/>
              </a:spcAft>
              <a:buFont typeface="Wingdings" panose="05000000000000000000" pitchFamily="2" charset="2"/>
              <a:buChar char="Ø"/>
            </a:pPr>
            <a:r>
              <a:rPr lang="en-US" altLang="en-US" sz="2400" dirty="0" smtClean="0">
                <a:solidFill>
                  <a:schemeClr val="bg2">
                    <a:lumMod val="25000"/>
                  </a:schemeClr>
                </a:solidFill>
                <a:latin typeface="Georgia" panose="02040502050405020303" pitchFamily="18" charset="0"/>
              </a:rPr>
              <a:t>These </a:t>
            </a:r>
            <a:r>
              <a:rPr lang="en-US" altLang="en-US" sz="2400" dirty="0">
                <a:solidFill>
                  <a:schemeClr val="bg2">
                    <a:lumMod val="25000"/>
                  </a:schemeClr>
                </a:solidFill>
                <a:latin typeface="Georgia" panose="02040502050405020303" pitchFamily="18" charset="0"/>
              </a:rPr>
              <a:t>functions let us easily modify and manipulate strings. </a:t>
            </a:r>
            <a:endParaRPr lang="en-US" altLang="en-US" sz="2400" dirty="0" smtClean="0">
              <a:solidFill>
                <a:schemeClr val="bg2">
                  <a:lumMod val="25000"/>
                </a:schemeClr>
              </a:solidFill>
              <a:latin typeface="Georgia" panose="02040502050405020303" pitchFamily="18" charset="0"/>
            </a:endParaRPr>
          </a:p>
          <a:p>
            <a:pPr marL="342900" lvl="0" indent="-342900" eaLnBrk="0" fontAlgn="base" hangingPunct="0">
              <a:spcBef>
                <a:spcPct val="0"/>
              </a:spcBef>
              <a:spcAft>
                <a:spcPct val="0"/>
              </a:spcAft>
              <a:buFont typeface="Wingdings" panose="05000000000000000000" pitchFamily="2" charset="2"/>
              <a:buChar char="Ø"/>
            </a:pPr>
            <a:r>
              <a:rPr lang="en-US" altLang="en-US" sz="2400" dirty="0" smtClean="0">
                <a:solidFill>
                  <a:schemeClr val="bg2">
                    <a:lumMod val="25000"/>
                  </a:schemeClr>
                </a:solidFill>
                <a:latin typeface="Georgia" panose="02040502050405020303" pitchFamily="18" charset="0"/>
              </a:rPr>
              <a:t>Built-in </a:t>
            </a:r>
            <a:r>
              <a:rPr lang="en-US" altLang="en-US" sz="2400" dirty="0">
                <a:solidFill>
                  <a:schemeClr val="bg2">
                    <a:lumMod val="25000"/>
                  </a:schemeClr>
                </a:solidFill>
                <a:latin typeface="Georgia" panose="02040502050405020303" pitchFamily="18" charset="0"/>
              </a:rPr>
              <a:t>functions are those that are defined </a:t>
            </a:r>
            <a:r>
              <a:rPr lang="en-US" altLang="en-US" sz="2400" dirty="0" smtClean="0">
                <a:solidFill>
                  <a:schemeClr val="bg2">
                    <a:lumMod val="25000"/>
                  </a:schemeClr>
                </a:solidFill>
                <a:latin typeface="Georgia" panose="02040502050405020303" pitchFamily="18" charset="0"/>
              </a:rPr>
              <a:t>and </a:t>
            </a:r>
            <a:r>
              <a:rPr lang="en-US" altLang="en-US" sz="2400" dirty="0">
                <a:solidFill>
                  <a:schemeClr val="bg2">
                    <a:lumMod val="25000"/>
                  </a:schemeClr>
                </a:solidFill>
                <a:latin typeface="Georgia" panose="02040502050405020303" pitchFamily="18" charset="0"/>
              </a:rPr>
              <a:t>are readily available for us to use.</a:t>
            </a:r>
            <a:endParaRPr lang="en-US" altLang="en-US" sz="2400" dirty="0" smtClean="0">
              <a:solidFill>
                <a:schemeClr val="bg2">
                  <a:lumMod val="25000"/>
                </a:schemeClr>
              </a:solidFill>
              <a:latin typeface="Georgia" panose="02040502050405020303" pitchFamily="18" charset="0"/>
            </a:endParaRPr>
          </a:p>
        </p:txBody>
      </p:sp>
      <p:sp>
        <p:nvSpPr>
          <p:cNvPr id="7" name="Rectangle 6"/>
          <p:cNvSpPr/>
          <p:nvPr/>
        </p:nvSpPr>
        <p:spPr>
          <a:xfrm>
            <a:off x="1862239" y="3645229"/>
            <a:ext cx="4091185" cy="461665"/>
          </a:xfrm>
          <a:prstGeom prst="rect">
            <a:avLst/>
          </a:prstGeom>
        </p:spPr>
        <p:txBody>
          <a:bodyPr wrap="none">
            <a:spAutoFit/>
          </a:bodyPr>
          <a:lstStyle/>
          <a:p>
            <a:r>
              <a:rPr lang="en-US" sz="2400" b="1" dirty="0" smtClean="0">
                <a:solidFill>
                  <a:schemeClr val="bg2">
                    <a:lumMod val="25000"/>
                  </a:schemeClr>
                </a:solidFill>
                <a:latin typeface="Georgia" panose="02040502050405020303" pitchFamily="18" charset="0"/>
              </a:rPr>
              <a:t>Types of string functions</a:t>
            </a:r>
            <a:endParaRPr lang="en-US" sz="2400" b="1" dirty="0">
              <a:solidFill>
                <a:schemeClr val="bg2">
                  <a:lumMod val="25000"/>
                </a:schemeClr>
              </a:solidFill>
              <a:latin typeface="Georgia" panose="02040502050405020303" pitchFamily="18" charset="0"/>
            </a:endParaRPr>
          </a:p>
        </p:txBody>
      </p:sp>
      <p:sp>
        <p:nvSpPr>
          <p:cNvPr id="5" name="Rectangle 4"/>
          <p:cNvSpPr/>
          <p:nvPr/>
        </p:nvSpPr>
        <p:spPr>
          <a:xfrm>
            <a:off x="3908691" y="4353774"/>
            <a:ext cx="4068743" cy="1938992"/>
          </a:xfrm>
          <a:prstGeom prst="rect">
            <a:avLst/>
          </a:prstGeom>
          <a:noFill/>
        </p:spPr>
        <p:txBody>
          <a:bodyPr wrap="none" lIns="91440" tIns="45720" rIns="91440" bIns="45720">
            <a:spAutoFit/>
          </a:bodyPr>
          <a:lstStyle/>
          <a:p>
            <a:pPr marL="342900" indent="-342900">
              <a:buFont typeface="Wingdings" panose="05000000000000000000" pitchFamily="2" charset="2"/>
              <a:buChar char="Ø"/>
            </a:pPr>
            <a:r>
              <a:rPr lang="en-US" sz="2400" dirty="0">
                <a:ln w="0"/>
                <a:solidFill>
                  <a:schemeClr val="bg2">
                    <a:lumMod val="25000"/>
                  </a:schemeClr>
                </a:solidFill>
                <a:latin typeface="Georgia" panose="02040502050405020303" pitchFamily="18" charset="0"/>
              </a:rPr>
              <a:t>c</a:t>
            </a:r>
            <a:r>
              <a:rPr lang="en-US" sz="2400" b="0" cap="none" spc="0" dirty="0" smtClean="0">
                <a:ln w="0"/>
                <a:solidFill>
                  <a:schemeClr val="bg2">
                    <a:lumMod val="25000"/>
                  </a:schemeClr>
                </a:solidFill>
                <a:latin typeface="Georgia" panose="02040502050405020303" pitchFamily="18" charset="0"/>
              </a:rPr>
              <a:t>apitalize()</a:t>
            </a:r>
            <a:endParaRPr lang="en-US" sz="2400" b="0" cap="none" spc="0" dirty="0" smtClean="0">
              <a:ln w="0"/>
              <a:solidFill>
                <a:schemeClr val="bg2">
                  <a:lumMod val="25000"/>
                </a:schemeClr>
              </a:solidFill>
              <a:latin typeface="Georgia" panose="02040502050405020303" pitchFamily="18" charset="0"/>
            </a:endParaRPr>
          </a:p>
          <a:p>
            <a:pPr marL="342900" indent="-342900">
              <a:buFont typeface="Wingdings" panose="05000000000000000000" pitchFamily="2" charset="2"/>
              <a:buChar char="Ø"/>
            </a:pPr>
            <a:r>
              <a:rPr lang="en-US" sz="2400" dirty="0">
                <a:ln w="0"/>
                <a:solidFill>
                  <a:schemeClr val="bg2">
                    <a:lumMod val="25000"/>
                  </a:schemeClr>
                </a:solidFill>
                <a:latin typeface="Georgia" panose="02040502050405020303" pitchFamily="18" charset="0"/>
              </a:rPr>
              <a:t>u</a:t>
            </a:r>
            <a:r>
              <a:rPr lang="en-US" sz="2400" dirty="0" smtClean="0">
                <a:ln w="0"/>
                <a:solidFill>
                  <a:schemeClr val="bg2">
                    <a:lumMod val="25000"/>
                  </a:schemeClr>
                </a:solidFill>
                <a:latin typeface="Georgia" panose="02040502050405020303" pitchFamily="18" charset="0"/>
              </a:rPr>
              <a:t>pper()</a:t>
            </a:r>
            <a:endParaRPr lang="en-US" sz="2400" dirty="0" smtClean="0">
              <a:ln w="0"/>
              <a:solidFill>
                <a:schemeClr val="bg2">
                  <a:lumMod val="25000"/>
                </a:schemeClr>
              </a:solidFill>
              <a:latin typeface="Georgia" panose="02040502050405020303" pitchFamily="18" charset="0"/>
            </a:endParaRPr>
          </a:p>
          <a:p>
            <a:pPr marL="342900" indent="-342900">
              <a:buFont typeface="Wingdings" panose="05000000000000000000" pitchFamily="2" charset="2"/>
              <a:buChar char="Ø"/>
            </a:pPr>
            <a:r>
              <a:rPr lang="en-US" sz="2400" dirty="0">
                <a:ln w="0"/>
                <a:solidFill>
                  <a:schemeClr val="bg2">
                    <a:lumMod val="25000"/>
                  </a:schemeClr>
                </a:solidFill>
                <a:latin typeface="Georgia" panose="02040502050405020303" pitchFamily="18" charset="0"/>
              </a:rPr>
              <a:t>i</a:t>
            </a:r>
            <a:r>
              <a:rPr lang="en-US" sz="2400" b="0" cap="none" spc="0" dirty="0" smtClean="0">
                <a:ln w="0"/>
                <a:solidFill>
                  <a:schemeClr val="bg2">
                    <a:lumMod val="25000"/>
                  </a:schemeClr>
                </a:solidFill>
                <a:latin typeface="Georgia" panose="02040502050405020303" pitchFamily="18" charset="0"/>
              </a:rPr>
              <a:t>ndex()</a:t>
            </a:r>
            <a:endParaRPr lang="en-US" sz="2400" b="0" cap="none" spc="0" dirty="0" smtClean="0">
              <a:ln w="0"/>
              <a:solidFill>
                <a:schemeClr val="bg2">
                  <a:lumMod val="25000"/>
                </a:schemeClr>
              </a:solidFill>
              <a:latin typeface="Georgia" panose="02040502050405020303" pitchFamily="18" charset="0"/>
            </a:endParaRPr>
          </a:p>
          <a:p>
            <a:pPr marL="342900" indent="-342900">
              <a:buFont typeface="Wingdings" panose="05000000000000000000" pitchFamily="2" charset="2"/>
              <a:buChar char="Ø"/>
            </a:pPr>
            <a:r>
              <a:rPr lang="en-US" sz="2400" dirty="0" smtClean="0">
                <a:ln w="0"/>
                <a:solidFill>
                  <a:schemeClr val="bg2">
                    <a:lumMod val="25000"/>
                  </a:schemeClr>
                </a:solidFill>
                <a:latin typeface="Georgia" panose="02040502050405020303" pitchFamily="18" charset="0"/>
              </a:rPr>
              <a:t>……so on……………………….</a:t>
            </a:r>
            <a:endParaRPr lang="en-US" sz="2400" b="0" cap="none" spc="0" dirty="0" smtClean="0">
              <a:ln w="0"/>
              <a:solidFill>
                <a:schemeClr val="bg2">
                  <a:lumMod val="25000"/>
                </a:schemeClr>
              </a:solidFill>
              <a:latin typeface="Georgia" panose="02040502050405020303" pitchFamily="18" charset="0"/>
            </a:endParaRPr>
          </a:p>
          <a:p>
            <a:pPr marL="342900" indent="-342900">
              <a:buFont typeface="Wingdings" panose="05000000000000000000" pitchFamily="2" charset="2"/>
              <a:buChar char="Ø"/>
            </a:pPr>
            <a:endParaRPr lang="en-US" sz="2400" b="0" cap="none" spc="0" dirty="0">
              <a:ln w="0"/>
              <a:solidFill>
                <a:schemeClr val="bg2">
                  <a:lumMod val="25000"/>
                </a:schemeClr>
              </a:solidFill>
              <a:latin typeface="Georgia" panose="02040502050405020303" pitchFamily="18" charset="0"/>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8" name="Rectangle 7"/>
          <p:cNvSpPr/>
          <p:nvPr/>
        </p:nvSpPr>
        <p:spPr>
          <a:xfrm>
            <a:off x="756803" y="517181"/>
            <a:ext cx="2398734" cy="646331"/>
          </a:xfrm>
          <a:prstGeom prst="rect">
            <a:avLst/>
          </a:prstGeom>
        </p:spPr>
        <p:txBody>
          <a:bodyPr wrap="none">
            <a:spAutoFit/>
          </a:bodyPr>
          <a:lstStyle/>
          <a:p>
            <a:r>
              <a:rPr lang="en-US" sz="3600" b="1" dirty="0">
                <a:solidFill>
                  <a:schemeClr val="bg2">
                    <a:lumMod val="25000"/>
                  </a:schemeClr>
                </a:solidFill>
                <a:latin typeface="Plantagenet Cherokee" panose="02020602070100000000" pitchFamily="18" charset="0"/>
              </a:rPr>
              <a:t>c</a:t>
            </a:r>
            <a:r>
              <a:rPr lang="en-US" sz="3600" b="1" dirty="0" smtClean="0">
                <a:solidFill>
                  <a:schemeClr val="bg2">
                    <a:lumMod val="25000"/>
                  </a:schemeClr>
                </a:solidFill>
                <a:latin typeface="Plantagenet Cherokee" panose="02020602070100000000" pitchFamily="18" charset="0"/>
              </a:rPr>
              <a:t>apitalize()</a:t>
            </a:r>
            <a:endParaRPr lang="en-US" sz="3600" b="1" dirty="0">
              <a:solidFill>
                <a:schemeClr val="bg2">
                  <a:lumMod val="25000"/>
                </a:schemeClr>
              </a:solidFill>
              <a:latin typeface="Plantagenet Cherokee" panose="02020602070100000000" pitchFamily="18" charset="0"/>
            </a:endParaRPr>
          </a:p>
        </p:txBody>
      </p:sp>
      <p:sp>
        <p:nvSpPr>
          <p:cNvPr id="4" name="Rectangle 3"/>
          <p:cNvSpPr/>
          <p:nvPr/>
        </p:nvSpPr>
        <p:spPr>
          <a:xfrm>
            <a:off x="1837386" y="1599006"/>
            <a:ext cx="10354614" cy="830997"/>
          </a:xfrm>
          <a:prstGeom prst="rect">
            <a:avLst/>
          </a:prstGeom>
        </p:spPr>
        <p:txBody>
          <a:bodyPr wrap="square">
            <a:spAutoFit/>
          </a:bodyPr>
          <a:lstStyle/>
          <a:p>
            <a:pPr marL="342900" indent="-342900">
              <a:buFont typeface="Wingdings" panose="05000000000000000000" pitchFamily="2" charset="2"/>
              <a:buChar char="Ø"/>
            </a:pPr>
            <a:r>
              <a:rPr lang="en-US" sz="2400" dirty="0">
                <a:solidFill>
                  <a:schemeClr val="bg2">
                    <a:lumMod val="25000"/>
                  </a:schemeClr>
                </a:solidFill>
                <a:latin typeface="Georgia" panose="02040502050405020303" pitchFamily="18" charset="0"/>
              </a:rPr>
              <a:t>The capitalize() function returns a string with first letter capitalized</a:t>
            </a:r>
            <a:r>
              <a:rPr lang="en-US" sz="2400" dirty="0" smtClean="0">
                <a:solidFill>
                  <a:schemeClr val="bg2">
                    <a:lumMod val="25000"/>
                  </a:schemeClr>
                </a:solidFill>
                <a:latin typeface="Georgia" panose="02040502050405020303" pitchFamily="18" charset="0"/>
              </a:rPr>
              <a:t>.</a:t>
            </a:r>
            <a:endParaRPr lang="en-US" sz="2400" dirty="0" smtClean="0">
              <a:solidFill>
                <a:schemeClr val="bg2">
                  <a:lumMod val="25000"/>
                </a:schemeClr>
              </a:solidFill>
              <a:latin typeface="Georgia" panose="02040502050405020303" pitchFamily="18" charset="0"/>
            </a:endParaRPr>
          </a:p>
          <a:p>
            <a:pPr marL="342900" indent="-342900">
              <a:buFont typeface="Wingdings" panose="05000000000000000000" pitchFamily="2" charset="2"/>
              <a:buChar char="Ø"/>
            </a:pPr>
            <a:r>
              <a:rPr lang="en-US" sz="2400" dirty="0" smtClean="0">
                <a:solidFill>
                  <a:schemeClr val="bg2">
                    <a:lumMod val="25000"/>
                  </a:schemeClr>
                </a:solidFill>
                <a:latin typeface="Georgia" panose="02040502050405020303" pitchFamily="18" charset="0"/>
              </a:rPr>
              <a:t> </a:t>
            </a:r>
            <a:r>
              <a:rPr lang="en-US" sz="2400" dirty="0">
                <a:solidFill>
                  <a:schemeClr val="bg2">
                    <a:lumMod val="25000"/>
                  </a:schemeClr>
                </a:solidFill>
                <a:latin typeface="Georgia" panose="02040502050405020303" pitchFamily="18" charset="0"/>
              </a:rPr>
              <a:t>It doesn't modify the old string.</a:t>
            </a:r>
            <a:endParaRPr lang="en-US" sz="2400" dirty="0">
              <a:solidFill>
                <a:schemeClr val="bg2">
                  <a:lumMod val="25000"/>
                </a:schemeClr>
              </a:solidFill>
              <a:latin typeface="Georgia" panose="02040502050405020303" pitchFamily="18" charset="0"/>
            </a:endParaRPr>
          </a:p>
        </p:txBody>
      </p:sp>
      <p:sp>
        <p:nvSpPr>
          <p:cNvPr id="3" name="Rectangle 2"/>
          <p:cNvSpPr/>
          <p:nvPr/>
        </p:nvSpPr>
        <p:spPr>
          <a:xfrm>
            <a:off x="7882557" y="2599674"/>
            <a:ext cx="6096000" cy="830997"/>
          </a:xfrm>
          <a:prstGeom prst="rect">
            <a:avLst/>
          </a:prstGeom>
        </p:spPr>
        <p:txBody>
          <a:bodyPr>
            <a:spAutoFit/>
          </a:bodyPr>
          <a:lstStyle/>
          <a:p>
            <a:r>
              <a:rPr lang="en-US" sz="2400" b="1" dirty="0" smtClean="0">
                <a:solidFill>
                  <a:schemeClr val="bg2">
                    <a:lumMod val="25000"/>
                  </a:schemeClr>
                </a:solidFill>
                <a:latin typeface="Georgia" panose="02040502050405020303" pitchFamily="18" charset="0"/>
              </a:rPr>
              <a:t>Syntax:</a:t>
            </a:r>
            <a:endParaRPr lang="en-US" sz="2400" b="1" dirty="0" smtClean="0">
              <a:solidFill>
                <a:schemeClr val="bg2">
                  <a:lumMod val="25000"/>
                </a:schemeClr>
              </a:solidFill>
              <a:latin typeface="Georgia" panose="02040502050405020303" pitchFamily="18" charset="0"/>
            </a:endParaRPr>
          </a:p>
          <a:p>
            <a:r>
              <a:rPr lang="en-US" sz="2400" dirty="0" err="1" smtClean="0">
                <a:solidFill>
                  <a:schemeClr val="bg2">
                    <a:lumMod val="25000"/>
                  </a:schemeClr>
                </a:solidFill>
                <a:latin typeface="Georgia" panose="02040502050405020303" pitchFamily="18" charset="0"/>
              </a:rPr>
              <a:t>string.capitalize</a:t>
            </a:r>
            <a:r>
              <a:rPr lang="en-US" sz="2400" dirty="0">
                <a:solidFill>
                  <a:schemeClr val="bg2">
                    <a:lumMod val="25000"/>
                  </a:schemeClr>
                </a:solidFill>
                <a:latin typeface="Georgia" panose="02040502050405020303" pitchFamily="18" charset="0"/>
              </a:rPr>
              <a:t>()</a:t>
            </a:r>
            <a:endParaRPr lang="en-US" sz="2400" dirty="0">
              <a:solidFill>
                <a:schemeClr val="bg2">
                  <a:lumMod val="25000"/>
                </a:schemeClr>
              </a:solidFill>
              <a:latin typeface="Georgia" panose="02040502050405020303" pitchFamily="18" charset="0"/>
            </a:endParaRPr>
          </a:p>
        </p:txBody>
      </p:sp>
      <p:pic>
        <p:nvPicPr>
          <p:cNvPr id="5" name="Picture 4"/>
          <p:cNvPicPr>
            <a:picLocks noChangeAspect="1"/>
          </p:cNvPicPr>
          <p:nvPr/>
        </p:nvPicPr>
        <p:blipFill>
          <a:blip r:embed="rId2"/>
          <a:stretch>
            <a:fillRect/>
          </a:stretch>
        </p:blipFill>
        <p:spPr>
          <a:xfrm>
            <a:off x="487247" y="2550959"/>
            <a:ext cx="6527446" cy="2737901"/>
          </a:xfrm>
          <a:prstGeom prst="rect">
            <a:avLst/>
          </a:prstGeom>
          <a:ln w="6350" cap="sq" cmpd="thickThin">
            <a:solidFill>
              <a:srgbClr val="000000"/>
            </a:solidFill>
            <a:prstDash val="solid"/>
            <a:miter lim="800000"/>
            <a:headEnd/>
            <a:tailEnd/>
          </a:ln>
          <a:effectLst>
            <a:innerShdw blurRad="76200">
              <a:srgbClr val="000000"/>
            </a:innerShdw>
          </a:effectLst>
        </p:spPr>
      </p:pic>
      <p:pic>
        <p:nvPicPr>
          <p:cNvPr id="7" name="Picture 6"/>
          <p:cNvPicPr>
            <a:picLocks noChangeAspect="1"/>
          </p:cNvPicPr>
          <p:nvPr/>
        </p:nvPicPr>
        <p:blipFill>
          <a:blip r:embed="rId3"/>
          <a:stretch>
            <a:fillRect/>
          </a:stretch>
        </p:blipFill>
        <p:spPr>
          <a:xfrm>
            <a:off x="4002111" y="4431341"/>
            <a:ext cx="7760892" cy="1956949"/>
          </a:xfrm>
          <a:prstGeom prst="rect">
            <a:avLst/>
          </a:prstGeom>
          <a:ln w="6350" cap="sq" cmpd="thickThin">
            <a:solidFill>
              <a:srgbClr val="000000"/>
            </a:solidFill>
            <a:prstDash val="solid"/>
            <a:miter lim="800000"/>
            <a:headEnd/>
            <a:tailEnd/>
          </a:ln>
          <a:effectLst>
            <a:innerShdw blurRad="76200">
              <a:srgbClr val="000000"/>
            </a:innerShdw>
          </a:effectLst>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8" name="Rectangle 7"/>
          <p:cNvSpPr/>
          <p:nvPr/>
        </p:nvSpPr>
        <p:spPr>
          <a:xfrm>
            <a:off x="756803" y="517181"/>
            <a:ext cx="1689886" cy="646331"/>
          </a:xfrm>
          <a:prstGeom prst="rect">
            <a:avLst/>
          </a:prstGeom>
        </p:spPr>
        <p:txBody>
          <a:bodyPr wrap="none">
            <a:spAutoFit/>
          </a:bodyPr>
          <a:lstStyle/>
          <a:p>
            <a:r>
              <a:rPr lang="en-US" sz="3600" b="1" dirty="0" smtClean="0">
                <a:solidFill>
                  <a:schemeClr val="bg2">
                    <a:lumMod val="25000"/>
                  </a:schemeClr>
                </a:solidFill>
                <a:latin typeface="Plantagenet Cherokee" panose="02020602070100000000" pitchFamily="18" charset="0"/>
              </a:rPr>
              <a:t>upper()</a:t>
            </a:r>
            <a:endParaRPr lang="en-US" sz="3600" b="1" dirty="0">
              <a:solidFill>
                <a:schemeClr val="bg2">
                  <a:lumMod val="25000"/>
                </a:schemeClr>
              </a:solidFill>
              <a:latin typeface="Plantagenet Cherokee" panose="02020602070100000000" pitchFamily="18" charset="0"/>
            </a:endParaRPr>
          </a:p>
        </p:txBody>
      </p:sp>
      <p:sp>
        <p:nvSpPr>
          <p:cNvPr id="4" name="Rectangle 3"/>
          <p:cNvSpPr/>
          <p:nvPr/>
        </p:nvSpPr>
        <p:spPr>
          <a:xfrm>
            <a:off x="1601746" y="1219582"/>
            <a:ext cx="10354614" cy="1200329"/>
          </a:xfrm>
          <a:prstGeom prst="rect">
            <a:avLst/>
          </a:prstGeom>
        </p:spPr>
        <p:txBody>
          <a:bodyPr wrap="square">
            <a:spAutoFit/>
          </a:bodyPr>
          <a:lstStyle/>
          <a:p>
            <a:pPr marL="342900" indent="-342900">
              <a:buFont typeface="Wingdings" panose="05000000000000000000" pitchFamily="2" charset="2"/>
              <a:buChar char="Ø"/>
            </a:pPr>
            <a:r>
              <a:rPr lang="en-US" sz="2400" dirty="0" smtClean="0">
                <a:solidFill>
                  <a:schemeClr val="bg2">
                    <a:lumMod val="25000"/>
                  </a:schemeClr>
                </a:solidFill>
                <a:latin typeface="Georgia" panose="02040502050405020303" pitchFamily="18" charset="0"/>
              </a:rPr>
              <a:t>It returns </a:t>
            </a:r>
            <a:r>
              <a:rPr lang="en-US" sz="2400" dirty="0">
                <a:solidFill>
                  <a:schemeClr val="bg2">
                    <a:lumMod val="25000"/>
                  </a:schemeClr>
                </a:solidFill>
                <a:latin typeface="Georgia" panose="02040502050405020303" pitchFamily="18" charset="0"/>
              </a:rPr>
              <a:t>the uppercased string from the given string</a:t>
            </a:r>
            <a:r>
              <a:rPr lang="en-US" sz="2400" dirty="0" smtClean="0">
                <a:solidFill>
                  <a:schemeClr val="bg2">
                    <a:lumMod val="25000"/>
                  </a:schemeClr>
                </a:solidFill>
                <a:latin typeface="Georgia" panose="02040502050405020303" pitchFamily="18" charset="0"/>
              </a:rPr>
              <a:t>.</a:t>
            </a:r>
            <a:endParaRPr lang="en-US" sz="2400" dirty="0" smtClean="0">
              <a:solidFill>
                <a:schemeClr val="bg2">
                  <a:lumMod val="25000"/>
                </a:schemeClr>
              </a:solidFill>
              <a:latin typeface="Georgia" panose="02040502050405020303" pitchFamily="18" charset="0"/>
            </a:endParaRPr>
          </a:p>
          <a:p>
            <a:pPr marL="342900" indent="-342900">
              <a:buFont typeface="Wingdings" panose="05000000000000000000" pitchFamily="2" charset="2"/>
              <a:buChar char="Ø"/>
            </a:pPr>
            <a:r>
              <a:rPr lang="en-US" sz="2400" dirty="0" smtClean="0">
                <a:solidFill>
                  <a:schemeClr val="bg2">
                    <a:lumMod val="25000"/>
                  </a:schemeClr>
                </a:solidFill>
                <a:latin typeface="Georgia" panose="02040502050405020303" pitchFamily="18" charset="0"/>
              </a:rPr>
              <a:t> </a:t>
            </a:r>
            <a:r>
              <a:rPr lang="en-US" sz="2400" dirty="0">
                <a:solidFill>
                  <a:schemeClr val="bg2">
                    <a:lumMod val="25000"/>
                  </a:schemeClr>
                </a:solidFill>
                <a:latin typeface="Georgia" panose="02040502050405020303" pitchFamily="18" charset="0"/>
              </a:rPr>
              <a:t>It converts all </a:t>
            </a:r>
            <a:r>
              <a:rPr lang="en-US" sz="2400" dirty="0" smtClean="0">
                <a:solidFill>
                  <a:schemeClr val="bg2">
                    <a:lumMod val="25000"/>
                  </a:schemeClr>
                </a:solidFill>
                <a:latin typeface="Georgia" panose="02040502050405020303" pitchFamily="18" charset="0"/>
              </a:rPr>
              <a:t>lowercase </a:t>
            </a:r>
            <a:r>
              <a:rPr lang="en-US" sz="2400" dirty="0">
                <a:solidFill>
                  <a:schemeClr val="bg2">
                    <a:lumMod val="25000"/>
                  </a:schemeClr>
                </a:solidFill>
                <a:latin typeface="Georgia" panose="02040502050405020303" pitchFamily="18" charset="0"/>
              </a:rPr>
              <a:t>characters to uppercase</a:t>
            </a:r>
            <a:r>
              <a:rPr lang="en-US" sz="2400" dirty="0" smtClean="0">
                <a:solidFill>
                  <a:schemeClr val="bg2">
                    <a:lumMod val="25000"/>
                  </a:schemeClr>
                </a:solidFill>
                <a:latin typeface="Georgia" panose="02040502050405020303" pitchFamily="18" charset="0"/>
              </a:rPr>
              <a:t>.</a:t>
            </a:r>
            <a:endParaRPr lang="en-US" sz="2400" dirty="0">
              <a:solidFill>
                <a:schemeClr val="bg2">
                  <a:lumMod val="25000"/>
                </a:schemeClr>
              </a:solidFill>
              <a:latin typeface="Georgia" panose="02040502050405020303" pitchFamily="18" charset="0"/>
            </a:endParaRPr>
          </a:p>
          <a:p>
            <a:pPr marL="342900" indent="-342900">
              <a:buFont typeface="Wingdings" panose="05000000000000000000" pitchFamily="2" charset="2"/>
              <a:buChar char="Ø"/>
            </a:pPr>
            <a:r>
              <a:rPr lang="en-US" sz="2400" dirty="0">
                <a:solidFill>
                  <a:schemeClr val="bg2">
                    <a:lumMod val="25000"/>
                  </a:schemeClr>
                </a:solidFill>
                <a:latin typeface="Georgia" panose="02040502050405020303" pitchFamily="18" charset="0"/>
              </a:rPr>
              <a:t>If no lowercase characters exist, it returns the original string.</a:t>
            </a:r>
            <a:endParaRPr lang="en-US" sz="2400" dirty="0">
              <a:solidFill>
                <a:schemeClr val="bg2">
                  <a:lumMod val="25000"/>
                </a:schemeClr>
              </a:solidFill>
              <a:latin typeface="Georgia" panose="02040502050405020303" pitchFamily="18" charset="0"/>
            </a:endParaRPr>
          </a:p>
        </p:txBody>
      </p:sp>
      <p:sp>
        <p:nvSpPr>
          <p:cNvPr id="3" name="Rectangle 2"/>
          <p:cNvSpPr/>
          <p:nvPr/>
        </p:nvSpPr>
        <p:spPr>
          <a:xfrm>
            <a:off x="7791766" y="2656195"/>
            <a:ext cx="6096000" cy="830997"/>
          </a:xfrm>
          <a:prstGeom prst="rect">
            <a:avLst/>
          </a:prstGeom>
        </p:spPr>
        <p:txBody>
          <a:bodyPr>
            <a:spAutoFit/>
          </a:bodyPr>
          <a:lstStyle/>
          <a:p>
            <a:r>
              <a:rPr lang="en-US" sz="2400" b="1" dirty="0" smtClean="0">
                <a:solidFill>
                  <a:schemeClr val="bg2">
                    <a:lumMod val="25000"/>
                  </a:schemeClr>
                </a:solidFill>
                <a:latin typeface="Georgia" panose="02040502050405020303" pitchFamily="18" charset="0"/>
              </a:rPr>
              <a:t>Syntax:</a:t>
            </a:r>
            <a:endParaRPr lang="en-US" sz="2400" b="1" dirty="0" smtClean="0">
              <a:solidFill>
                <a:schemeClr val="bg2">
                  <a:lumMod val="25000"/>
                </a:schemeClr>
              </a:solidFill>
              <a:latin typeface="Georgia" panose="02040502050405020303" pitchFamily="18" charset="0"/>
            </a:endParaRPr>
          </a:p>
          <a:p>
            <a:r>
              <a:rPr lang="en-US" sz="2400" dirty="0" err="1" smtClean="0">
                <a:solidFill>
                  <a:schemeClr val="bg2">
                    <a:lumMod val="25000"/>
                  </a:schemeClr>
                </a:solidFill>
                <a:latin typeface="Georgia" panose="02040502050405020303" pitchFamily="18" charset="0"/>
              </a:rPr>
              <a:t>string.upper</a:t>
            </a:r>
            <a:r>
              <a:rPr lang="en-US" sz="2400" dirty="0" smtClean="0">
                <a:solidFill>
                  <a:schemeClr val="bg2">
                    <a:lumMod val="25000"/>
                  </a:schemeClr>
                </a:solidFill>
                <a:latin typeface="Georgia" panose="02040502050405020303" pitchFamily="18" charset="0"/>
              </a:rPr>
              <a:t>()</a:t>
            </a:r>
            <a:endParaRPr lang="en-US" sz="2400" dirty="0">
              <a:solidFill>
                <a:schemeClr val="bg2">
                  <a:lumMod val="25000"/>
                </a:schemeClr>
              </a:solidFill>
              <a:latin typeface="Georgia" panose="02040502050405020303" pitchFamily="18" charset="0"/>
            </a:endParaRPr>
          </a:p>
        </p:txBody>
      </p:sp>
      <p:pic>
        <p:nvPicPr>
          <p:cNvPr id="2" name="Picture 1"/>
          <p:cNvPicPr>
            <a:picLocks noChangeAspect="1"/>
          </p:cNvPicPr>
          <p:nvPr/>
        </p:nvPicPr>
        <p:blipFill>
          <a:blip r:embed="rId2"/>
          <a:stretch>
            <a:fillRect/>
          </a:stretch>
        </p:blipFill>
        <p:spPr>
          <a:xfrm>
            <a:off x="756803" y="2656195"/>
            <a:ext cx="6625375" cy="3332643"/>
          </a:xfrm>
          <a:prstGeom prst="rect">
            <a:avLst/>
          </a:prstGeom>
          <a:ln w="6350" cap="sq" cmpd="thickThin">
            <a:solidFill>
              <a:srgbClr val="000000"/>
            </a:solidFill>
            <a:prstDash val="solid"/>
            <a:miter lim="800000"/>
            <a:headEnd/>
            <a:tailEnd/>
          </a:ln>
          <a:effectLst>
            <a:innerShdw blurRad="76200">
              <a:srgbClr val="000000"/>
            </a:innerShdw>
          </a:effectLst>
        </p:spPr>
      </p:pic>
      <p:pic>
        <p:nvPicPr>
          <p:cNvPr id="9" name="Picture 8"/>
          <p:cNvPicPr>
            <a:picLocks noChangeAspect="1"/>
          </p:cNvPicPr>
          <p:nvPr/>
        </p:nvPicPr>
        <p:blipFill>
          <a:blip r:embed="rId3"/>
          <a:stretch>
            <a:fillRect/>
          </a:stretch>
        </p:blipFill>
        <p:spPr>
          <a:xfrm>
            <a:off x="4069490" y="5032872"/>
            <a:ext cx="7961792" cy="1616433"/>
          </a:xfrm>
          <a:prstGeom prst="rect">
            <a:avLst/>
          </a:prstGeom>
          <a:ln w="6350" cap="sq" cmpd="thickThin">
            <a:solidFill>
              <a:srgbClr val="000000"/>
            </a:solidFill>
            <a:prstDash val="solid"/>
            <a:miter lim="800000"/>
            <a:headEnd/>
            <a:tailEnd/>
          </a:ln>
          <a:effectLst>
            <a:innerShdw blurRad="76200">
              <a:srgbClr val="000000"/>
            </a:innerShdw>
          </a:effectLst>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8" name="Rectangle 7"/>
          <p:cNvSpPr/>
          <p:nvPr/>
        </p:nvSpPr>
        <p:spPr>
          <a:xfrm>
            <a:off x="756803" y="517181"/>
            <a:ext cx="1615186" cy="646331"/>
          </a:xfrm>
          <a:prstGeom prst="rect">
            <a:avLst/>
          </a:prstGeom>
        </p:spPr>
        <p:txBody>
          <a:bodyPr wrap="none">
            <a:spAutoFit/>
          </a:bodyPr>
          <a:lstStyle/>
          <a:p>
            <a:r>
              <a:rPr lang="en-US" sz="3600" b="1" dirty="0" smtClean="0">
                <a:solidFill>
                  <a:schemeClr val="bg2">
                    <a:lumMod val="25000"/>
                  </a:schemeClr>
                </a:solidFill>
                <a:latin typeface="Plantagenet Cherokee" panose="02020602070100000000" pitchFamily="18" charset="0"/>
              </a:rPr>
              <a:t>index()</a:t>
            </a:r>
            <a:endParaRPr lang="en-US" sz="3600" b="1" dirty="0">
              <a:solidFill>
                <a:schemeClr val="bg2">
                  <a:lumMod val="25000"/>
                </a:schemeClr>
              </a:solidFill>
              <a:latin typeface="Plantagenet Cherokee" panose="02020602070100000000" pitchFamily="18" charset="0"/>
            </a:endParaRPr>
          </a:p>
        </p:txBody>
      </p:sp>
      <p:sp>
        <p:nvSpPr>
          <p:cNvPr id="4" name="Rectangle 3"/>
          <p:cNvSpPr/>
          <p:nvPr/>
        </p:nvSpPr>
        <p:spPr>
          <a:xfrm>
            <a:off x="1403797" y="1219582"/>
            <a:ext cx="10552563" cy="1200329"/>
          </a:xfrm>
          <a:prstGeom prst="rect">
            <a:avLst/>
          </a:prstGeom>
        </p:spPr>
        <p:txBody>
          <a:bodyPr wrap="square">
            <a:spAutoFit/>
          </a:bodyPr>
          <a:lstStyle/>
          <a:p>
            <a:pPr marL="342900" indent="-342900">
              <a:buFont typeface="Wingdings" panose="05000000000000000000" pitchFamily="2" charset="2"/>
              <a:buChar char="Ø"/>
            </a:pPr>
            <a:r>
              <a:rPr lang="en-US" sz="2400" dirty="0" smtClean="0">
                <a:solidFill>
                  <a:schemeClr val="bg2">
                    <a:lumMod val="25000"/>
                  </a:schemeClr>
                </a:solidFill>
                <a:latin typeface="Georgia" panose="02040502050405020303" pitchFamily="18" charset="0"/>
              </a:rPr>
              <a:t>If </a:t>
            </a:r>
            <a:r>
              <a:rPr lang="en-US" sz="2400" dirty="0">
                <a:solidFill>
                  <a:schemeClr val="bg2">
                    <a:lumMod val="25000"/>
                  </a:schemeClr>
                </a:solidFill>
                <a:latin typeface="Georgia" panose="02040502050405020303" pitchFamily="18" charset="0"/>
              </a:rPr>
              <a:t>substring exists inside the string, it returns the lowest index in the string where substring is found.</a:t>
            </a:r>
            <a:endParaRPr lang="en-US" sz="2400" dirty="0">
              <a:solidFill>
                <a:schemeClr val="bg2">
                  <a:lumMod val="25000"/>
                </a:schemeClr>
              </a:solidFill>
              <a:latin typeface="Georgia" panose="02040502050405020303" pitchFamily="18" charset="0"/>
            </a:endParaRPr>
          </a:p>
          <a:p>
            <a:pPr marL="342900" indent="-342900">
              <a:buFont typeface="Wingdings" panose="05000000000000000000" pitchFamily="2" charset="2"/>
              <a:buChar char="Ø"/>
            </a:pPr>
            <a:r>
              <a:rPr lang="en-US" sz="2400" dirty="0" smtClean="0">
                <a:solidFill>
                  <a:schemeClr val="bg2">
                    <a:lumMod val="25000"/>
                  </a:schemeClr>
                </a:solidFill>
                <a:latin typeface="Georgia" panose="02040502050405020303" pitchFamily="18" charset="0"/>
              </a:rPr>
              <a:t>If </a:t>
            </a:r>
            <a:r>
              <a:rPr lang="en-US" sz="2400" dirty="0">
                <a:solidFill>
                  <a:schemeClr val="bg2">
                    <a:lumMod val="25000"/>
                  </a:schemeClr>
                </a:solidFill>
                <a:latin typeface="Georgia" panose="02040502050405020303" pitchFamily="18" charset="0"/>
              </a:rPr>
              <a:t>substring doesn't exist inside the string, it raises a </a:t>
            </a:r>
            <a:r>
              <a:rPr lang="en-US" sz="2400" dirty="0" err="1">
                <a:solidFill>
                  <a:schemeClr val="bg2">
                    <a:lumMod val="25000"/>
                  </a:schemeClr>
                </a:solidFill>
                <a:latin typeface="Georgia" panose="02040502050405020303" pitchFamily="18" charset="0"/>
              </a:rPr>
              <a:t>ValueError</a:t>
            </a:r>
            <a:r>
              <a:rPr lang="en-US" sz="2400" dirty="0">
                <a:solidFill>
                  <a:schemeClr val="bg2">
                    <a:lumMod val="25000"/>
                  </a:schemeClr>
                </a:solidFill>
                <a:latin typeface="Georgia" panose="02040502050405020303" pitchFamily="18" charset="0"/>
              </a:rPr>
              <a:t> exception.</a:t>
            </a:r>
            <a:endParaRPr lang="en-US" sz="2400" dirty="0">
              <a:solidFill>
                <a:schemeClr val="bg2">
                  <a:lumMod val="25000"/>
                </a:schemeClr>
              </a:solidFill>
              <a:latin typeface="Georgia" panose="02040502050405020303" pitchFamily="18" charset="0"/>
            </a:endParaRPr>
          </a:p>
        </p:txBody>
      </p:sp>
      <p:sp>
        <p:nvSpPr>
          <p:cNvPr id="3" name="Rectangle 2"/>
          <p:cNvSpPr/>
          <p:nvPr/>
        </p:nvSpPr>
        <p:spPr>
          <a:xfrm>
            <a:off x="7791766" y="2656195"/>
            <a:ext cx="6096000" cy="830997"/>
          </a:xfrm>
          <a:prstGeom prst="rect">
            <a:avLst/>
          </a:prstGeom>
        </p:spPr>
        <p:txBody>
          <a:bodyPr>
            <a:spAutoFit/>
          </a:bodyPr>
          <a:lstStyle/>
          <a:p>
            <a:r>
              <a:rPr lang="en-US" sz="2400" b="1" dirty="0" smtClean="0">
                <a:solidFill>
                  <a:schemeClr val="bg2">
                    <a:lumMod val="25000"/>
                  </a:schemeClr>
                </a:solidFill>
                <a:latin typeface="Georgia" panose="02040502050405020303" pitchFamily="18" charset="0"/>
              </a:rPr>
              <a:t>Syntax:</a:t>
            </a:r>
            <a:endParaRPr lang="en-US" sz="2400" b="1" dirty="0" smtClean="0">
              <a:solidFill>
                <a:schemeClr val="bg2">
                  <a:lumMod val="25000"/>
                </a:schemeClr>
              </a:solidFill>
              <a:latin typeface="Georgia" panose="02040502050405020303" pitchFamily="18" charset="0"/>
            </a:endParaRPr>
          </a:p>
          <a:p>
            <a:r>
              <a:rPr lang="en-US" sz="2400" dirty="0" err="1" smtClean="0">
                <a:solidFill>
                  <a:schemeClr val="bg2">
                    <a:lumMod val="25000"/>
                  </a:schemeClr>
                </a:solidFill>
                <a:latin typeface="Georgia" panose="02040502050405020303" pitchFamily="18" charset="0"/>
              </a:rPr>
              <a:t>string.index</a:t>
            </a:r>
            <a:r>
              <a:rPr lang="en-US" sz="2400" dirty="0" smtClean="0">
                <a:solidFill>
                  <a:schemeClr val="bg2">
                    <a:lumMod val="25000"/>
                  </a:schemeClr>
                </a:solidFill>
                <a:latin typeface="Georgia" panose="02040502050405020303" pitchFamily="18" charset="0"/>
              </a:rPr>
              <a:t>(substring)</a:t>
            </a:r>
            <a:endParaRPr lang="en-US" sz="2400" dirty="0">
              <a:solidFill>
                <a:schemeClr val="bg2">
                  <a:lumMod val="25000"/>
                </a:schemeClr>
              </a:solidFill>
              <a:latin typeface="Georgia" panose="02040502050405020303" pitchFamily="18" charset="0"/>
            </a:endParaRPr>
          </a:p>
        </p:txBody>
      </p:sp>
      <p:pic>
        <p:nvPicPr>
          <p:cNvPr id="5" name="Picture 4"/>
          <p:cNvPicPr>
            <a:picLocks noChangeAspect="1"/>
          </p:cNvPicPr>
          <p:nvPr/>
        </p:nvPicPr>
        <p:blipFill>
          <a:blip r:embed="rId2"/>
          <a:stretch>
            <a:fillRect/>
          </a:stretch>
        </p:blipFill>
        <p:spPr>
          <a:xfrm>
            <a:off x="505295" y="2656195"/>
            <a:ext cx="7196319" cy="3029068"/>
          </a:xfrm>
          <a:prstGeom prst="rect">
            <a:avLst/>
          </a:prstGeom>
          <a:ln w="6350" cap="sq" cmpd="thickThin">
            <a:solidFill>
              <a:srgbClr val="000000"/>
            </a:solidFill>
            <a:prstDash val="solid"/>
            <a:miter lim="800000"/>
            <a:headEnd/>
            <a:tailEnd/>
          </a:ln>
          <a:effectLst>
            <a:innerShdw blurRad="76200">
              <a:srgbClr val="000000"/>
            </a:innerShdw>
          </a:effectLst>
        </p:spPr>
      </p:pic>
      <p:pic>
        <p:nvPicPr>
          <p:cNvPr id="7" name="Picture 6"/>
          <p:cNvPicPr>
            <a:picLocks noChangeAspect="1"/>
          </p:cNvPicPr>
          <p:nvPr/>
        </p:nvPicPr>
        <p:blipFill>
          <a:blip r:embed="rId3"/>
          <a:stretch>
            <a:fillRect/>
          </a:stretch>
        </p:blipFill>
        <p:spPr>
          <a:xfrm>
            <a:off x="5689242" y="4170728"/>
            <a:ext cx="6231318" cy="1933857"/>
          </a:xfrm>
          <a:prstGeom prst="rect">
            <a:avLst/>
          </a:prstGeom>
          <a:ln w="6350" cap="sq" cmpd="thickThin">
            <a:solidFill>
              <a:srgbClr val="000000"/>
            </a:solidFill>
            <a:prstDash val="solid"/>
            <a:miter lim="800000"/>
            <a:headEnd/>
            <a:tailEnd/>
          </a:ln>
          <a:effectLst>
            <a:innerShdw blurRad="76200">
              <a:srgbClr val="000000"/>
            </a:innerShdw>
          </a:effectLst>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8" name="Rectangle 7"/>
          <p:cNvSpPr/>
          <p:nvPr/>
        </p:nvSpPr>
        <p:spPr>
          <a:xfrm>
            <a:off x="1040139" y="685800"/>
            <a:ext cx="1252300" cy="646331"/>
          </a:xfrm>
          <a:prstGeom prst="rect">
            <a:avLst/>
          </a:prstGeom>
        </p:spPr>
        <p:txBody>
          <a:bodyPr wrap="square">
            <a:spAutoFit/>
          </a:bodyPr>
          <a:lstStyle/>
          <a:p>
            <a:r>
              <a:rPr lang="en-US" sz="3600" b="1" dirty="0" smtClean="0">
                <a:solidFill>
                  <a:schemeClr val="bg2">
                    <a:lumMod val="25000"/>
                  </a:schemeClr>
                </a:solidFill>
                <a:latin typeface="Plantagenet Cherokee" panose="02020602070100000000" pitchFamily="18" charset="0"/>
              </a:rPr>
              <a:t>Lists</a:t>
            </a:r>
            <a:endParaRPr lang="en-US" sz="3600" b="1" dirty="0">
              <a:solidFill>
                <a:schemeClr val="bg2">
                  <a:lumMod val="25000"/>
                </a:schemeClr>
              </a:solidFill>
              <a:latin typeface="Plantagenet Cherokee" panose="02020602070100000000" pitchFamily="18" charset="0"/>
            </a:endParaRPr>
          </a:p>
        </p:txBody>
      </p:sp>
      <p:sp>
        <p:nvSpPr>
          <p:cNvPr id="2" name="Rectangle 1"/>
          <p:cNvSpPr>
            <a:spLocks noChangeArrowheads="1"/>
          </p:cNvSpPr>
          <p:nvPr/>
        </p:nvSpPr>
        <p:spPr bwMode="auto">
          <a:xfrm>
            <a:off x="1521673" y="1707592"/>
            <a:ext cx="10479633"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342900" lvl="0" indent="-342900" eaLnBrk="0" fontAlgn="base" hangingPunct="0">
              <a:spcBef>
                <a:spcPct val="0"/>
              </a:spcBef>
              <a:spcAft>
                <a:spcPct val="0"/>
              </a:spcAft>
              <a:buFont typeface="Wingdings" panose="05000000000000000000" pitchFamily="2" charset="2"/>
              <a:buChar char="Ø"/>
            </a:pPr>
            <a:r>
              <a:rPr lang="en-US" altLang="en-US" sz="2400" dirty="0">
                <a:solidFill>
                  <a:schemeClr val="bg2">
                    <a:lumMod val="25000"/>
                  </a:schemeClr>
                </a:solidFill>
                <a:latin typeface="Georgia" panose="02040502050405020303" pitchFamily="18" charset="0"/>
              </a:rPr>
              <a:t>Lists in python are also a type of sequences just like tuples</a:t>
            </a:r>
            <a:r>
              <a:rPr lang="en-US" altLang="en-US" sz="2400" dirty="0" smtClean="0">
                <a:solidFill>
                  <a:schemeClr val="bg2">
                    <a:lumMod val="25000"/>
                  </a:schemeClr>
                </a:solidFill>
                <a:latin typeface="Georgia" panose="02040502050405020303" pitchFamily="18" charset="0"/>
              </a:rPr>
              <a:t>.</a:t>
            </a:r>
            <a:endParaRPr lang="en-US" altLang="en-US" sz="2400" dirty="0" smtClean="0">
              <a:solidFill>
                <a:schemeClr val="bg2">
                  <a:lumMod val="25000"/>
                </a:schemeClr>
              </a:solidFill>
              <a:latin typeface="Georgia" panose="02040502050405020303" pitchFamily="18" charset="0"/>
            </a:endParaRPr>
          </a:p>
          <a:p>
            <a:pPr marL="342900" lvl="0" indent="-342900" eaLnBrk="0" fontAlgn="base" hangingPunct="0">
              <a:spcBef>
                <a:spcPct val="0"/>
              </a:spcBef>
              <a:spcAft>
                <a:spcPct val="0"/>
              </a:spcAft>
              <a:buFont typeface="Wingdings" panose="05000000000000000000" pitchFamily="2" charset="2"/>
              <a:buChar char="Ø"/>
            </a:pPr>
            <a:endParaRPr lang="en-US" altLang="en-US" sz="2400" dirty="0">
              <a:solidFill>
                <a:schemeClr val="bg2">
                  <a:lumMod val="25000"/>
                </a:schemeClr>
              </a:solidFill>
              <a:latin typeface="Georgia" panose="02040502050405020303" pitchFamily="18" charset="0"/>
            </a:endParaRPr>
          </a:p>
          <a:p>
            <a:pPr marL="342900" lvl="0" indent="-342900" eaLnBrk="0" fontAlgn="base" hangingPunct="0">
              <a:spcBef>
                <a:spcPct val="0"/>
              </a:spcBef>
              <a:spcAft>
                <a:spcPct val="0"/>
              </a:spcAft>
              <a:buFont typeface="Wingdings" panose="05000000000000000000" pitchFamily="2" charset="2"/>
              <a:buChar char="Ø"/>
            </a:pPr>
            <a:r>
              <a:rPr lang="en-US" altLang="en-US" sz="2400" dirty="0" smtClean="0">
                <a:solidFill>
                  <a:schemeClr val="bg2">
                    <a:lumMod val="25000"/>
                  </a:schemeClr>
                </a:solidFill>
                <a:latin typeface="Georgia" panose="02040502050405020303" pitchFamily="18" charset="0"/>
              </a:rPr>
              <a:t>Unlike </a:t>
            </a:r>
            <a:r>
              <a:rPr lang="en-US" altLang="en-US" sz="2400" dirty="0">
                <a:solidFill>
                  <a:schemeClr val="bg2">
                    <a:lumMod val="25000"/>
                  </a:schemeClr>
                </a:solidFill>
                <a:latin typeface="Georgia" panose="02040502050405020303" pitchFamily="18" charset="0"/>
              </a:rPr>
              <a:t>tuples, lists are mutable, that is, lists can be modified. Therefore, lists have all the features that tuples have, plus another feature is, it can be modified</a:t>
            </a:r>
            <a:r>
              <a:rPr lang="en-US" altLang="en-US" sz="2400" dirty="0" smtClean="0">
                <a:solidFill>
                  <a:schemeClr val="bg2">
                    <a:lumMod val="25000"/>
                  </a:schemeClr>
                </a:solidFill>
                <a:latin typeface="Georgia" panose="02040502050405020303" pitchFamily="18" charset="0"/>
              </a:rPr>
              <a:t>.</a:t>
            </a:r>
            <a:endParaRPr lang="en-US" altLang="en-US" sz="2400" dirty="0" smtClean="0">
              <a:solidFill>
                <a:schemeClr val="bg2">
                  <a:lumMod val="25000"/>
                </a:schemeClr>
              </a:solidFill>
              <a:latin typeface="Georgia" panose="02040502050405020303" pitchFamily="18" charset="0"/>
            </a:endParaRPr>
          </a:p>
          <a:p>
            <a:pPr marL="342900" lvl="0" indent="-342900" eaLnBrk="0" fontAlgn="base" hangingPunct="0">
              <a:spcBef>
                <a:spcPct val="0"/>
              </a:spcBef>
              <a:spcAft>
                <a:spcPct val="0"/>
              </a:spcAft>
              <a:buFont typeface="Wingdings" panose="05000000000000000000" pitchFamily="2" charset="2"/>
              <a:buChar char="Ø"/>
            </a:pPr>
            <a:endParaRPr lang="en-US" altLang="en-US" sz="2400" dirty="0">
              <a:solidFill>
                <a:schemeClr val="bg2">
                  <a:lumMod val="25000"/>
                </a:schemeClr>
              </a:solidFill>
              <a:latin typeface="Georgia" panose="02040502050405020303" pitchFamily="18" charset="0"/>
            </a:endParaRPr>
          </a:p>
          <a:p>
            <a:pPr marL="342900" lvl="0" indent="-342900" eaLnBrk="0" fontAlgn="base" hangingPunct="0">
              <a:spcBef>
                <a:spcPct val="0"/>
              </a:spcBef>
              <a:spcAft>
                <a:spcPct val="0"/>
              </a:spcAft>
              <a:buFont typeface="Wingdings" panose="05000000000000000000" pitchFamily="2" charset="2"/>
              <a:buChar char="Ø"/>
            </a:pPr>
            <a:r>
              <a:rPr lang="en-US" altLang="en-US" sz="2400" dirty="0" smtClean="0">
                <a:solidFill>
                  <a:schemeClr val="bg2">
                    <a:lumMod val="25000"/>
                  </a:schemeClr>
                </a:solidFill>
                <a:latin typeface="Georgia" panose="02040502050405020303" pitchFamily="18" charset="0"/>
              </a:rPr>
              <a:t>A </a:t>
            </a:r>
            <a:r>
              <a:rPr lang="en-US" altLang="en-US" sz="2400" dirty="0">
                <a:solidFill>
                  <a:schemeClr val="bg2">
                    <a:lumMod val="25000"/>
                  </a:schemeClr>
                </a:solidFill>
                <a:latin typeface="Georgia" panose="02040502050405020303" pitchFamily="18" charset="0"/>
              </a:rPr>
              <a:t>list basically contains items separated by commas and enclosed within the square brackets </a:t>
            </a:r>
            <a:r>
              <a:rPr lang="en-US" altLang="en-US" sz="2400" dirty="0" smtClean="0">
                <a:solidFill>
                  <a:schemeClr val="bg2">
                    <a:lumMod val="25000"/>
                  </a:schemeClr>
                </a:solidFill>
                <a:latin typeface="Georgia" panose="02040502050405020303" pitchFamily="18" charset="0"/>
              </a:rPr>
              <a:t>[].</a:t>
            </a:r>
            <a:endParaRPr lang="en-US" altLang="en-US" sz="2400" dirty="0" smtClean="0">
              <a:solidFill>
                <a:schemeClr val="bg2">
                  <a:lumMod val="25000"/>
                </a:schemeClr>
              </a:solidFill>
              <a:latin typeface="Georgia" panose="02040502050405020303" pitchFamily="18" charset="0"/>
            </a:endParaRPr>
          </a:p>
          <a:p>
            <a:pPr marL="342900" lvl="0" indent="-342900" eaLnBrk="0" fontAlgn="base" hangingPunct="0">
              <a:spcBef>
                <a:spcPct val="0"/>
              </a:spcBef>
              <a:spcAft>
                <a:spcPct val="0"/>
              </a:spcAft>
              <a:buFont typeface="Wingdings" panose="05000000000000000000" pitchFamily="2" charset="2"/>
              <a:buChar char="Ø"/>
            </a:pPr>
            <a:endParaRPr lang="en-US" altLang="en-US" sz="2400" dirty="0">
              <a:solidFill>
                <a:schemeClr val="bg2">
                  <a:lumMod val="25000"/>
                </a:schemeClr>
              </a:solidFill>
              <a:latin typeface="Georgia" panose="02040502050405020303" pitchFamily="18" charset="0"/>
            </a:endParaRPr>
          </a:p>
          <a:p>
            <a:pPr marL="342900" lvl="0" indent="-342900" eaLnBrk="0" fontAlgn="base" hangingPunct="0">
              <a:spcBef>
                <a:spcPct val="0"/>
              </a:spcBef>
              <a:spcAft>
                <a:spcPct val="0"/>
              </a:spcAft>
              <a:buFont typeface="Wingdings" panose="05000000000000000000" pitchFamily="2" charset="2"/>
              <a:buChar char="Ø"/>
            </a:pPr>
            <a:r>
              <a:rPr lang="en-US" altLang="en-US" sz="2400" dirty="0" smtClean="0">
                <a:solidFill>
                  <a:schemeClr val="bg2">
                    <a:lumMod val="25000"/>
                  </a:schemeClr>
                </a:solidFill>
                <a:latin typeface="Georgia" panose="02040502050405020303" pitchFamily="18" charset="0"/>
              </a:rPr>
              <a:t>Items </a:t>
            </a:r>
            <a:r>
              <a:rPr lang="en-US" altLang="en-US" sz="2400" dirty="0">
                <a:solidFill>
                  <a:schemeClr val="bg2">
                    <a:lumMod val="25000"/>
                  </a:schemeClr>
                </a:solidFill>
                <a:latin typeface="Georgia" panose="02040502050405020303" pitchFamily="18" charset="0"/>
              </a:rPr>
              <a:t>in the list needn't be of the same type.</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8" name="Rectangle 7"/>
          <p:cNvSpPr/>
          <p:nvPr/>
        </p:nvSpPr>
        <p:spPr>
          <a:xfrm>
            <a:off x="937108" y="685800"/>
            <a:ext cx="2600392" cy="646331"/>
          </a:xfrm>
          <a:prstGeom prst="rect">
            <a:avLst/>
          </a:prstGeom>
        </p:spPr>
        <p:txBody>
          <a:bodyPr wrap="none">
            <a:spAutoFit/>
          </a:bodyPr>
          <a:lstStyle/>
          <a:p>
            <a:r>
              <a:rPr lang="en-US" sz="3600" b="1" dirty="0" smtClean="0">
                <a:solidFill>
                  <a:schemeClr val="bg2">
                    <a:lumMod val="25000"/>
                  </a:schemeClr>
                </a:solidFill>
                <a:latin typeface="Plantagenet Cherokee" panose="02020602070100000000" pitchFamily="18" charset="0"/>
              </a:rPr>
              <a:t>Lists Syntax</a:t>
            </a:r>
            <a:endParaRPr lang="en-US" sz="3600" b="1" dirty="0">
              <a:solidFill>
                <a:schemeClr val="bg2">
                  <a:lumMod val="25000"/>
                </a:schemeClr>
              </a:solidFill>
              <a:latin typeface="Plantagenet Cherokee" panose="02020602070100000000" pitchFamily="18" charset="0"/>
            </a:endParaRPr>
          </a:p>
        </p:txBody>
      </p:sp>
      <p:sp>
        <p:nvSpPr>
          <p:cNvPr id="3" name="Rectangle 2"/>
          <p:cNvSpPr/>
          <p:nvPr/>
        </p:nvSpPr>
        <p:spPr>
          <a:xfrm>
            <a:off x="1850264" y="1885281"/>
            <a:ext cx="6379335" cy="3046988"/>
          </a:xfrm>
          <a:prstGeom prst="rect">
            <a:avLst/>
          </a:prstGeom>
        </p:spPr>
        <p:txBody>
          <a:bodyPr wrap="square">
            <a:spAutoFit/>
          </a:bodyPr>
          <a:lstStyle/>
          <a:p>
            <a:r>
              <a:rPr lang="en-US" sz="2400" dirty="0">
                <a:solidFill>
                  <a:schemeClr val="bg2">
                    <a:lumMod val="25000"/>
                  </a:schemeClr>
                </a:solidFill>
                <a:latin typeface="Georgia" panose="02040502050405020303" pitchFamily="18" charset="0"/>
              </a:rPr>
              <a:t># empty list</a:t>
            </a:r>
            <a:endParaRPr lang="en-US" sz="2400" dirty="0">
              <a:solidFill>
                <a:schemeClr val="bg2">
                  <a:lumMod val="25000"/>
                </a:schemeClr>
              </a:solidFill>
              <a:latin typeface="Georgia" panose="02040502050405020303" pitchFamily="18" charset="0"/>
            </a:endParaRPr>
          </a:p>
          <a:p>
            <a:r>
              <a:rPr lang="en-US" sz="2400" dirty="0" err="1">
                <a:solidFill>
                  <a:schemeClr val="bg2">
                    <a:lumMod val="25000"/>
                  </a:schemeClr>
                </a:solidFill>
                <a:latin typeface="Georgia" panose="02040502050405020303" pitchFamily="18" charset="0"/>
              </a:rPr>
              <a:t>my_list</a:t>
            </a:r>
            <a:r>
              <a:rPr lang="en-US" sz="2400" dirty="0">
                <a:solidFill>
                  <a:schemeClr val="bg2">
                    <a:lumMod val="25000"/>
                  </a:schemeClr>
                </a:solidFill>
                <a:latin typeface="Georgia" panose="02040502050405020303" pitchFamily="18" charset="0"/>
              </a:rPr>
              <a:t> = </a:t>
            </a:r>
            <a:r>
              <a:rPr lang="en-US" sz="2400" dirty="0" smtClean="0">
                <a:solidFill>
                  <a:schemeClr val="bg2">
                    <a:lumMod val="25000"/>
                  </a:schemeClr>
                </a:solidFill>
                <a:latin typeface="Georgia" panose="02040502050405020303" pitchFamily="18" charset="0"/>
              </a:rPr>
              <a:t>[]</a:t>
            </a:r>
            <a:endParaRPr lang="en-US" sz="2400" dirty="0" smtClean="0">
              <a:solidFill>
                <a:schemeClr val="bg2">
                  <a:lumMod val="25000"/>
                </a:schemeClr>
              </a:solidFill>
              <a:latin typeface="Georgia" panose="02040502050405020303" pitchFamily="18" charset="0"/>
            </a:endParaRPr>
          </a:p>
          <a:p>
            <a:endParaRPr lang="en-US" sz="2400" dirty="0">
              <a:solidFill>
                <a:schemeClr val="bg2">
                  <a:lumMod val="25000"/>
                </a:schemeClr>
              </a:solidFill>
              <a:latin typeface="Georgia" panose="02040502050405020303" pitchFamily="18" charset="0"/>
            </a:endParaRPr>
          </a:p>
          <a:p>
            <a:r>
              <a:rPr lang="en-US" sz="2400" dirty="0" smtClean="0">
                <a:solidFill>
                  <a:schemeClr val="bg2">
                    <a:lumMod val="25000"/>
                  </a:schemeClr>
                </a:solidFill>
                <a:latin typeface="Georgia" panose="02040502050405020303" pitchFamily="18" charset="0"/>
              </a:rPr>
              <a:t># </a:t>
            </a:r>
            <a:r>
              <a:rPr lang="en-US" sz="2400" dirty="0">
                <a:solidFill>
                  <a:schemeClr val="bg2">
                    <a:lumMod val="25000"/>
                  </a:schemeClr>
                </a:solidFill>
                <a:latin typeface="Georgia" panose="02040502050405020303" pitchFamily="18" charset="0"/>
              </a:rPr>
              <a:t>list of integers</a:t>
            </a:r>
            <a:endParaRPr lang="en-US" sz="2400" dirty="0">
              <a:solidFill>
                <a:schemeClr val="bg2">
                  <a:lumMod val="25000"/>
                </a:schemeClr>
              </a:solidFill>
              <a:latin typeface="Georgia" panose="02040502050405020303" pitchFamily="18" charset="0"/>
            </a:endParaRPr>
          </a:p>
          <a:p>
            <a:r>
              <a:rPr lang="en-US" sz="2400" dirty="0" err="1">
                <a:solidFill>
                  <a:schemeClr val="bg2">
                    <a:lumMod val="25000"/>
                  </a:schemeClr>
                </a:solidFill>
                <a:latin typeface="Georgia" panose="02040502050405020303" pitchFamily="18" charset="0"/>
              </a:rPr>
              <a:t>my_list</a:t>
            </a:r>
            <a:r>
              <a:rPr lang="en-US" sz="2400" dirty="0">
                <a:solidFill>
                  <a:schemeClr val="bg2">
                    <a:lumMod val="25000"/>
                  </a:schemeClr>
                </a:solidFill>
                <a:latin typeface="Georgia" panose="02040502050405020303" pitchFamily="18" charset="0"/>
              </a:rPr>
              <a:t> = [1, 2, 3</a:t>
            </a:r>
            <a:r>
              <a:rPr lang="en-US" sz="2400" dirty="0" smtClean="0">
                <a:solidFill>
                  <a:schemeClr val="bg2">
                    <a:lumMod val="25000"/>
                  </a:schemeClr>
                </a:solidFill>
                <a:latin typeface="Georgia" panose="02040502050405020303" pitchFamily="18" charset="0"/>
              </a:rPr>
              <a:t>]</a:t>
            </a:r>
            <a:endParaRPr lang="en-US" sz="2400" dirty="0" smtClean="0">
              <a:solidFill>
                <a:schemeClr val="bg2">
                  <a:lumMod val="25000"/>
                </a:schemeClr>
              </a:solidFill>
              <a:latin typeface="Georgia" panose="02040502050405020303" pitchFamily="18" charset="0"/>
            </a:endParaRPr>
          </a:p>
          <a:p>
            <a:endParaRPr lang="en-US" sz="2400" dirty="0">
              <a:solidFill>
                <a:schemeClr val="bg2">
                  <a:lumMod val="25000"/>
                </a:schemeClr>
              </a:solidFill>
              <a:latin typeface="Georgia" panose="02040502050405020303" pitchFamily="18" charset="0"/>
            </a:endParaRPr>
          </a:p>
          <a:p>
            <a:r>
              <a:rPr lang="en-US" sz="2400" dirty="0" smtClean="0">
                <a:solidFill>
                  <a:schemeClr val="bg2">
                    <a:lumMod val="25000"/>
                  </a:schemeClr>
                </a:solidFill>
                <a:latin typeface="Georgia" panose="02040502050405020303" pitchFamily="18" charset="0"/>
              </a:rPr>
              <a:t># </a:t>
            </a:r>
            <a:r>
              <a:rPr lang="en-US" sz="2400" dirty="0">
                <a:solidFill>
                  <a:schemeClr val="bg2">
                    <a:lumMod val="25000"/>
                  </a:schemeClr>
                </a:solidFill>
                <a:latin typeface="Georgia" panose="02040502050405020303" pitchFamily="18" charset="0"/>
              </a:rPr>
              <a:t>list with mixed </a:t>
            </a:r>
            <a:r>
              <a:rPr lang="en-US" sz="2400" dirty="0" err="1">
                <a:solidFill>
                  <a:schemeClr val="bg2">
                    <a:lumMod val="25000"/>
                  </a:schemeClr>
                </a:solidFill>
                <a:latin typeface="Georgia" panose="02040502050405020303" pitchFamily="18" charset="0"/>
              </a:rPr>
              <a:t>datatypes</a:t>
            </a:r>
            <a:endParaRPr lang="en-US" sz="2400" dirty="0">
              <a:solidFill>
                <a:schemeClr val="bg2">
                  <a:lumMod val="25000"/>
                </a:schemeClr>
              </a:solidFill>
              <a:latin typeface="Georgia" panose="02040502050405020303" pitchFamily="18" charset="0"/>
            </a:endParaRPr>
          </a:p>
          <a:p>
            <a:r>
              <a:rPr lang="en-US" sz="2400" dirty="0" err="1">
                <a:solidFill>
                  <a:schemeClr val="bg2">
                    <a:lumMod val="25000"/>
                  </a:schemeClr>
                </a:solidFill>
                <a:latin typeface="Georgia" panose="02040502050405020303" pitchFamily="18" charset="0"/>
              </a:rPr>
              <a:t>my_list</a:t>
            </a:r>
            <a:r>
              <a:rPr lang="en-US" sz="2400" dirty="0">
                <a:solidFill>
                  <a:schemeClr val="bg2">
                    <a:lumMod val="25000"/>
                  </a:schemeClr>
                </a:solidFill>
                <a:latin typeface="Georgia" panose="02040502050405020303" pitchFamily="18" charset="0"/>
              </a:rPr>
              <a:t> = [1, "Hello", 3.4]</a:t>
            </a:r>
            <a:endParaRPr lang="en-US" sz="2400" dirty="0">
              <a:solidFill>
                <a:schemeClr val="bg2">
                  <a:lumMod val="25000"/>
                </a:schemeClr>
              </a:solidFill>
              <a:latin typeface="Georgia" panose="02040502050405020303" pitchFamily="18" charset="0"/>
            </a:endParaRPr>
          </a:p>
        </p:txBody>
      </p:sp>
      <p:sp>
        <p:nvSpPr>
          <p:cNvPr id="4" name="Rectangle 3"/>
          <p:cNvSpPr/>
          <p:nvPr/>
        </p:nvSpPr>
        <p:spPr>
          <a:xfrm>
            <a:off x="6241961" y="2813960"/>
            <a:ext cx="6096000" cy="830997"/>
          </a:xfrm>
          <a:prstGeom prst="rect">
            <a:avLst/>
          </a:prstGeom>
        </p:spPr>
        <p:txBody>
          <a:bodyPr>
            <a:spAutoFit/>
          </a:bodyPr>
          <a:lstStyle/>
          <a:p>
            <a:r>
              <a:rPr lang="en-US" sz="2400" dirty="0">
                <a:solidFill>
                  <a:schemeClr val="bg2">
                    <a:lumMod val="25000"/>
                  </a:schemeClr>
                </a:solidFill>
                <a:latin typeface="Georgia" panose="02040502050405020303" pitchFamily="18" charset="0"/>
              </a:rPr>
              <a:t># nested list</a:t>
            </a:r>
            <a:endParaRPr lang="en-US" sz="2400" dirty="0">
              <a:solidFill>
                <a:schemeClr val="bg2">
                  <a:lumMod val="25000"/>
                </a:schemeClr>
              </a:solidFill>
              <a:latin typeface="Georgia" panose="02040502050405020303" pitchFamily="18" charset="0"/>
            </a:endParaRPr>
          </a:p>
          <a:p>
            <a:r>
              <a:rPr lang="en-US" sz="2400" dirty="0" err="1">
                <a:solidFill>
                  <a:schemeClr val="bg2">
                    <a:lumMod val="25000"/>
                  </a:schemeClr>
                </a:solidFill>
                <a:latin typeface="Georgia" panose="02040502050405020303" pitchFamily="18" charset="0"/>
              </a:rPr>
              <a:t>my_list</a:t>
            </a:r>
            <a:r>
              <a:rPr lang="en-US" sz="2400" dirty="0">
                <a:solidFill>
                  <a:schemeClr val="bg2">
                    <a:lumMod val="25000"/>
                  </a:schemeClr>
                </a:solidFill>
                <a:latin typeface="Georgia" panose="02040502050405020303" pitchFamily="18" charset="0"/>
              </a:rPr>
              <a:t> = ["mouse", [8, 4, 6], ['a']]</a:t>
            </a:r>
            <a:endParaRPr lang="en-US" sz="2400" dirty="0">
              <a:solidFill>
                <a:schemeClr val="bg2">
                  <a:lumMod val="25000"/>
                </a:schemeClr>
              </a:solidFill>
              <a:latin typeface="Georgia" panose="02040502050405020303" pitchFamily="18" charset="0"/>
            </a:endParaRPr>
          </a:p>
        </p:txBody>
      </p:sp>
      <p:sp>
        <p:nvSpPr>
          <p:cNvPr id="5" name="Rectangle 4"/>
          <p:cNvSpPr/>
          <p:nvPr/>
        </p:nvSpPr>
        <p:spPr>
          <a:xfrm>
            <a:off x="7304506" y="2075720"/>
            <a:ext cx="1850186" cy="461665"/>
          </a:xfrm>
          <a:prstGeom prst="rect">
            <a:avLst/>
          </a:prstGeom>
          <a:noFill/>
        </p:spPr>
        <p:txBody>
          <a:bodyPr wrap="none" lIns="91440" tIns="45720" rIns="91440" bIns="45720">
            <a:spAutoFit/>
          </a:bodyPr>
          <a:lstStyle/>
          <a:p>
            <a:pPr algn="ctr"/>
            <a:r>
              <a:rPr lang="en-US" sz="2400" b="1" cap="none" spc="0" dirty="0" smtClean="0">
                <a:ln w="0"/>
                <a:solidFill>
                  <a:schemeClr val="bg2">
                    <a:lumMod val="25000"/>
                  </a:schemeClr>
                </a:solidFill>
                <a:effectLst>
                  <a:outerShdw blurRad="38100" dist="19050" dir="2700000" algn="tl" rotWithShape="0">
                    <a:schemeClr val="dk1">
                      <a:alpha val="40000"/>
                    </a:schemeClr>
                  </a:outerShdw>
                </a:effectLst>
                <a:latin typeface="Georgia" panose="02040502050405020303" pitchFamily="18" charset="0"/>
              </a:rPr>
              <a:t>Nested list</a:t>
            </a:r>
            <a:endParaRPr lang="en-US" sz="2400" b="1" cap="none" spc="0" dirty="0">
              <a:ln w="0"/>
              <a:solidFill>
                <a:schemeClr val="bg2">
                  <a:lumMod val="25000"/>
                </a:schemeClr>
              </a:solidFill>
              <a:effectLst>
                <a:outerShdw blurRad="38100" dist="19050" dir="2700000" algn="tl" rotWithShape="0">
                  <a:schemeClr val="dk1">
                    <a:alpha val="40000"/>
                  </a:schemeClr>
                </a:outerShdw>
              </a:effectLst>
              <a:latin typeface="Georgia" panose="02040502050405020303" pitchFamily="18" charset="0"/>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8" name="Rectangle 7"/>
          <p:cNvSpPr/>
          <p:nvPr/>
        </p:nvSpPr>
        <p:spPr>
          <a:xfrm>
            <a:off x="937108" y="685800"/>
            <a:ext cx="3215304" cy="646331"/>
          </a:xfrm>
          <a:prstGeom prst="rect">
            <a:avLst/>
          </a:prstGeom>
        </p:spPr>
        <p:txBody>
          <a:bodyPr wrap="none">
            <a:spAutoFit/>
          </a:bodyPr>
          <a:lstStyle/>
          <a:p>
            <a:r>
              <a:rPr lang="en-US" sz="3600" b="1" dirty="0" smtClean="0">
                <a:solidFill>
                  <a:schemeClr val="bg2">
                    <a:lumMod val="25000"/>
                  </a:schemeClr>
                </a:solidFill>
                <a:latin typeface="Plantagenet Cherokee" panose="02020602070100000000" pitchFamily="18" charset="0"/>
              </a:rPr>
              <a:t>Lists Examples</a:t>
            </a:r>
            <a:endParaRPr lang="en-US" sz="3600" b="1" dirty="0">
              <a:solidFill>
                <a:schemeClr val="bg2">
                  <a:lumMod val="25000"/>
                </a:schemeClr>
              </a:solidFill>
              <a:latin typeface="Plantagenet Cherokee" panose="02020602070100000000" pitchFamily="18" charset="0"/>
            </a:endParaRPr>
          </a:p>
        </p:txBody>
      </p:sp>
      <p:pic>
        <p:nvPicPr>
          <p:cNvPr id="2" name="Picture 1"/>
          <p:cNvPicPr>
            <a:picLocks noChangeAspect="1"/>
          </p:cNvPicPr>
          <p:nvPr/>
        </p:nvPicPr>
        <p:blipFill>
          <a:blip r:embed="rId2"/>
          <a:stretch>
            <a:fillRect/>
          </a:stretch>
        </p:blipFill>
        <p:spPr>
          <a:xfrm>
            <a:off x="1002085" y="1990590"/>
            <a:ext cx="6300654" cy="2607167"/>
          </a:xfrm>
          <a:prstGeom prst="rect">
            <a:avLst/>
          </a:prstGeom>
          <a:ln w="6350" cap="sq" cmpd="thickThin">
            <a:solidFill>
              <a:srgbClr val="000000"/>
            </a:solidFill>
            <a:prstDash val="solid"/>
            <a:miter lim="800000"/>
            <a:headEnd/>
            <a:tailEnd/>
          </a:ln>
          <a:effectLst>
            <a:innerShdw blurRad="76200">
              <a:srgbClr val="000000"/>
            </a:innerShdw>
          </a:effectLst>
        </p:spPr>
      </p:pic>
      <p:pic>
        <p:nvPicPr>
          <p:cNvPr id="7" name="Picture 6"/>
          <p:cNvPicPr>
            <a:picLocks noChangeAspect="1"/>
          </p:cNvPicPr>
          <p:nvPr/>
        </p:nvPicPr>
        <p:blipFill>
          <a:blip r:embed="rId3"/>
          <a:stretch>
            <a:fillRect/>
          </a:stretch>
        </p:blipFill>
        <p:spPr>
          <a:xfrm>
            <a:off x="3356757" y="3695598"/>
            <a:ext cx="8342733" cy="1804317"/>
          </a:xfrm>
          <a:prstGeom prst="rect">
            <a:avLst/>
          </a:prstGeom>
          <a:ln w="6350" cap="sq" cmpd="thickThin">
            <a:solidFill>
              <a:srgbClr val="000000"/>
            </a:solidFill>
            <a:prstDash val="solid"/>
            <a:miter lim="800000"/>
            <a:headEnd/>
            <a:tailEnd/>
          </a:ln>
          <a:effectLst>
            <a:innerShdw blurRad="76200">
              <a:srgbClr val="000000"/>
            </a:innerShdw>
          </a:effectLst>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8" name="Rectangle 7"/>
          <p:cNvSpPr/>
          <p:nvPr/>
        </p:nvSpPr>
        <p:spPr>
          <a:xfrm>
            <a:off x="937108" y="685800"/>
            <a:ext cx="2833148" cy="646331"/>
          </a:xfrm>
          <a:prstGeom prst="rect">
            <a:avLst/>
          </a:prstGeom>
        </p:spPr>
        <p:txBody>
          <a:bodyPr wrap="none">
            <a:spAutoFit/>
          </a:bodyPr>
          <a:lstStyle/>
          <a:p>
            <a:r>
              <a:rPr lang="en-US" sz="3600" b="1" dirty="0" smtClean="0">
                <a:solidFill>
                  <a:schemeClr val="bg2">
                    <a:lumMod val="25000"/>
                  </a:schemeClr>
                </a:solidFill>
                <a:latin typeface="Plantagenet Cherokee" panose="02020602070100000000" pitchFamily="18" charset="0"/>
              </a:rPr>
              <a:t>Slice the lists</a:t>
            </a:r>
            <a:endParaRPr lang="en-US" sz="3600" b="1" dirty="0">
              <a:solidFill>
                <a:schemeClr val="bg2">
                  <a:lumMod val="25000"/>
                </a:schemeClr>
              </a:solidFill>
              <a:latin typeface="Plantagenet Cherokee" panose="02020602070100000000" pitchFamily="18" charset="0"/>
            </a:endParaRPr>
          </a:p>
        </p:txBody>
      </p:sp>
      <p:sp>
        <p:nvSpPr>
          <p:cNvPr id="3" name="Rectangle 2"/>
          <p:cNvSpPr/>
          <p:nvPr/>
        </p:nvSpPr>
        <p:spPr>
          <a:xfrm>
            <a:off x="1399503" y="1573249"/>
            <a:ext cx="10616486" cy="461665"/>
          </a:xfrm>
          <a:prstGeom prst="rect">
            <a:avLst/>
          </a:prstGeom>
        </p:spPr>
        <p:txBody>
          <a:bodyPr wrap="square">
            <a:spAutoFit/>
          </a:bodyPr>
          <a:lstStyle/>
          <a:p>
            <a:r>
              <a:rPr lang="en-US" sz="2400" dirty="0">
                <a:solidFill>
                  <a:schemeClr val="bg2">
                    <a:lumMod val="25000"/>
                  </a:schemeClr>
                </a:solidFill>
                <a:latin typeface="Georgia" panose="02040502050405020303" pitchFamily="18" charset="0"/>
              </a:rPr>
              <a:t>We can access a range of items in a list by using the slicing operator (colon).</a:t>
            </a:r>
            <a:endParaRPr lang="en-US" sz="2400" dirty="0">
              <a:solidFill>
                <a:schemeClr val="bg2">
                  <a:lumMod val="25000"/>
                </a:schemeClr>
              </a:solidFill>
              <a:latin typeface="Georgia" panose="02040502050405020303" pitchFamily="18" charset="0"/>
            </a:endParaRPr>
          </a:p>
        </p:txBody>
      </p:sp>
      <p:pic>
        <p:nvPicPr>
          <p:cNvPr id="4" name="Picture 3"/>
          <p:cNvPicPr>
            <a:picLocks noChangeAspect="1"/>
          </p:cNvPicPr>
          <p:nvPr/>
        </p:nvPicPr>
        <p:blipFill>
          <a:blip r:embed="rId2"/>
          <a:stretch>
            <a:fillRect/>
          </a:stretch>
        </p:blipFill>
        <p:spPr>
          <a:xfrm>
            <a:off x="553188" y="2456336"/>
            <a:ext cx="6994352" cy="3586431"/>
          </a:xfrm>
          <a:prstGeom prst="rect">
            <a:avLst/>
          </a:prstGeom>
          <a:ln w="6350" cap="sq" cmpd="thickThin">
            <a:solidFill>
              <a:srgbClr val="000000"/>
            </a:solidFill>
            <a:prstDash val="solid"/>
            <a:miter lim="800000"/>
            <a:headEnd/>
            <a:tailEnd/>
          </a:ln>
          <a:effectLst>
            <a:innerShdw blurRad="76200">
              <a:srgbClr val="000000"/>
            </a:innerShdw>
          </a:effectLst>
        </p:spPr>
      </p:pic>
      <p:pic>
        <p:nvPicPr>
          <p:cNvPr id="5" name="Picture 4"/>
          <p:cNvPicPr>
            <a:picLocks noChangeAspect="1"/>
          </p:cNvPicPr>
          <p:nvPr/>
        </p:nvPicPr>
        <p:blipFill>
          <a:blip r:embed="rId3"/>
          <a:stretch>
            <a:fillRect/>
          </a:stretch>
        </p:blipFill>
        <p:spPr>
          <a:xfrm>
            <a:off x="3930136" y="3925372"/>
            <a:ext cx="7879792" cy="1919067"/>
          </a:xfrm>
          <a:prstGeom prst="rect">
            <a:avLst/>
          </a:prstGeom>
          <a:ln w="6350" cap="sq" cmpd="thickThin">
            <a:solidFill>
              <a:srgbClr val="000000"/>
            </a:solidFill>
            <a:prstDash val="solid"/>
            <a:miter lim="800000"/>
            <a:headEnd/>
            <a:tailEnd/>
          </a:ln>
          <a:effectLst>
            <a:innerShdw blurRad="76200">
              <a:srgbClr val="000000"/>
            </a:innerShdw>
          </a:effectLst>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8" name="Rectangle 7"/>
          <p:cNvSpPr/>
          <p:nvPr/>
        </p:nvSpPr>
        <p:spPr>
          <a:xfrm>
            <a:off x="937108" y="685800"/>
            <a:ext cx="5130956" cy="646331"/>
          </a:xfrm>
          <a:prstGeom prst="rect">
            <a:avLst/>
          </a:prstGeom>
        </p:spPr>
        <p:txBody>
          <a:bodyPr wrap="none">
            <a:spAutoFit/>
          </a:bodyPr>
          <a:lstStyle/>
          <a:p>
            <a:r>
              <a:rPr lang="en-US" sz="3600" b="1" dirty="0" smtClean="0">
                <a:solidFill>
                  <a:schemeClr val="bg2">
                    <a:lumMod val="25000"/>
                  </a:schemeClr>
                </a:solidFill>
                <a:latin typeface="Plantagenet Cherokee" panose="02020602070100000000" pitchFamily="18" charset="0"/>
              </a:rPr>
              <a:t>Change element to a list</a:t>
            </a:r>
            <a:endParaRPr lang="en-US" sz="3600" b="1" dirty="0">
              <a:solidFill>
                <a:schemeClr val="bg2">
                  <a:lumMod val="25000"/>
                </a:schemeClr>
              </a:solidFill>
              <a:latin typeface="Plantagenet Cherokee" panose="02020602070100000000" pitchFamily="18" charset="0"/>
            </a:endParaRPr>
          </a:p>
        </p:txBody>
      </p:sp>
      <p:sp>
        <p:nvSpPr>
          <p:cNvPr id="3" name="Rectangle 2"/>
          <p:cNvSpPr/>
          <p:nvPr/>
        </p:nvSpPr>
        <p:spPr>
          <a:xfrm>
            <a:off x="1399503" y="1573249"/>
            <a:ext cx="10616486" cy="461665"/>
          </a:xfrm>
          <a:prstGeom prst="rect">
            <a:avLst/>
          </a:prstGeom>
        </p:spPr>
        <p:txBody>
          <a:bodyPr wrap="square">
            <a:spAutoFit/>
          </a:bodyPr>
          <a:lstStyle/>
          <a:p>
            <a:r>
              <a:rPr lang="en-US" sz="2400" dirty="0">
                <a:solidFill>
                  <a:schemeClr val="bg2">
                    <a:lumMod val="25000"/>
                  </a:schemeClr>
                </a:solidFill>
                <a:latin typeface="Georgia" panose="02040502050405020303" pitchFamily="18" charset="0"/>
              </a:rPr>
              <a:t>We can access a range of items in a list by using the slicing operator (colon).</a:t>
            </a:r>
            <a:endParaRPr lang="en-US" sz="2400" dirty="0">
              <a:solidFill>
                <a:schemeClr val="bg2">
                  <a:lumMod val="25000"/>
                </a:schemeClr>
              </a:solidFill>
              <a:latin typeface="Georgia" panose="02040502050405020303" pitchFamily="18" charset="0"/>
            </a:endParaRPr>
          </a:p>
        </p:txBody>
      </p:sp>
      <p:pic>
        <p:nvPicPr>
          <p:cNvPr id="2" name="Picture 1"/>
          <p:cNvPicPr>
            <a:picLocks noChangeAspect="1"/>
          </p:cNvPicPr>
          <p:nvPr/>
        </p:nvPicPr>
        <p:blipFill>
          <a:blip r:embed="rId2"/>
          <a:stretch>
            <a:fillRect/>
          </a:stretch>
        </p:blipFill>
        <p:spPr>
          <a:xfrm>
            <a:off x="602257" y="2276032"/>
            <a:ext cx="6011080" cy="4312297"/>
          </a:xfrm>
          <a:prstGeom prst="rect">
            <a:avLst/>
          </a:prstGeom>
          <a:ln w="6350" cap="sq" cmpd="thickThin">
            <a:solidFill>
              <a:srgbClr val="000000"/>
            </a:solidFill>
            <a:prstDash val="solid"/>
            <a:miter lim="800000"/>
            <a:headEnd/>
            <a:tailEnd/>
          </a:ln>
          <a:effectLst>
            <a:innerShdw blurRad="76200">
              <a:srgbClr val="000000"/>
            </a:innerShdw>
          </a:effectLst>
        </p:spPr>
      </p:pic>
      <p:pic>
        <p:nvPicPr>
          <p:cNvPr id="7" name="Picture 6"/>
          <p:cNvPicPr>
            <a:picLocks noChangeAspect="1"/>
          </p:cNvPicPr>
          <p:nvPr/>
        </p:nvPicPr>
        <p:blipFill>
          <a:blip r:embed="rId3"/>
          <a:stretch>
            <a:fillRect/>
          </a:stretch>
        </p:blipFill>
        <p:spPr>
          <a:xfrm>
            <a:off x="4398538" y="3266405"/>
            <a:ext cx="7192448" cy="1369990"/>
          </a:xfrm>
          <a:prstGeom prst="rect">
            <a:avLst/>
          </a:prstGeom>
          <a:ln w="6350" cap="sq" cmpd="thickThin">
            <a:solidFill>
              <a:srgbClr val="000000"/>
            </a:solidFill>
            <a:prstDash val="solid"/>
            <a:miter lim="800000"/>
            <a:headEnd/>
            <a:tailEnd/>
          </a:ln>
          <a:effectLst>
            <a:innerShdw blurRad="76200">
              <a:srgbClr val="000000"/>
            </a:innerShdw>
          </a:effectLst>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8" name="Rectangle 7"/>
          <p:cNvSpPr/>
          <p:nvPr/>
        </p:nvSpPr>
        <p:spPr>
          <a:xfrm>
            <a:off x="937108" y="685800"/>
            <a:ext cx="4753545" cy="646331"/>
          </a:xfrm>
          <a:prstGeom prst="rect">
            <a:avLst/>
          </a:prstGeom>
        </p:spPr>
        <p:txBody>
          <a:bodyPr wrap="none">
            <a:spAutoFit/>
          </a:bodyPr>
          <a:lstStyle/>
          <a:p>
            <a:r>
              <a:rPr lang="en-US" sz="3600" b="1" dirty="0" smtClean="0">
                <a:solidFill>
                  <a:schemeClr val="bg2">
                    <a:lumMod val="25000"/>
                  </a:schemeClr>
                </a:solidFill>
                <a:latin typeface="Plantagenet Cherokee" panose="02020602070100000000" pitchFamily="18" charset="0"/>
              </a:rPr>
              <a:t>Insert element to a list</a:t>
            </a:r>
            <a:endParaRPr lang="en-US" sz="3600" b="1" dirty="0">
              <a:solidFill>
                <a:schemeClr val="bg2">
                  <a:lumMod val="25000"/>
                </a:schemeClr>
              </a:solidFill>
              <a:latin typeface="Plantagenet Cherokee" panose="02020602070100000000" pitchFamily="18" charset="0"/>
            </a:endParaRPr>
          </a:p>
        </p:txBody>
      </p:sp>
      <p:sp>
        <p:nvSpPr>
          <p:cNvPr id="4" name="Rectangle 1"/>
          <p:cNvSpPr>
            <a:spLocks noChangeArrowheads="1"/>
          </p:cNvSpPr>
          <p:nvPr/>
        </p:nvSpPr>
        <p:spPr bwMode="auto">
          <a:xfrm>
            <a:off x="1687132" y="1445340"/>
            <a:ext cx="1003992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we can insert one item at a desired location by using the method insert() </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p:txBody>
      </p:sp>
      <p:pic>
        <p:nvPicPr>
          <p:cNvPr id="5" name="Picture 4"/>
          <p:cNvPicPr>
            <a:picLocks noChangeAspect="1"/>
          </p:cNvPicPr>
          <p:nvPr/>
        </p:nvPicPr>
        <p:blipFill>
          <a:blip r:embed="rId2"/>
          <a:stretch>
            <a:fillRect/>
          </a:stretch>
        </p:blipFill>
        <p:spPr>
          <a:xfrm>
            <a:off x="845980" y="2474688"/>
            <a:ext cx="6395722" cy="2676861"/>
          </a:xfrm>
          <a:prstGeom prst="rect">
            <a:avLst/>
          </a:prstGeom>
          <a:ln w="6350" cap="sq" cmpd="thickThin">
            <a:solidFill>
              <a:srgbClr val="000000"/>
            </a:solidFill>
            <a:prstDash val="solid"/>
            <a:miter lim="800000"/>
            <a:headEnd/>
            <a:tailEnd/>
          </a:ln>
          <a:effectLst>
            <a:innerShdw blurRad="76200">
              <a:srgbClr val="000000"/>
            </a:innerShdw>
          </a:effectLst>
        </p:spPr>
      </p:pic>
      <p:pic>
        <p:nvPicPr>
          <p:cNvPr id="9" name="Picture 8"/>
          <p:cNvPicPr>
            <a:picLocks noChangeAspect="1"/>
          </p:cNvPicPr>
          <p:nvPr/>
        </p:nvPicPr>
        <p:blipFill>
          <a:blip r:embed="rId3"/>
          <a:stretch>
            <a:fillRect/>
          </a:stretch>
        </p:blipFill>
        <p:spPr>
          <a:xfrm>
            <a:off x="2849720" y="4534167"/>
            <a:ext cx="9140512" cy="1441629"/>
          </a:xfrm>
          <a:prstGeom prst="rect">
            <a:avLst/>
          </a:prstGeom>
          <a:ln w="6350" cap="sq" cmpd="thickThin">
            <a:solidFill>
              <a:srgbClr val="000000"/>
            </a:solidFill>
            <a:prstDash val="solid"/>
            <a:miter lim="800000"/>
            <a:headEnd/>
            <a:tailEnd/>
          </a:ln>
          <a:effectLst>
            <a:innerShdw blurRad="76200">
              <a:srgbClr val="000000"/>
            </a:innerShdw>
          </a:effectLst>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8" name="Rectangle 7"/>
          <p:cNvSpPr/>
          <p:nvPr/>
        </p:nvSpPr>
        <p:spPr>
          <a:xfrm>
            <a:off x="1040138" y="685800"/>
            <a:ext cx="1561393" cy="646331"/>
          </a:xfrm>
          <a:prstGeom prst="rect">
            <a:avLst/>
          </a:prstGeom>
        </p:spPr>
        <p:txBody>
          <a:bodyPr wrap="square">
            <a:spAutoFit/>
          </a:bodyPr>
          <a:lstStyle/>
          <a:p>
            <a:r>
              <a:rPr lang="en-US" sz="3600" b="1" dirty="0" smtClean="0">
                <a:solidFill>
                  <a:schemeClr val="bg2">
                    <a:lumMod val="25000"/>
                  </a:schemeClr>
                </a:solidFill>
                <a:latin typeface="Plantagenet Cherokee" panose="02020602070100000000" pitchFamily="18" charset="0"/>
              </a:rPr>
              <a:t>Tuples</a:t>
            </a:r>
            <a:endParaRPr lang="en-US" sz="3600" b="1" dirty="0">
              <a:solidFill>
                <a:schemeClr val="bg2">
                  <a:lumMod val="25000"/>
                </a:schemeClr>
              </a:solidFill>
              <a:latin typeface="Plantagenet Cherokee" panose="02020602070100000000" pitchFamily="18" charset="0"/>
            </a:endParaRPr>
          </a:p>
        </p:txBody>
      </p:sp>
      <p:sp>
        <p:nvSpPr>
          <p:cNvPr id="2" name="Rectangle 1"/>
          <p:cNvSpPr>
            <a:spLocks noChangeArrowheads="1"/>
          </p:cNvSpPr>
          <p:nvPr/>
        </p:nvSpPr>
        <p:spPr bwMode="auto">
          <a:xfrm>
            <a:off x="1586066" y="2111611"/>
            <a:ext cx="1047963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342900" lvl="0" indent="-342900" eaLnBrk="0" fontAlgn="base" hangingPunct="0">
              <a:spcBef>
                <a:spcPct val="0"/>
              </a:spcBef>
              <a:spcAft>
                <a:spcPct val="0"/>
              </a:spcAft>
              <a:buFont typeface="Wingdings" panose="05000000000000000000" pitchFamily="2" charset="2"/>
              <a:buChar char="Ø"/>
            </a:pPr>
            <a:r>
              <a:rPr lang="en-US" altLang="en-US" sz="2400" dirty="0" smtClean="0">
                <a:solidFill>
                  <a:schemeClr val="bg2">
                    <a:lumMod val="25000"/>
                  </a:schemeClr>
                </a:solidFill>
                <a:latin typeface="Georgia" panose="02040502050405020303" pitchFamily="18" charset="0"/>
              </a:rPr>
              <a:t>A tuple </a:t>
            </a:r>
            <a:r>
              <a:rPr lang="en-US" altLang="en-US" sz="2400" dirty="0">
                <a:solidFill>
                  <a:schemeClr val="bg2">
                    <a:lumMod val="25000"/>
                  </a:schemeClr>
                </a:solidFill>
                <a:latin typeface="Georgia" panose="02040502050405020303" pitchFamily="18" charset="0"/>
              </a:rPr>
              <a:t>is similar to a list. </a:t>
            </a:r>
            <a:endParaRPr lang="en-US" altLang="en-US" sz="2400" dirty="0" smtClean="0">
              <a:solidFill>
                <a:schemeClr val="bg2">
                  <a:lumMod val="25000"/>
                </a:schemeClr>
              </a:solidFill>
              <a:latin typeface="Georgia" panose="02040502050405020303" pitchFamily="18" charset="0"/>
            </a:endParaRPr>
          </a:p>
          <a:p>
            <a:pPr marL="342900" lvl="0" indent="-342900" eaLnBrk="0" fontAlgn="base" hangingPunct="0">
              <a:spcBef>
                <a:spcPct val="0"/>
              </a:spcBef>
              <a:spcAft>
                <a:spcPct val="0"/>
              </a:spcAft>
              <a:buFont typeface="Wingdings" panose="05000000000000000000" pitchFamily="2" charset="2"/>
              <a:buChar char="Ø"/>
            </a:pPr>
            <a:r>
              <a:rPr lang="en-US" altLang="en-US" sz="2400" dirty="0" smtClean="0">
                <a:solidFill>
                  <a:schemeClr val="bg2">
                    <a:lumMod val="25000"/>
                  </a:schemeClr>
                </a:solidFill>
                <a:latin typeface="Georgia" panose="02040502050405020303" pitchFamily="18" charset="0"/>
              </a:rPr>
              <a:t>The </a:t>
            </a:r>
            <a:r>
              <a:rPr lang="en-US" altLang="en-US" sz="2400" dirty="0">
                <a:solidFill>
                  <a:schemeClr val="bg2">
                    <a:lumMod val="25000"/>
                  </a:schemeClr>
                </a:solidFill>
                <a:latin typeface="Georgia" panose="02040502050405020303" pitchFamily="18" charset="0"/>
              </a:rPr>
              <a:t>difference between the two is that we cannot change the elements of a tuple once it is assigned whereas in a list, elements can be changed.</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p:txBody>
      </p:sp>
      <p:sp>
        <p:nvSpPr>
          <p:cNvPr id="5" name="Rectangle 4"/>
          <p:cNvSpPr/>
          <p:nvPr/>
        </p:nvSpPr>
        <p:spPr>
          <a:xfrm>
            <a:off x="3524518" y="3913503"/>
            <a:ext cx="6096000" cy="1198880"/>
          </a:xfrm>
          <a:prstGeom prst="rect">
            <a:avLst/>
          </a:prstGeom>
        </p:spPr>
        <p:txBody>
          <a:bodyPr>
            <a:spAutoFit/>
          </a:bodyPr>
          <a:lstStyle/>
          <a:p>
            <a:r>
              <a:rPr lang="en-US" sz="2400" dirty="0">
                <a:solidFill>
                  <a:schemeClr val="bg2">
                    <a:lumMod val="25000"/>
                  </a:schemeClr>
                </a:solidFill>
                <a:latin typeface="Georgia" panose="02040502050405020303" pitchFamily="18" charset="0"/>
              </a:rPr>
              <a:t>tup1 = ('physics', 'chemistry', 1997, 2000);</a:t>
            </a:r>
            <a:endParaRPr lang="en-US" sz="2400" dirty="0">
              <a:solidFill>
                <a:schemeClr val="bg2">
                  <a:lumMod val="25000"/>
                </a:schemeClr>
              </a:solidFill>
              <a:latin typeface="Georgia" panose="02040502050405020303" pitchFamily="18" charset="0"/>
            </a:endParaRPr>
          </a:p>
          <a:p>
            <a:r>
              <a:rPr lang="en-US" sz="2400" dirty="0">
                <a:solidFill>
                  <a:schemeClr val="bg2">
                    <a:lumMod val="25000"/>
                  </a:schemeClr>
                </a:solidFill>
                <a:latin typeface="Georgia" panose="02040502050405020303" pitchFamily="18" charset="0"/>
              </a:rPr>
              <a:t>tup2 = (1, 2, 3, 4, 5 );</a:t>
            </a:r>
            <a:endParaRPr lang="en-US" sz="2400" dirty="0">
              <a:solidFill>
                <a:schemeClr val="bg2">
                  <a:lumMod val="25000"/>
                </a:schemeClr>
              </a:solidFill>
              <a:latin typeface="Georgia" panose="02040502050405020303" pitchFamily="18" charset="0"/>
            </a:endParaRPr>
          </a:p>
          <a:p>
            <a:r>
              <a:rPr lang="en-US" sz="2400" dirty="0">
                <a:solidFill>
                  <a:schemeClr val="bg2">
                    <a:lumMod val="25000"/>
                  </a:schemeClr>
                </a:solidFill>
                <a:latin typeface="Georgia" panose="02040502050405020303" pitchFamily="18" charset="0"/>
              </a:rPr>
              <a:t>tup3 = ("a", "b", "c", "d");</a:t>
            </a:r>
            <a:endParaRPr lang="en-US" sz="2400" dirty="0">
              <a:solidFill>
                <a:schemeClr val="bg2">
                  <a:lumMod val="25000"/>
                </a:schemeClr>
              </a:solidFill>
              <a:latin typeface="Georgia" panose="02040502050405020303" pitchFamily="18" charset="0"/>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8" name="Rectangle 7"/>
          <p:cNvSpPr/>
          <p:nvPr/>
        </p:nvSpPr>
        <p:spPr>
          <a:xfrm>
            <a:off x="1040138" y="685800"/>
            <a:ext cx="6828854" cy="646331"/>
          </a:xfrm>
          <a:prstGeom prst="rect">
            <a:avLst/>
          </a:prstGeom>
        </p:spPr>
        <p:txBody>
          <a:bodyPr wrap="square">
            <a:spAutoFit/>
          </a:bodyPr>
          <a:lstStyle/>
          <a:p>
            <a:r>
              <a:rPr lang="en-US" sz="3600" b="1" dirty="0" smtClean="0">
                <a:solidFill>
                  <a:schemeClr val="bg2">
                    <a:lumMod val="25000"/>
                  </a:schemeClr>
                </a:solidFill>
                <a:latin typeface="Plantagenet Cherokee" panose="02020602070100000000" pitchFamily="18" charset="0"/>
              </a:rPr>
              <a:t>Accessing elements in a tuple</a:t>
            </a:r>
            <a:endParaRPr lang="en-US" sz="3600" b="1" dirty="0">
              <a:solidFill>
                <a:schemeClr val="bg2">
                  <a:lumMod val="25000"/>
                </a:schemeClr>
              </a:solidFill>
              <a:latin typeface="Plantagenet Cherokee" panose="02020602070100000000" pitchFamily="18" charset="0"/>
            </a:endParaRPr>
          </a:p>
        </p:txBody>
      </p:sp>
      <p:sp>
        <p:nvSpPr>
          <p:cNvPr id="2" name="Rectangle 1"/>
          <p:cNvSpPr>
            <a:spLocks noChangeArrowheads="1"/>
          </p:cNvSpPr>
          <p:nvPr/>
        </p:nvSpPr>
        <p:spPr bwMode="auto">
          <a:xfrm>
            <a:off x="1148185" y="1761022"/>
            <a:ext cx="1047963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eaLnBrk="0" fontAlgn="base" hangingPunct="0">
              <a:spcBef>
                <a:spcPct val="0"/>
              </a:spcBef>
              <a:spcAft>
                <a:spcPct val="0"/>
              </a:spcAft>
            </a:pPr>
            <a:r>
              <a:rPr lang="en-US" altLang="en-US" sz="2400" b="1" dirty="0" smtClean="0">
                <a:solidFill>
                  <a:schemeClr val="bg2">
                    <a:lumMod val="25000"/>
                  </a:schemeClr>
                </a:solidFill>
                <a:latin typeface="Georgia" panose="02040502050405020303" pitchFamily="18" charset="0"/>
              </a:rPr>
              <a:t>1. Indexing</a:t>
            </a:r>
            <a:endParaRPr kumimoji="0" lang="en-US" altLang="en-US" sz="2400" b="1" i="0" u="none" strike="noStrike" cap="none" normalizeH="0" baseline="0" dirty="0" smtClean="0">
              <a:ln>
                <a:noFill/>
              </a:ln>
              <a:solidFill>
                <a:schemeClr val="bg2">
                  <a:lumMod val="25000"/>
                </a:schemeClr>
              </a:solidFill>
              <a:effectLst/>
              <a:latin typeface="Georgia" panose="02040502050405020303" pitchFamily="18" charset="0"/>
            </a:endParaRPr>
          </a:p>
        </p:txBody>
      </p:sp>
      <p:pic>
        <p:nvPicPr>
          <p:cNvPr id="3" name="Picture 2"/>
          <p:cNvPicPr>
            <a:picLocks noChangeAspect="1"/>
          </p:cNvPicPr>
          <p:nvPr/>
        </p:nvPicPr>
        <p:blipFill>
          <a:blip r:embed="rId2"/>
          <a:stretch>
            <a:fillRect/>
          </a:stretch>
        </p:blipFill>
        <p:spPr>
          <a:xfrm>
            <a:off x="688751" y="2651578"/>
            <a:ext cx="6721990" cy="2999369"/>
          </a:xfrm>
          <a:prstGeom prst="rect">
            <a:avLst/>
          </a:prstGeom>
          <a:ln w="6350" cap="sq" cmpd="thickThin">
            <a:solidFill>
              <a:srgbClr val="000000"/>
            </a:solidFill>
            <a:prstDash val="solid"/>
            <a:miter lim="800000"/>
            <a:headEnd/>
            <a:tailEnd/>
          </a:ln>
          <a:effectLst>
            <a:innerShdw blurRad="76200">
              <a:srgbClr val="000000"/>
            </a:innerShdw>
          </a:effectLst>
        </p:spPr>
      </p:pic>
      <p:pic>
        <p:nvPicPr>
          <p:cNvPr id="4" name="Picture 3"/>
          <p:cNvPicPr>
            <a:picLocks noChangeAspect="1"/>
          </p:cNvPicPr>
          <p:nvPr/>
        </p:nvPicPr>
        <p:blipFill>
          <a:blip r:embed="rId3"/>
          <a:stretch>
            <a:fillRect/>
          </a:stretch>
        </p:blipFill>
        <p:spPr>
          <a:xfrm>
            <a:off x="3875235" y="3657178"/>
            <a:ext cx="7987513" cy="1895342"/>
          </a:xfrm>
          <a:prstGeom prst="rect">
            <a:avLst/>
          </a:prstGeom>
          <a:ln w="6350" cap="sq" cmpd="thickThin">
            <a:solidFill>
              <a:srgbClr val="000000"/>
            </a:solidFill>
            <a:prstDash val="solid"/>
            <a:miter lim="800000"/>
            <a:headEnd/>
            <a:tailEnd/>
          </a:ln>
          <a:effectLst>
            <a:innerShdw blurRad="76200">
              <a:srgbClr val="000000"/>
            </a:innerShdw>
          </a:effectLst>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2" name="Rectangle 1"/>
          <p:cNvSpPr>
            <a:spLocks noChangeArrowheads="1"/>
          </p:cNvSpPr>
          <p:nvPr/>
        </p:nvSpPr>
        <p:spPr bwMode="auto">
          <a:xfrm>
            <a:off x="1083790" y="942359"/>
            <a:ext cx="1047963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eaLnBrk="0" fontAlgn="base" hangingPunct="0">
              <a:spcBef>
                <a:spcPct val="0"/>
              </a:spcBef>
              <a:spcAft>
                <a:spcPct val="0"/>
              </a:spcAft>
            </a:pPr>
            <a:r>
              <a:rPr lang="en-US" altLang="en-US" sz="2400" b="1" dirty="0" smtClean="0">
                <a:solidFill>
                  <a:schemeClr val="bg2">
                    <a:lumMod val="25000"/>
                  </a:schemeClr>
                </a:solidFill>
                <a:latin typeface="Georgia" panose="02040502050405020303" pitchFamily="18" charset="0"/>
              </a:rPr>
              <a:t>2. Negative indexing</a:t>
            </a:r>
            <a:endParaRPr kumimoji="0" lang="en-US" altLang="en-US" sz="2400" b="1" i="0" u="none" strike="noStrike" cap="none" normalizeH="0" baseline="0" dirty="0" smtClean="0">
              <a:ln>
                <a:noFill/>
              </a:ln>
              <a:solidFill>
                <a:schemeClr val="bg2">
                  <a:lumMod val="25000"/>
                </a:schemeClr>
              </a:solidFill>
              <a:effectLst/>
              <a:latin typeface="Georgia" panose="02040502050405020303" pitchFamily="18" charset="0"/>
            </a:endParaRPr>
          </a:p>
        </p:txBody>
      </p:sp>
      <p:pic>
        <p:nvPicPr>
          <p:cNvPr id="5" name="Picture 4"/>
          <p:cNvPicPr>
            <a:picLocks noChangeAspect="1"/>
          </p:cNvPicPr>
          <p:nvPr/>
        </p:nvPicPr>
        <p:blipFill>
          <a:blip r:embed="rId2"/>
          <a:stretch>
            <a:fillRect/>
          </a:stretch>
        </p:blipFill>
        <p:spPr>
          <a:xfrm>
            <a:off x="446332" y="2363876"/>
            <a:ext cx="7460847" cy="3186918"/>
          </a:xfrm>
          <a:prstGeom prst="rect">
            <a:avLst/>
          </a:prstGeom>
          <a:ln w="6350" cap="sq" cmpd="thickThin">
            <a:solidFill>
              <a:srgbClr val="000000"/>
            </a:solidFill>
            <a:prstDash val="solid"/>
            <a:miter lim="800000"/>
            <a:headEnd/>
            <a:tailEnd/>
          </a:ln>
          <a:effectLst>
            <a:innerShdw blurRad="76200">
              <a:srgbClr val="000000"/>
            </a:innerShdw>
          </a:effectLst>
        </p:spPr>
      </p:pic>
      <p:pic>
        <p:nvPicPr>
          <p:cNvPr id="7" name="Picture 6"/>
          <p:cNvPicPr>
            <a:picLocks noChangeAspect="1"/>
          </p:cNvPicPr>
          <p:nvPr/>
        </p:nvPicPr>
        <p:blipFill>
          <a:blip r:embed="rId3"/>
          <a:stretch>
            <a:fillRect/>
          </a:stretch>
        </p:blipFill>
        <p:spPr>
          <a:xfrm>
            <a:off x="4327618" y="4300806"/>
            <a:ext cx="7568828" cy="1778022"/>
          </a:xfrm>
          <a:prstGeom prst="rect">
            <a:avLst/>
          </a:prstGeom>
          <a:ln w="6350" cap="sq" cmpd="thickThin">
            <a:solidFill>
              <a:srgbClr val="000000"/>
            </a:solidFill>
            <a:prstDash val="solid"/>
            <a:miter lim="800000"/>
            <a:headEnd/>
            <a:tailEnd/>
          </a:ln>
          <a:effectLst>
            <a:innerShdw blurRad="76200">
              <a:srgbClr val="000000"/>
            </a:innerShdw>
          </a:effectLst>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2" name="Rectangle 1"/>
          <p:cNvSpPr>
            <a:spLocks noChangeArrowheads="1"/>
          </p:cNvSpPr>
          <p:nvPr/>
        </p:nvSpPr>
        <p:spPr bwMode="auto">
          <a:xfrm>
            <a:off x="1083790" y="942359"/>
            <a:ext cx="1047963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eaLnBrk="0" fontAlgn="base" hangingPunct="0">
              <a:spcBef>
                <a:spcPct val="0"/>
              </a:spcBef>
              <a:spcAft>
                <a:spcPct val="0"/>
              </a:spcAft>
            </a:pPr>
            <a:r>
              <a:rPr lang="en-US" altLang="en-US" sz="2400" b="1" dirty="0">
                <a:solidFill>
                  <a:schemeClr val="bg2">
                    <a:lumMod val="25000"/>
                  </a:schemeClr>
                </a:solidFill>
                <a:latin typeface="Georgia" panose="02040502050405020303" pitchFamily="18" charset="0"/>
              </a:rPr>
              <a:t>3. Slicing</a:t>
            </a:r>
            <a:endParaRPr kumimoji="0" lang="en-US" altLang="en-US" sz="2400" b="1" i="0" u="none" strike="noStrike" cap="none" normalizeH="0" baseline="0" dirty="0" smtClean="0">
              <a:ln>
                <a:noFill/>
              </a:ln>
              <a:solidFill>
                <a:schemeClr val="bg2">
                  <a:lumMod val="25000"/>
                </a:schemeClr>
              </a:solidFill>
              <a:effectLst/>
              <a:latin typeface="Georgia" panose="02040502050405020303" pitchFamily="18" charset="0"/>
            </a:endParaRPr>
          </a:p>
        </p:txBody>
      </p:sp>
      <p:pic>
        <p:nvPicPr>
          <p:cNvPr id="3" name="Picture 2"/>
          <p:cNvPicPr>
            <a:picLocks noChangeAspect="1"/>
          </p:cNvPicPr>
          <p:nvPr/>
        </p:nvPicPr>
        <p:blipFill>
          <a:blip r:embed="rId2"/>
          <a:stretch>
            <a:fillRect/>
          </a:stretch>
        </p:blipFill>
        <p:spPr>
          <a:xfrm>
            <a:off x="490738" y="1802250"/>
            <a:ext cx="7090921" cy="4521276"/>
          </a:xfrm>
          <a:prstGeom prst="rect">
            <a:avLst/>
          </a:prstGeom>
          <a:ln w="6350" cap="sq" cmpd="thickThin">
            <a:solidFill>
              <a:srgbClr val="000000"/>
            </a:solidFill>
            <a:prstDash val="solid"/>
            <a:miter lim="800000"/>
            <a:headEnd/>
            <a:tailEnd/>
          </a:ln>
          <a:effectLst>
            <a:innerShdw blurRad="76200">
              <a:srgbClr val="000000"/>
            </a:innerShdw>
          </a:effectLst>
        </p:spPr>
      </p:pic>
      <p:pic>
        <p:nvPicPr>
          <p:cNvPr id="4" name="Picture 3"/>
          <p:cNvPicPr>
            <a:picLocks noChangeAspect="1"/>
          </p:cNvPicPr>
          <p:nvPr/>
        </p:nvPicPr>
        <p:blipFill>
          <a:blip r:embed="rId3"/>
          <a:stretch>
            <a:fillRect/>
          </a:stretch>
        </p:blipFill>
        <p:spPr>
          <a:xfrm>
            <a:off x="4088907" y="2636815"/>
            <a:ext cx="7888429" cy="2424582"/>
          </a:xfrm>
          <a:prstGeom prst="rect">
            <a:avLst/>
          </a:prstGeom>
          <a:ln w="6350" cap="sq" cmpd="thickThin">
            <a:solidFill>
              <a:srgbClr val="000000"/>
            </a:solidFill>
            <a:prstDash val="solid"/>
            <a:miter lim="800000"/>
            <a:headEnd/>
            <a:tailEnd/>
          </a:ln>
          <a:effectLst>
            <a:innerShdw blurRad="76200">
              <a:srgbClr val="000000"/>
            </a:innerShdw>
          </a:effectLst>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8" name="Rectangle 7"/>
          <p:cNvSpPr/>
          <p:nvPr/>
        </p:nvSpPr>
        <p:spPr>
          <a:xfrm>
            <a:off x="1040138" y="685800"/>
            <a:ext cx="2643220" cy="646331"/>
          </a:xfrm>
          <a:prstGeom prst="rect">
            <a:avLst/>
          </a:prstGeom>
        </p:spPr>
        <p:txBody>
          <a:bodyPr wrap="square">
            <a:spAutoFit/>
          </a:bodyPr>
          <a:lstStyle/>
          <a:p>
            <a:r>
              <a:rPr lang="en-US" sz="3600" b="1" dirty="0" smtClean="0">
                <a:solidFill>
                  <a:schemeClr val="bg2">
                    <a:lumMod val="25000"/>
                  </a:schemeClr>
                </a:solidFill>
                <a:latin typeface="Plantagenet Cherokee" panose="02020602070100000000" pitchFamily="18" charset="0"/>
              </a:rPr>
              <a:t>Dictionary</a:t>
            </a:r>
            <a:endParaRPr lang="en-US" sz="3600" b="1" dirty="0">
              <a:solidFill>
                <a:schemeClr val="bg2">
                  <a:lumMod val="25000"/>
                </a:schemeClr>
              </a:solidFill>
              <a:latin typeface="Plantagenet Cherokee" panose="02020602070100000000" pitchFamily="18" charset="0"/>
            </a:endParaRPr>
          </a:p>
        </p:txBody>
      </p:sp>
      <p:sp>
        <p:nvSpPr>
          <p:cNvPr id="3" name="Rectangle 2"/>
          <p:cNvSpPr/>
          <p:nvPr/>
        </p:nvSpPr>
        <p:spPr>
          <a:xfrm>
            <a:off x="1150512" y="1730758"/>
            <a:ext cx="11041488" cy="1938992"/>
          </a:xfrm>
          <a:prstGeom prst="rect">
            <a:avLst/>
          </a:prstGeom>
        </p:spPr>
        <p:txBody>
          <a:bodyPr wrap="square">
            <a:spAutoFit/>
          </a:bodyPr>
          <a:lstStyle/>
          <a:p>
            <a:pPr marL="342900" indent="-342900">
              <a:buFont typeface="Wingdings" panose="05000000000000000000" pitchFamily="2" charset="2"/>
              <a:buChar char="Ø"/>
            </a:pPr>
            <a:r>
              <a:rPr lang="en-US" sz="2400" dirty="0">
                <a:solidFill>
                  <a:schemeClr val="bg2">
                    <a:lumMod val="25000"/>
                  </a:schemeClr>
                </a:solidFill>
                <a:latin typeface="Georgia" panose="02040502050405020303" pitchFamily="18" charset="0"/>
              </a:rPr>
              <a:t>Dictionary in </a:t>
            </a:r>
            <a:r>
              <a:rPr lang="en-US" sz="2400" dirty="0" smtClean="0">
                <a:solidFill>
                  <a:schemeClr val="bg2">
                    <a:lumMod val="25000"/>
                  </a:schemeClr>
                </a:solidFill>
                <a:latin typeface="Georgia" panose="02040502050405020303" pitchFamily="18" charset="0"/>
              </a:rPr>
              <a:t>python </a:t>
            </a:r>
            <a:r>
              <a:rPr lang="en-US" sz="2400" dirty="0">
                <a:solidFill>
                  <a:schemeClr val="bg2">
                    <a:lumMod val="25000"/>
                  </a:schemeClr>
                </a:solidFill>
                <a:latin typeface="Georgia" panose="02040502050405020303" pitchFamily="18" charset="0"/>
              </a:rPr>
              <a:t>is same as real life dictionary book, as in dictionary, you can store your information in the form of key-value pair. </a:t>
            </a:r>
            <a:endParaRPr lang="en-US" sz="2400" dirty="0" smtClean="0">
              <a:solidFill>
                <a:schemeClr val="bg2">
                  <a:lumMod val="25000"/>
                </a:schemeClr>
              </a:solidFill>
              <a:latin typeface="Georgia" panose="02040502050405020303" pitchFamily="18" charset="0"/>
            </a:endParaRPr>
          </a:p>
          <a:p>
            <a:pPr marL="342900" indent="-342900">
              <a:buFont typeface="Wingdings" panose="05000000000000000000" pitchFamily="2" charset="2"/>
              <a:buChar char="Ø"/>
            </a:pPr>
            <a:r>
              <a:rPr lang="en-US" sz="2400" dirty="0" smtClean="0">
                <a:solidFill>
                  <a:schemeClr val="bg2">
                    <a:lumMod val="25000"/>
                  </a:schemeClr>
                </a:solidFill>
                <a:latin typeface="Georgia" panose="02040502050405020303" pitchFamily="18" charset="0"/>
              </a:rPr>
              <a:t>Here </a:t>
            </a:r>
            <a:r>
              <a:rPr lang="en-US" sz="2400" dirty="0">
                <a:solidFill>
                  <a:schemeClr val="bg2">
                    <a:lumMod val="25000"/>
                  </a:schemeClr>
                </a:solidFill>
                <a:latin typeface="Georgia" panose="02040502050405020303" pitchFamily="18" charset="0"/>
              </a:rPr>
              <a:t>key represent the word (the dictionary word) and value is its definition just like the definition in dictionary book.</a:t>
            </a:r>
            <a:endParaRPr lang="en-US" sz="2400" dirty="0">
              <a:solidFill>
                <a:schemeClr val="bg2">
                  <a:lumMod val="25000"/>
                </a:schemeClr>
              </a:solidFill>
              <a:latin typeface="Georgia" panose="02040502050405020303" pitchFamily="18" charset="0"/>
            </a:endParaRPr>
          </a:p>
          <a:p>
            <a:pPr marL="342900" indent="-342900">
              <a:buFont typeface="Wingdings" panose="05000000000000000000" pitchFamily="2" charset="2"/>
              <a:buChar char="Ø"/>
            </a:pPr>
            <a:r>
              <a:rPr lang="en-US" sz="2400" dirty="0">
                <a:solidFill>
                  <a:schemeClr val="bg2">
                    <a:lumMod val="25000"/>
                  </a:schemeClr>
                </a:solidFill>
                <a:latin typeface="Georgia" panose="02040502050405020303" pitchFamily="18" charset="0"/>
              </a:rPr>
              <a:t>Using dictionary in python, you can organize your information.</a:t>
            </a:r>
            <a:endParaRPr lang="en-US" sz="2400" dirty="0">
              <a:solidFill>
                <a:schemeClr val="bg2">
                  <a:lumMod val="25000"/>
                </a:schemeClr>
              </a:solidFill>
              <a:latin typeface="Georgia" panose="02040502050405020303" pitchFamily="18" charset="0"/>
            </a:endParaRPr>
          </a:p>
        </p:txBody>
      </p:sp>
      <p:sp>
        <p:nvSpPr>
          <p:cNvPr id="4" name="Rectangle 1"/>
          <p:cNvSpPr>
            <a:spLocks noChangeArrowheads="1"/>
          </p:cNvSpPr>
          <p:nvPr/>
        </p:nvSpPr>
        <p:spPr bwMode="auto">
          <a:xfrm>
            <a:off x="2163650" y="4114543"/>
            <a:ext cx="879118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1" i="0" u="none" strike="noStrike" cap="none" normalizeH="0" baseline="0" dirty="0" smtClean="0">
                <a:ln>
                  <a:noFill/>
                </a:ln>
                <a:solidFill>
                  <a:schemeClr val="bg2">
                    <a:lumMod val="25000"/>
                  </a:schemeClr>
                </a:solidFill>
                <a:effectLst/>
                <a:latin typeface="Georgia" panose="02040502050405020303" pitchFamily="18" charset="0"/>
              </a:rPr>
              <a:t>Syntax:</a:t>
            </a:r>
            <a:endParaRPr kumimoji="0" lang="en-US" altLang="en-US" sz="2400" b="1" i="0" u="none" strike="noStrike" cap="none" normalizeH="0" baseline="0" dirty="0" smtClean="0">
              <a:ln>
                <a:noFill/>
              </a:ln>
              <a:solidFill>
                <a:schemeClr val="bg2">
                  <a:lumMod val="25000"/>
                </a:schemeClr>
              </a:solidFill>
              <a:effectLst/>
              <a:latin typeface="Georgia" panose="02040502050405020303"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2400" b="1" i="0" u="none" strike="noStrike" cap="none" normalizeH="0" baseline="0" dirty="0" smtClean="0">
              <a:ln>
                <a:noFill/>
              </a:ln>
              <a:solidFill>
                <a:schemeClr val="bg2">
                  <a:lumMod val="25000"/>
                </a:schemeClr>
              </a:solidFill>
              <a:effectLst/>
              <a:latin typeface="Georgia" panose="02040502050405020303"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err="1" smtClean="0">
                <a:ln>
                  <a:noFill/>
                </a:ln>
                <a:solidFill>
                  <a:schemeClr val="bg2">
                    <a:lumMod val="25000"/>
                  </a:schemeClr>
                </a:solidFill>
                <a:effectLst/>
                <a:latin typeface="Georgia" panose="02040502050405020303" pitchFamily="18" charset="0"/>
              </a:rPr>
              <a:t>my_dictionary</a:t>
            </a: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 = {'Name': ‘Elysium ','Id':9388, 'Branch': 'CSE'}; </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8" name="Rectangle 7"/>
          <p:cNvSpPr/>
          <p:nvPr/>
        </p:nvSpPr>
        <p:spPr>
          <a:xfrm>
            <a:off x="473468" y="538865"/>
            <a:ext cx="9636448" cy="646331"/>
          </a:xfrm>
          <a:prstGeom prst="rect">
            <a:avLst/>
          </a:prstGeom>
        </p:spPr>
        <p:txBody>
          <a:bodyPr wrap="square">
            <a:spAutoFit/>
          </a:bodyPr>
          <a:lstStyle/>
          <a:p>
            <a:r>
              <a:rPr lang="en-US" sz="3600" b="1" dirty="0">
                <a:solidFill>
                  <a:schemeClr val="bg2">
                    <a:lumMod val="25000"/>
                  </a:schemeClr>
                </a:solidFill>
                <a:latin typeface="Plantagenet Cherokee" panose="02020602070100000000" pitchFamily="18" charset="0"/>
              </a:rPr>
              <a:t>A</a:t>
            </a:r>
            <a:r>
              <a:rPr lang="en-US" sz="3600" b="1" dirty="0" smtClean="0">
                <a:solidFill>
                  <a:schemeClr val="bg2">
                    <a:lumMod val="25000"/>
                  </a:schemeClr>
                </a:solidFill>
                <a:latin typeface="Plantagenet Cherokee" panose="02020602070100000000" pitchFamily="18" charset="0"/>
              </a:rPr>
              <a:t>ccess </a:t>
            </a:r>
            <a:r>
              <a:rPr lang="en-US" sz="3600" b="1" dirty="0">
                <a:solidFill>
                  <a:schemeClr val="bg2">
                    <a:lumMod val="25000"/>
                  </a:schemeClr>
                </a:solidFill>
                <a:latin typeface="Plantagenet Cherokee" panose="02020602070100000000" pitchFamily="18" charset="0"/>
              </a:rPr>
              <a:t>elements from a dictionary?</a:t>
            </a:r>
            <a:endParaRPr lang="en-US" sz="3600" b="1" dirty="0">
              <a:solidFill>
                <a:schemeClr val="bg2">
                  <a:lumMod val="25000"/>
                </a:schemeClr>
              </a:solidFill>
              <a:latin typeface="Plantagenet Cherokee" panose="02020602070100000000" pitchFamily="18" charset="0"/>
            </a:endParaRPr>
          </a:p>
        </p:txBody>
      </p:sp>
      <p:sp>
        <p:nvSpPr>
          <p:cNvPr id="2" name="Rectangle 1"/>
          <p:cNvSpPr>
            <a:spLocks noChangeArrowheads="1"/>
          </p:cNvSpPr>
          <p:nvPr/>
        </p:nvSpPr>
        <p:spPr bwMode="auto">
          <a:xfrm>
            <a:off x="887803" y="1563197"/>
            <a:ext cx="10706777"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Key can be used either inside square brackets or with the get() method.</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lang="en-US" altLang="en-US" sz="2400" dirty="0" smtClean="0">
                <a:solidFill>
                  <a:schemeClr val="bg2">
                    <a:lumMod val="25000"/>
                  </a:schemeClr>
                </a:solidFill>
                <a:latin typeface="Georgia" panose="02040502050405020303" pitchFamily="18" charset="0"/>
              </a:rPr>
              <a:t>The </a:t>
            </a:r>
            <a:r>
              <a:rPr lang="en-US" altLang="en-US" sz="2400" dirty="0">
                <a:solidFill>
                  <a:schemeClr val="bg2">
                    <a:lumMod val="25000"/>
                  </a:schemeClr>
                </a:solidFill>
                <a:latin typeface="Georgia" panose="02040502050405020303" pitchFamily="18" charset="0"/>
              </a:rPr>
              <a:t>difference while using get() is that it returns None instead of </a:t>
            </a:r>
            <a:r>
              <a:rPr lang="en-US" altLang="en-US" sz="2400" dirty="0" err="1">
                <a:solidFill>
                  <a:schemeClr val="bg2">
                    <a:lumMod val="25000"/>
                  </a:schemeClr>
                </a:solidFill>
                <a:latin typeface="Georgia" panose="02040502050405020303" pitchFamily="18" charset="0"/>
              </a:rPr>
              <a:t>KeyError</a:t>
            </a:r>
            <a:r>
              <a:rPr lang="en-US" altLang="en-US" sz="2400" dirty="0" smtClean="0">
                <a:solidFill>
                  <a:schemeClr val="bg2">
                    <a:lumMod val="25000"/>
                  </a:schemeClr>
                </a:solidFill>
                <a:latin typeface="Georgia" panose="02040502050405020303" pitchFamily="18" charset="0"/>
              </a:rPr>
              <a:t>,</a:t>
            </a:r>
            <a:endParaRPr lang="en-US" altLang="en-US" sz="2400" dirty="0" smtClean="0">
              <a:solidFill>
                <a:schemeClr val="bg2">
                  <a:lumMod val="25000"/>
                </a:schemeClr>
              </a:solidFill>
              <a:latin typeface="Georgia" panose="02040502050405020303" pitchFamily="18" charset="0"/>
            </a:endParaRPr>
          </a:p>
          <a:p>
            <a:pPr lvl="0" eaLnBrk="0" fontAlgn="base" hangingPunct="0">
              <a:spcBef>
                <a:spcPct val="0"/>
              </a:spcBef>
              <a:spcAft>
                <a:spcPct val="0"/>
              </a:spcAft>
            </a:pPr>
            <a:r>
              <a:rPr lang="en-US" altLang="en-US" sz="2400" dirty="0" smtClean="0">
                <a:solidFill>
                  <a:schemeClr val="bg2">
                    <a:lumMod val="25000"/>
                  </a:schemeClr>
                </a:solidFill>
                <a:latin typeface="Georgia" panose="02040502050405020303" pitchFamily="18" charset="0"/>
              </a:rPr>
              <a:t> </a:t>
            </a:r>
            <a:r>
              <a:rPr lang="en-US" altLang="en-US" sz="2400" dirty="0">
                <a:solidFill>
                  <a:schemeClr val="bg2">
                    <a:lumMod val="25000"/>
                  </a:schemeClr>
                </a:solidFill>
                <a:latin typeface="Georgia" panose="02040502050405020303" pitchFamily="18" charset="0"/>
              </a:rPr>
              <a:t>if the key is not found. </a:t>
            </a:r>
            <a:endParaRPr lang="en-US" altLang="en-US" sz="2400" dirty="0">
              <a:solidFill>
                <a:schemeClr val="bg2">
                  <a:lumMod val="25000"/>
                </a:schemeClr>
              </a:solidFill>
              <a:latin typeface="Georgia" panose="02040502050405020303"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 </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p:txBody>
      </p:sp>
      <p:pic>
        <p:nvPicPr>
          <p:cNvPr id="7" name="Picture 6"/>
          <p:cNvPicPr>
            <a:picLocks noChangeAspect="1"/>
          </p:cNvPicPr>
          <p:nvPr/>
        </p:nvPicPr>
        <p:blipFill>
          <a:blip r:embed="rId2"/>
          <a:stretch>
            <a:fillRect/>
          </a:stretch>
        </p:blipFill>
        <p:spPr>
          <a:xfrm>
            <a:off x="473468" y="3084496"/>
            <a:ext cx="7735807" cy="3091017"/>
          </a:xfrm>
          <a:prstGeom prst="rect">
            <a:avLst/>
          </a:prstGeom>
          <a:ln w="6350" cap="sq" cmpd="thickThin">
            <a:solidFill>
              <a:srgbClr val="000000"/>
            </a:solidFill>
            <a:prstDash val="solid"/>
            <a:miter lim="800000"/>
            <a:headEnd/>
            <a:tailEnd/>
          </a:ln>
          <a:effectLst>
            <a:innerShdw blurRad="76200">
              <a:srgbClr val="000000"/>
            </a:innerShdw>
          </a:effectLst>
        </p:spPr>
      </p:pic>
      <p:pic>
        <p:nvPicPr>
          <p:cNvPr id="9" name="Picture 8"/>
          <p:cNvPicPr>
            <a:picLocks noChangeAspect="1"/>
          </p:cNvPicPr>
          <p:nvPr/>
        </p:nvPicPr>
        <p:blipFill>
          <a:blip r:embed="rId3"/>
          <a:stretch>
            <a:fillRect/>
          </a:stretch>
        </p:blipFill>
        <p:spPr>
          <a:xfrm>
            <a:off x="4568641" y="3477903"/>
            <a:ext cx="7281267" cy="1525449"/>
          </a:xfrm>
          <a:prstGeom prst="rect">
            <a:avLst/>
          </a:prstGeom>
          <a:ln w="6350" cap="sq" cmpd="thickThin">
            <a:solidFill>
              <a:srgbClr val="000000"/>
            </a:solidFill>
            <a:prstDash val="solid"/>
            <a:miter lim="800000"/>
            <a:headEnd/>
            <a:tailEnd/>
          </a:ln>
          <a:effectLst>
            <a:innerShdw blurRad="76200">
              <a:srgbClr val="000000"/>
            </a:innerShdw>
          </a:effectLst>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8" name="Rectangle 7"/>
          <p:cNvSpPr/>
          <p:nvPr/>
        </p:nvSpPr>
        <p:spPr>
          <a:xfrm>
            <a:off x="421953" y="289167"/>
            <a:ext cx="9636448" cy="646331"/>
          </a:xfrm>
          <a:prstGeom prst="rect">
            <a:avLst/>
          </a:prstGeom>
        </p:spPr>
        <p:txBody>
          <a:bodyPr wrap="square">
            <a:spAutoFit/>
          </a:bodyPr>
          <a:lstStyle/>
          <a:p>
            <a:r>
              <a:rPr lang="en-US" sz="3600" b="1" dirty="0" smtClean="0">
                <a:solidFill>
                  <a:schemeClr val="bg2">
                    <a:lumMod val="25000"/>
                  </a:schemeClr>
                </a:solidFill>
                <a:latin typeface="Plantagenet Cherokee" panose="02020602070100000000" pitchFamily="18" charset="0"/>
              </a:rPr>
              <a:t>Change or </a:t>
            </a:r>
            <a:r>
              <a:rPr lang="en-US" sz="3600" b="1" dirty="0">
                <a:solidFill>
                  <a:schemeClr val="bg2">
                    <a:lumMod val="25000"/>
                  </a:schemeClr>
                </a:solidFill>
                <a:latin typeface="Plantagenet Cherokee" panose="02020602070100000000" pitchFamily="18" charset="0"/>
              </a:rPr>
              <a:t>add elements in a </a:t>
            </a:r>
            <a:r>
              <a:rPr lang="en-US" sz="3600" b="1" dirty="0" smtClean="0">
                <a:solidFill>
                  <a:schemeClr val="bg2">
                    <a:lumMod val="25000"/>
                  </a:schemeClr>
                </a:solidFill>
                <a:latin typeface="Plantagenet Cherokee" panose="02020602070100000000" pitchFamily="18" charset="0"/>
              </a:rPr>
              <a:t>dictionary</a:t>
            </a:r>
            <a:endParaRPr lang="en-US" sz="3600" b="1" dirty="0">
              <a:solidFill>
                <a:schemeClr val="bg2">
                  <a:lumMod val="25000"/>
                </a:schemeClr>
              </a:solidFill>
              <a:latin typeface="Plantagenet Cherokee" panose="02020602070100000000" pitchFamily="18" charset="0"/>
            </a:endParaRPr>
          </a:p>
        </p:txBody>
      </p:sp>
      <p:sp>
        <p:nvSpPr>
          <p:cNvPr id="2" name="Rectangle 1"/>
          <p:cNvSpPr>
            <a:spLocks noChangeArrowheads="1"/>
          </p:cNvSpPr>
          <p:nvPr/>
        </p:nvSpPr>
        <p:spPr bwMode="auto">
          <a:xfrm>
            <a:off x="1643913" y="1030650"/>
            <a:ext cx="8642109"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342900" lvl="0" indent="-342900" eaLnBrk="0" fontAlgn="base" hangingPunct="0">
              <a:spcBef>
                <a:spcPct val="0"/>
              </a:spcBef>
              <a:spcAft>
                <a:spcPct val="0"/>
              </a:spcAft>
              <a:buFont typeface="Wingdings" panose="05000000000000000000" pitchFamily="2" charset="2"/>
              <a:buChar char="Ø"/>
            </a:pPr>
            <a:r>
              <a:rPr lang="en-US" altLang="en-US" sz="2400" dirty="0">
                <a:solidFill>
                  <a:schemeClr val="bg2">
                    <a:lumMod val="25000"/>
                  </a:schemeClr>
                </a:solidFill>
                <a:latin typeface="Georgia" panose="02040502050405020303" pitchFamily="18" charset="0"/>
              </a:rPr>
              <a:t>Dictionary are mutable. </a:t>
            </a:r>
            <a:endParaRPr lang="en-US" altLang="en-US" sz="2400" dirty="0" smtClean="0">
              <a:solidFill>
                <a:schemeClr val="bg2">
                  <a:lumMod val="25000"/>
                </a:schemeClr>
              </a:solidFill>
              <a:latin typeface="Georgia" panose="02040502050405020303" pitchFamily="18" charset="0"/>
            </a:endParaRPr>
          </a:p>
          <a:p>
            <a:pPr marL="342900" lvl="0" indent="-342900" eaLnBrk="0" fontAlgn="base" hangingPunct="0">
              <a:spcBef>
                <a:spcPct val="0"/>
              </a:spcBef>
              <a:spcAft>
                <a:spcPct val="0"/>
              </a:spcAft>
              <a:buFont typeface="Wingdings" panose="05000000000000000000" pitchFamily="2" charset="2"/>
              <a:buChar char="Ø"/>
            </a:pPr>
            <a:r>
              <a:rPr lang="en-US" altLang="en-US" sz="2400" dirty="0" smtClean="0">
                <a:solidFill>
                  <a:schemeClr val="bg2">
                    <a:lumMod val="25000"/>
                  </a:schemeClr>
                </a:solidFill>
                <a:latin typeface="Georgia" panose="02040502050405020303" pitchFamily="18" charset="0"/>
              </a:rPr>
              <a:t>We </a:t>
            </a:r>
            <a:r>
              <a:rPr lang="en-US" altLang="en-US" sz="2400" dirty="0">
                <a:solidFill>
                  <a:schemeClr val="bg2">
                    <a:lumMod val="25000"/>
                  </a:schemeClr>
                </a:solidFill>
                <a:latin typeface="Georgia" panose="02040502050405020303" pitchFamily="18" charset="0"/>
              </a:rPr>
              <a:t>can add new items or change the value of existing items </a:t>
            </a:r>
            <a:endParaRPr lang="en-US" altLang="en-US" sz="2400" dirty="0" smtClean="0">
              <a:solidFill>
                <a:schemeClr val="bg2">
                  <a:lumMod val="25000"/>
                </a:schemeClr>
              </a:solidFill>
              <a:latin typeface="Georgia" panose="02040502050405020303" pitchFamily="18" charset="0"/>
            </a:endParaRPr>
          </a:p>
          <a:p>
            <a:pPr lvl="0" eaLnBrk="0" fontAlgn="base" hangingPunct="0">
              <a:spcBef>
                <a:spcPct val="0"/>
              </a:spcBef>
              <a:spcAft>
                <a:spcPct val="0"/>
              </a:spcAft>
            </a:pPr>
            <a:r>
              <a:rPr lang="en-US" altLang="en-US" sz="2400" dirty="0">
                <a:solidFill>
                  <a:schemeClr val="bg2">
                    <a:lumMod val="25000"/>
                  </a:schemeClr>
                </a:solidFill>
                <a:latin typeface="Georgia" panose="02040502050405020303" pitchFamily="18" charset="0"/>
              </a:rPr>
              <a:t>	</a:t>
            </a:r>
            <a:r>
              <a:rPr lang="en-US" altLang="en-US" sz="2400" dirty="0" smtClean="0">
                <a:solidFill>
                  <a:schemeClr val="bg2">
                    <a:lumMod val="25000"/>
                  </a:schemeClr>
                </a:solidFill>
                <a:latin typeface="Georgia" panose="02040502050405020303" pitchFamily="18" charset="0"/>
              </a:rPr>
              <a:t>using </a:t>
            </a:r>
            <a:r>
              <a:rPr lang="en-US" altLang="en-US" sz="2400" dirty="0">
                <a:solidFill>
                  <a:schemeClr val="bg2">
                    <a:lumMod val="25000"/>
                  </a:schemeClr>
                </a:solidFill>
                <a:latin typeface="Georgia" panose="02040502050405020303" pitchFamily="18" charset="0"/>
              </a:rPr>
              <a:t>assignment operator</a:t>
            </a:r>
            <a:r>
              <a:rPr lang="en-US" altLang="en-US" sz="2400" dirty="0" smtClean="0">
                <a:solidFill>
                  <a:schemeClr val="bg2">
                    <a:lumMod val="25000"/>
                  </a:schemeClr>
                </a:solidFill>
                <a:latin typeface="Georgia" panose="02040502050405020303" pitchFamily="18" charset="0"/>
              </a:rPr>
              <a:t>.</a:t>
            </a:r>
            <a:endParaRPr lang="en-US" altLang="en-US" sz="2400" dirty="0">
              <a:solidFill>
                <a:schemeClr val="bg2">
                  <a:lumMod val="25000"/>
                </a:schemeClr>
              </a:solidFill>
              <a:latin typeface="Georgia" panose="02040502050405020303" pitchFamily="18" charset="0"/>
            </a:endParaRPr>
          </a:p>
          <a:p>
            <a:pPr marL="342900" lvl="0" indent="-342900" eaLnBrk="0" fontAlgn="base" hangingPunct="0">
              <a:spcBef>
                <a:spcPct val="0"/>
              </a:spcBef>
              <a:spcAft>
                <a:spcPct val="0"/>
              </a:spcAft>
              <a:buFont typeface="Wingdings" panose="05000000000000000000" pitchFamily="2" charset="2"/>
              <a:buChar char="Ø"/>
            </a:pPr>
            <a:r>
              <a:rPr lang="en-US" altLang="en-US" sz="2400" dirty="0">
                <a:solidFill>
                  <a:schemeClr val="bg2">
                    <a:lumMod val="25000"/>
                  </a:schemeClr>
                </a:solidFill>
                <a:latin typeface="Georgia" panose="02040502050405020303" pitchFamily="18" charset="0"/>
              </a:rPr>
              <a:t>If the key is already present, value gets updated, </a:t>
            </a:r>
            <a:endParaRPr lang="en-US" altLang="en-US" sz="2400" dirty="0" smtClean="0">
              <a:solidFill>
                <a:schemeClr val="bg2">
                  <a:lumMod val="25000"/>
                </a:schemeClr>
              </a:solidFill>
              <a:latin typeface="Georgia" panose="02040502050405020303" pitchFamily="18" charset="0"/>
            </a:endParaRPr>
          </a:p>
          <a:p>
            <a:pPr lvl="0" eaLnBrk="0" fontAlgn="base" hangingPunct="0">
              <a:spcBef>
                <a:spcPct val="0"/>
              </a:spcBef>
              <a:spcAft>
                <a:spcPct val="0"/>
              </a:spcAft>
            </a:pPr>
            <a:r>
              <a:rPr lang="en-US" altLang="en-US" sz="2400" dirty="0">
                <a:solidFill>
                  <a:schemeClr val="bg2">
                    <a:lumMod val="25000"/>
                  </a:schemeClr>
                </a:solidFill>
                <a:latin typeface="Georgia" panose="02040502050405020303" pitchFamily="18" charset="0"/>
              </a:rPr>
              <a:t>	</a:t>
            </a:r>
            <a:r>
              <a:rPr lang="en-US" altLang="en-US" sz="2400" dirty="0" smtClean="0">
                <a:solidFill>
                  <a:schemeClr val="bg2">
                    <a:lumMod val="25000"/>
                  </a:schemeClr>
                </a:solidFill>
                <a:latin typeface="Georgia" panose="02040502050405020303" pitchFamily="18" charset="0"/>
              </a:rPr>
              <a:t>else </a:t>
            </a:r>
            <a:r>
              <a:rPr lang="en-US" altLang="en-US" sz="2400" dirty="0">
                <a:solidFill>
                  <a:schemeClr val="bg2">
                    <a:lumMod val="25000"/>
                  </a:schemeClr>
                </a:solidFill>
                <a:latin typeface="Georgia" panose="02040502050405020303" pitchFamily="18" charset="0"/>
              </a:rPr>
              <a:t>a new key: value pair is added to the dictionary.</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p:txBody>
      </p:sp>
      <p:pic>
        <p:nvPicPr>
          <p:cNvPr id="3" name="Picture 2"/>
          <p:cNvPicPr>
            <a:picLocks noChangeAspect="1"/>
          </p:cNvPicPr>
          <p:nvPr/>
        </p:nvPicPr>
        <p:blipFill>
          <a:blip r:embed="rId2"/>
          <a:stretch>
            <a:fillRect/>
          </a:stretch>
        </p:blipFill>
        <p:spPr>
          <a:xfrm>
            <a:off x="242752" y="3064794"/>
            <a:ext cx="8051241" cy="3430115"/>
          </a:xfrm>
          <a:prstGeom prst="rect">
            <a:avLst/>
          </a:prstGeom>
          <a:ln w="6350" cap="sq" cmpd="thickThin">
            <a:solidFill>
              <a:srgbClr val="000000"/>
            </a:solidFill>
            <a:prstDash val="solid"/>
            <a:miter lim="800000"/>
            <a:headEnd/>
            <a:tailEnd/>
          </a:ln>
          <a:effectLst>
            <a:innerShdw blurRad="76200">
              <a:srgbClr val="000000"/>
            </a:innerShdw>
          </a:effectLst>
        </p:spPr>
      </p:pic>
      <p:pic>
        <p:nvPicPr>
          <p:cNvPr id="4" name="Picture 3"/>
          <p:cNvPicPr>
            <a:picLocks noChangeAspect="1"/>
          </p:cNvPicPr>
          <p:nvPr/>
        </p:nvPicPr>
        <p:blipFill>
          <a:blip r:embed="rId3"/>
          <a:stretch>
            <a:fillRect/>
          </a:stretch>
        </p:blipFill>
        <p:spPr>
          <a:xfrm>
            <a:off x="4505994" y="3528407"/>
            <a:ext cx="7575997" cy="1893597"/>
          </a:xfrm>
          <a:prstGeom prst="rect">
            <a:avLst/>
          </a:prstGeom>
          <a:ln w="6350" cap="sq" cmpd="thickThin">
            <a:solidFill>
              <a:srgbClr val="000000"/>
            </a:solidFill>
            <a:prstDash val="solid"/>
            <a:miter lim="800000"/>
            <a:headEnd/>
            <a:tailEnd/>
          </a:ln>
          <a:effectLst>
            <a:innerShdw blurRad="76200">
              <a:srgbClr val="000000"/>
            </a:innerShdw>
          </a:effectLst>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8" name="Rectangle 7"/>
          <p:cNvSpPr/>
          <p:nvPr/>
        </p:nvSpPr>
        <p:spPr>
          <a:xfrm>
            <a:off x="1040138" y="685800"/>
            <a:ext cx="2643220" cy="646331"/>
          </a:xfrm>
          <a:prstGeom prst="rect">
            <a:avLst/>
          </a:prstGeom>
        </p:spPr>
        <p:txBody>
          <a:bodyPr wrap="square">
            <a:spAutoFit/>
          </a:bodyPr>
          <a:lstStyle/>
          <a:p>
            <a:r>
              <a:rPr lang="en-US" sz="3600" b="1" dirty="0" smtClean="0">
                <a:solidFill>
                  <a:schemeClr val="bg2">
                    <a:lumMod val="25000"/>
                  </a:schemeClr>
                </a:solidFill>
                <a:latin typeface="Plantagenet Cherokee" panose="02020602070100000000" pitchFamily="18" charset="0"/>
              </a:rPr>
              <a:t>Functions</a:t>
            </a:r>
            <a:endParaRPr lang="en-US" sz="3600" b="1" dirty="0">
              <a:solidFill>
                <a:schemeClr val="bg2">
                  <a:lumMod val="25000"/>
                </a:schemeClr>
              </a:solidFill>
              <a:latin typeface="Plantagenet Cherokee" panose="02020602070100000000" pitchFamily="18" charset="0"/>
            </a:endParaRPr>
          </a:p>
        </p:txBody>
      </p:sp>
      <p:sp>
        <p:nvSpPr>
          <p:cNvPr id="3" name="Rectangle 2"/>
          <p:cNvSpPr/>
          <p:nvPr/>
        </p:nvSpPr>
        <p:spPr>
          <a:xfrm>
            <a:off x="1317937" y="1524696"/>
            <a:ext cx="11041488" cy="461665"/>
          </a:xfrm>
          <a:prstGeom prst="rect">
            <a:avLst/>
          </a:prstGeom>
        </p:spPr>
        <p:txBody>
          <a:bodyPr wrap="square">
            <a:spAutoFit/>
          </a:bodyPr>
          <a:lstStyle/>
          <a:p>
            <a:r>
              <a:rPr lang="en-US" sz="2400" dirty="0">
                <a:solidFill>
                  <a:schemeClr val="bg2">
                    <a:lumMod val="25000"/>
                  </a:schemeClr>
                </a:solidFill>
                <a:latin typeface="Georgia" panose="02040502050405020303" pitchFamily="18" charset="0"/>
              </a:rPr>
              <a:t>A function in python, is a block of code, used to perform a particular action.</a:t>
            </a:r>
            <a:endParaRPr lang="en-US" sz="2400" dirty="0">
              <a:solidFill>
                <a:schemeClr val="bg2">
                  <a:lumMod val="25000"/>
                </a:schemeClr>
              </a:solidFill>
              <a:latin typeface="Georgia" panose="02040502050405020303" pitchFamily="18" charset="0"/>
            </a:endParaRPr>
          </a:p>
        </p:txBody>
      </p:sp>
      <p:sp>
        <p:nvSpPr>
          <p:cNvPr id="5" name="Rectangle 4"/>
          <p:cNvSpPr/>
          <p:nvPr/>
        </p:nvSpPr>
        <p:spPr>
          <a:xfrm>
            <a:off x="931620" y="2130425"/>
            <a:ext cx="10217239" cy="4154984"/>
          </a:xfrm>
          <a:prstGeom prst="rect">
            <a:avLst/>
          </a:prstGeom>
        </p:spPr>
        <p:txBody>
          <a:bodyPr wrap="square">
            <a:spAutoFit/>
          </a:bodyPr>
          <a:lstStyle/>
          <a:p>
            <a:r>
              <a:rPr lang="en-US" sz="2400" b="1" dirty="0" smtClean="0">
                <a:solidFill>
                  <a:schemeClr val="bg2">
                    <a:lumMod val="25000"/>
                  </a:schemeClr>
                </a:solidFill>
                <a:latin typeface="Georgia" panose="02040502050405020303" pitchFamily="18" charset="0"/>
              </a:rPr>
              <a:t> Rules to define a function</a:t>
            </a:r>
            <a:endParaRPr lang="en-US" sz="2400" b="1" dirty="0">
              <a:solidFill>
                <a:schemeClr val="bg2">
                  <a:lumMod val="25000"/>
                </a:schemeClr>
              </a:solidFill>
              <a:latin typeface="Georgia" panose="02040502050405020303" pitchFamily="18" charset="0"/>
            </a:endParaRPr>
          </a:p>
          <a:p>
            <a:endParaRPr lang="en-US" sz="2400" dirty="0">
              <a:solidFill>
                <a:schemeClr val="bg2">
                  <a:lumMod val="25000"/>
                </a:schemeClr>
              </a:solidFill>
              <a:latin typeface="Georgia" panose="02040502050405020303" pitchFamily="18" charset="0"/>
            </a:endParaRPr>
          </a:p>
          <a:p>
            <a:pPr marL="1371600" lvl="2" indent="-457200">
              <a:buFont typeface="Wingdings" panose="05000000000000000000" pitchFamily="2" charset="2"/>
              <a:buChar char="Ø"/>
            </a:pPr>
            <a:r>
              <a:rPr lang="en-US" sz="2400" dirty="0" smtClean="0">
                <a:solidFill>
                  <a:schemeClr val="bg2">
                    <a:lumMod val="25000"/>
                  </a:schemeClr>
                </a:solidFill>
                <a:latin typeface="Georgia" panose="02040502050405020303" pitchFamily="18" charset="0"/>
              </a:rPr>
              <a:t>It begins </a:t>
            </a:r>
            <a:r>
              <a:rPr lang="en-US" sz="2400" dirty="0">
                <a:solidFill>
                  <a:schemeClr val="bg2">
                    <a:lumMod val="25000"/>
                  </a:schemeClr>
                </a:solidFill>
                <a:latin typeface="Georgia" panose="02040502050405020303" pitchFamily="18" charset="0"/>
              </a:rPr>
              <a:t>with the keyword </a:t>
            </a:r>
            <a:r>
              <a:rPr lang="en-US" sz="2400" dirty="0" err="1">
                <a:solidFill>
                  <a:schemeClr val="bg2">
                    <a:lumMod val="25000"/>
                  </a:schemeClr>
                </a:solidFill>
                <a:latin typeface="Georgia" panose="02040502050405020303" pitchFamily="18" charset="0"/>
              </a:rPr>
              <a:t>def</a:t>
            </a:r>
            <a:r>
              <a:rPr lang="en-US" sz="2400" dirty="0">
                <a:solidFill>
                  <a:schemeClr val="bg2">
                    <a:lumMod val="25000"/>
                  </a:schemeClr>
                </a:solidFill>
                <a:latin typeface="Georgia" panose="02040502050405020303" pitchFamily="18" charset="0"/>
              </a:rPr>
              <a:t>, followed by the function name and then </a:t>
            </a:r>
            <a:r>
              <a:rPr lang="en-US" sz="2400" dirty="0" smtClean="0">
                <a:solidFill>
                  <a:schemeClr val="bg2">
                    <a:lumMod val="25000"/>
                  </a:schemeClr>
                </a:solidFill>
                <a:latin typeface="Georgia" panose="02040502050405020303" pitchFamily="18" charset="0"/>
              </a:rPr>
              <a:t>parentheses.</a:t>
            </a:r>
            <a:endParaRPr lang="en-US" sz="2400" dirty="0" smtClean="0">
              <a:solidFill>
                <a:schemeClr val="bg2">
                  <a:lumMod val="25000"/>
                </a:schemeClr>
              </a:solidFill>
              <a:latin typeface="Georgia" panose="02040502050405020303" pitchFamily="18" charset="0"/>
            </a:endParaRPr>
          </a:p>
          <a:p>
            <a:pPr marL="1371600" lvl="2" indent="-457200">
              <a:buFont typeface="Wingdings" panose="05000000000000000000" pitchFamily="2" charset="2"/>
              <a:buChar char="Ø"/>
            </a:pPr>
            <a:r>
              <a:rPr lang="en-US" sz="2400" dirty="0">
                <a:solidFill>
                  <a:schemeClr val="bg2">
                    <a:lumMod val="25000"/>
                  </a:schemeClr>
                </a:solidFill>
                <a:latin typeface="Georgia" panose="02040502050405020303" pitchFamily="18" charset="0"/>
              </a:rPr>
              <a:t>t</a:t>
            </a:r>
            <a:r>
              <a:rPr lang="en-US" sz="2400" dirty="0" smtClean="0">
                <a:solidFill>
                  <a:schemeClr val="bg2">
                    <a:lumMod val="25000"/>
                  </a:schemeClr>
                </a:solidFill>
                <a:latin typeface="Georgia" panose="02040502050405020303" pitchFamily="18" charset="0"/>
              </a:rPr>
              <a:t>he </a:t>
            </a:r>
            <a:r>
              <a:rPr lang="en-US" sz="2400" dirty="0">
                <a:solidFill>
                  <a:schemeClr val="bg2">
                    <a:lumMod val="25000"/>
                  </a:schemeClr>
                </a:solidFill>
                <a:latin typeface="Georgia" panose="02040502050405020303" pitchFamily="18" charset="0"/>
              </a:rPr>
              <a:t>parameters/arguments should be placed inside these parentheses</a:t>
            </a:r>
            <a:endParaRPr lang="en-US" sz="2400" dirty="0">
              <a:solidFill>
                <a:schemeClr val="bg2">
                  <a:lumMod val="25000"/>
                </a:schemeClr>
              </a:solidFill>
              <a:latin typeface="Georgia" panose="02040502050405020303" pitchFamily="18" charset="0"/>
            </a:endParaRPr>
          </a:p>
          <a:p>
            <a:pPr marL="1371600" lvl="2" indent="-457200">
              <a:buFont typeface="Wingdings" panose="05000000000000000000" pitchFamily="2" charset="2"/>
              <a:buChar char="Ø"/>
            </a:pPr>
            <a:r>
              <a:rPr lang="en-US" sz="2400" dirty="0">
                <a:solidFill>
                  <a:schemeClr val="bg2">
                    <a:lumMod val="25000"/>
                  </a:schemeClr>
                </a:solidFill>
                <a:latin typeface="Georgia" panose="02040502050405020303" pitchFamily="18" charset="0"/>
              </a:rPr>
              <a:t>t</a:t>
            </a:r>
            <a:r>
              <a:rPr lang="en-US" sz="2400" dirty="0" smtClean="0">
                <a:solidFill>
                  <a:schemeClr val="bg2">
                    <a:lumMod val="25000"/>
                  </a:schemeClr>
                </a:solidFill>
                <a:latin typeface="Georgia" panose="02040502050405020303" pitchFamily="18" charset="0"/>
              </a:rPr>
              <a:t>he </a:t>
            </a:r>
            <a:r>
              <a:rPr lang="en-US" sz="2400" dirty="0">
                <a:solidFill>
                  <a:schemeClr val="bg2">
                    <a:lumMod val="25000"/>
                  </a:schemeClr>
                </a:solidFill>
                <a:latin typeface="Georgia" panose="02040502050405020303" pitchFamily="18" charset="0"/>
              </a:rPr>
              <a:t>code block of the function starts with a colon (:)</a:t>
            </a:r>
            <a:endParaRPr lang="en-US" sz="2400" dirty="0">
              <a:solidFill>
                <a:schemeClr val="bg2">
                  <a:lumMod val="25000"/>
                </a:schemeClr>
              </a:solidFill>
              <a:latin typeface="Georgia" panose="02040502050405020303" pitchFamily="18" charset="0"/>
            </a:endParaRPr>
          </a:p>
          <a:p>
            <a:pPr marL="1371600" lvl="2" indent="-457200">
              <a:buFont typeface="Wingdings" panose="05000000000000000000" pitchFamily="2" charset="2"/>
              <a:buChar char="Ø"/>
            </a:pPr>
            <a:r>
              <a:rPr lang="en-US" sz="2400" dirty="0" smtClean="0">
                <a:solidFill>
                  <a:schemeClr val="bg2">
                    <a:lumMod val="25000"/>
                  </a:schemeClr>
                </a:solidFill>
                <a:latin typeface="Georgia" panose="02040502050405020303" pitchFamily="18" charset="0"/>
              </a:rPr>
              <a:t>and </a:t>
            </a:r>
            <a:r>
              <a:rPr lang="en-US" sz="2400" dirty="0">
                <a:solidFill>
                  <a:schemeClr val="bg2">
                    <a:lumMod val="25000"/>
                  </a:schemeClr>
                </a:solidFill>
                <a:latin typeface="Georgia" panose="02040502050405020303" pitchFamily="18" charset="0"/>
              </a:rPr>
              <a:t>now the return statement exits a function, passing back an expression to the function caller</a:t>
            </a:r>
            <a:endParaRPr lang="en-US" sz="2400" dirty="0">
              <a:solidFill>
                <a:schemeClr val="bg2">
                  <a:lumMod val="25000"/>
                </a:schemeClr>
              </a:solidFill>
              <a:latin typeface="Georgia" panose="02040502050405020303" pitchFamily="18" charset="0"/>
            </a:endParaRPr>
          </a:p>
          <a:p>
            <a:pPr marL="1371600" lvl="2" indent="-457200">
              <a:buFont typeface="Wingdings" panose="05000000000000000000" pitchFamily="2" charset="2"/>
              <a:buChar char="Ø"/>
            </a:pPr>
            <a:r>
              <a:rPr lang="en-US" sz="2400" dirty="0" smtClean="0">
                <a:solidFill>
                  <a:schemeClr val="bg2">
                    <a:lumMod val="25000"/>
                  </a:schemeClr>
                </a:solidFill>
                <a:latin typeface="Georgia" panose="02040502050405020303" pitchFamily="18" charset="0"/>
              </a:rPr>
              <a:t>a </a:t>
            </a:r>
            <a:r>
              <a:rPr lang="en-US" sz="2400" dirty="0">
                <a:solidFill>
                  <a:schemeClr val="bg2">
                    <a:lumMod val="25000"/>
                  </a:schemeClr>
                </a:solidFill>
                <a:latin typeface="Georgia" panose="02040502050405020303" pitchFamily="18" charset="0"/>
              </a:rPr>
              <a:t>return statement with no any arguments is the same as return None</a:t>
            </a:r>
            <a:endParaRPr lang="en-US" sz="2400" dirty="0">
              <a:solidFill>
                <a:schemeClr val="bg2">
                  <a:lumMod val="25000"/>
                </a:schemeClr>
              </a:solidFill>
              <a:latin typeface="Georgia" panose="02040502050405020303" pitchFamily="18" charset="0"/>
            </a:endParaRP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8" name="Rectangle 7"/>
          <p:cNvSpPr/>
          <p:nvPr/>
        </p:nvSpPr>
        <p:spPr>
          <a:xfrm>
            <a:off x="949986" y="453567"/>
            <a:ext cx="4793992" cy="646331"/>
          </a:xfrm>
          <a:prstGeom prst="rect">
            <a:avLst/>
          </a:prstGeom>
        </p:spPr>
        <p:txBody>
          <a:bodyPr wrap="square">
            <a:spAutoFit/>
          </a:bodyPr>
          <a:lstStyle/>
          <a:p>
            <a:r>
              <a:rPr lang="en-US" sz="3600" b="1" dirty="0" smtClean="0">
                <a:solidFill>
                  <a:schemeClr val="bg2">
                    <a:lumMod val="25000"/>
                  </a:schemeClr>
                </a:solidFill>
                <a:latin typeface="Plantagenet Cherokee" panose="02020602070100000000" pitchFamily="18" charset="0"/>
              </a:rPr>
              <a:t>Syntax of function</a:t>
            </a:r>
            <a:endParaRPr lang="en-US" sz="3600" b="1" dirty="0">
              <a:solidFill>
                <a:schemeClr val="bg2">
                  <a:lumMod val="25000"/>
                </a:schemeClr>
              </a:solidFill>
              <a:latin typeface="Plantagenet Cherokee" panose="02020602070100000000" pitchFamily="18" charset="0"/>
            </a:endParaRPr>
          </a:p>
        </p:txBody>
      </p:sp>
      <p:pic>
        <p:nvPicPr>
          <p:cNvPr id="4" name="Picture 3"/>
          <p:cNvPicPr>
            <a:picLocks noChangeAspect="1"/>
          </p:cNvPicPr>
          <p:nvPr/>
        </p:nvPicPr>
        <p:blipFill>
          <a:blip r:embed="rId2"/>
          <a:stretch>
            <a:fillRect/>
          </a:stretch>
        </p:blipFill>
        <p:spPr>
          <a:xfrm>
            <a:off x="429720" y="3562357"/>
            <a:ext cx="7820675" cy="1808133"/>
          </a:xfrm>
          <a:prstGeom prst="rect">
            <a:avLst/>
          </a:prstGeom>
          <a:ln w="6350" cap="sq" cmpd="thickThin">
            <a:solidFill>
              <a:srgbClr val="000000"/>
            </a:solidFill>
            <a:prstDash val="solid"/>
            <a:miter lim="800000"/>
            <a:headEnd/>
            <a:tailEnd/>
          </a:ln>
          <a:effectLst>
            <a:innerShdw blurRad="76200">
              <a:srgbClr val="000000"/>
            </a:innerShdw>
          </a:effectLst>
        </p:spPr>
      </p:pic>
      <p:pic>
        <p:nvPicPr>
          <p:cNvPr id="7" name="Picture 6"/>
          <p:cNvPicPr>
            <a:picLocks noChangeAspect="1"/>
          </p:cNvPicPr>
          <p:nvPr/>
        </p:nvPicPr>
        <p:blipFill>
          <a:blip r:embed="rId3"/>
          <a:stretch>
            <a:fillRect/>
          </a:stretch>
        </p:blipFill>
        <p:spPr>
          <a:xfrm>
            <a:off x="4613589" y="3330124"/>
            <a:ext cx="7273612" cy="1254718"/>
          </a:xfrm>
          <a:prstGeom prst="rect">
            <a:avLst/>
          </a:prstGeom>
          <a:ln w="6350" cap="sq" cmpd="thickThin">
            <a:solidFill>
              <a:srgbClr val="000000"/>
            </a:solidFill>
            <a:prstDash val="solid"/>
            <a:miter lim="800000"/>
            <a:headEnd/>
            <a:tailEnd/>
          </a:ln>
          <a:effectLst>
            <a:innerShdw blurRad="76200">
              <a:srgbClr val="000000"/>
            </a:innerShdw>
          </a:effectLst>
        </p:spPr>
      </p:pic>
      <p:sp>
        <p:nvSpPr>
          <p:cNvPr id="11" name="Rectangle 10"/>
          <p:cNvSpPr/>
          <p:nvPr/>
        </p:nvSpPr>
        <p:spPr>
          <a:xfrm>
            <a:off x="3859369" y="1498730"/>
            <a:ext cx="6096000" cy="1200329"/>
          </a:xfrm>
          <a:prstGeom prst="rect">
            <a:avLst/>
          </a:prstGeom>
        </p:spPr>
        <p:txBody>
          <a:bodyPr>
            <a:spAutoFit/>
          </a:bodyPr>
          <a:lstStyle/>
          <a:p>
            <a:r>
              <a:rPr lang="en-US" sz="2400" dirty="0" err="1">
                <a:solidFill>
                  <a:schemeClr val="bg2">
                    <a:lumMod val="25000"/>
                  </a:schemeClr>
                </a:solidFill>
                <a:latin typeface="Georgia" panose="02040502050405020303" pitchFamily="18" charset="0"/>
              </a:rPr>
              <a:t>def</a:t>
            </a:r>
            <a:r>
              <a:rPr lang="en-US" sz="2400" dirty="0">
                <a:solidFill>
                  <a:schemeClr val="bg2">
                    <a:lumMod val="25000"/>
                  </a:schemeClr>
                </a:solidFill>
                <a:latin typeface="Georgia" panose="02040502050405020303" pitchFamily="18" charset="0"/>
              </a:rPr>
              <a:t> </a:t>
            </a:r>
            <a:r>
              <a:rPr lang="en-US" sz="2400" dirty="0" err="1">
                <a:solidFill>
                  <a:schemeClr val="bg2">
                    <a:lumMod val="25000"/>
                  </a:schemeClr>
                </a:solidFill>
                <a:latin typeface="Georgia" panose="02040502050405020303" pitchFamily="18" charset="0"/>
              </a:rPr>
              <a:t>function_name</a:t>
            </a:r>
            <a:r>
              <a:rPr lang="en-US" sz="2400" dirty="0">
                <a:solidFill>
                  <a:schemeClr val="bg2">
                    <a:lumMod val="25000"/>
                  </a:schemeClr>
                </a:solidFill>
                <a:latin typeface="Georgia" panose="02040502050405020303" pitchFamily="18" charset="0"/>
              </a:rPr>
              <a:t>(parameters):</a:t>
            </a:r>
            <a:endParaRPr lang="en-US" sz="2400" dirty="0">
              <a:solidFill>
                <a:schemeClr val="bg2">
                  <a:lumMod val="25000"/>
                </a:schemeClr>
              </a:solidFill>
              <a:latin typeface="Georgia" panose="02040502050405020303" pitchFamily="18" charset="0"/>
            </a:endParaRPr>
          </a:p>
          <a:p>
            <a:r>
              <a:rPr lang="en-US" sz="2400" dirty="0">
                <a:solidFill>
                  <a:schemeClr val="bg2">
                    <a:lumMod val="25000"/>
                  </a:schemeClr>
                </a:solidFill>
                <a:latin typeface="Georgia" panose="02040502050405020303" pitchFamily="18" charset="0"/>
              </a:rPr>
              <a:t>	"""</a:t>
            </a:r>
            <a:r>
              <a:rPr lang="en-US" sz="2400" dirty="0" err="1">
                <a:solidFill>
                  <a:schemeClr val="bg2">
                    <a:lumMod val="25000"/>
                  </a:schemeClr>
                </a:solidFill>
                <a:latin typeface="Georgia" panose="02040502050405020303" pitchFamily="18" charset="0"/>
              </a:rPr>
              <a:t>docstring</a:t>
            </a:r>
            <a:r>
              <a:rPr lang="en-US" sz="2400" dirty="0">
                <a:solidFill>
                  <a:schemeClr val="bg2">
                    <a:lumMod val="25000"/>
                  </a:schemeClr>
                </a:solidFill>
                <a:latin typeface="Georgia" panose="02040502050405020303" pitchFamily="18" charset="0"/>
              </a:rPr>
              <a:t>"""</a:t>
            </a:r>
            <a:endParaRPr lang="en-US" sz="2400" dirty="0">
              <a:solidFill>
                <a:schemeClr val="bg2">
                  <a:lumMod val="25000"/>
                </a:schemeClr>
              </a:solidFill>
              <a:latin typeface="Georgia" panose="02040502050405020303" pitchFamily="18" charset="0"/>
            </a:endParaRPr>
          </a:p>
          <a:p>
            <a:r>
              <a:rPr lang="en-US" sz="2400" dirty="0">
                <a:solidFill>
                  <a:schemeClr val="bg2">
                    <a:lumMod val="25000"/>
                  </a:schemeClr>
                </a:solidFill>
                <a:latin typeface="Georgia" panose="02040502050405020303" pitchFamily="18" charset="0"/>
              </a:rPr>
              <a:t>	statement(s)</a:t>
            </a:r>
            <a:endParaRPr lang="en-US" sz="2400" dirty="0">
              <a:solidFill>
                <a:schemeClr val="bg2">
                  <a:lumMod val="25000"/>
                </a:schemeClr>
              </a:solidFill>
              <a:latin typeface="Georgia" panose="02040502050405020303" pitchFamily="18" charset="0"/>
            </a:endParaRP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GOWTHAMI\OTHERS\ACADEMY IMAGES &amp; LOGOS\EA_logo_transprant.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86022" y="0"/>
            <a:ext cx="1905978" cy="685800"/>
          </a:xfrm>
          <a:prstGeom prst="roundRect">
            <a:avLst>
              <a:gd name="adj" fmla="val 0"/>
            </a:avLst>
          </a:prstGeom>
          <a:solidFill>
            <a:srgbClr val="FFFFFF">
              <a:shade val="85000"/>
            </a:srgbClr>
          </a:solidFill>
          <a:ln>
            <a:noFill/>
          </a:ln>
          <a:effectLst>
            <a:reflection blurRad="12700" stA="38000" endPos="28000" dist="5000" dir="5400000" sy="-100000" algn="bl" rotWithShape="0"/>
          </a:effectLst>
        </p:spPr>
      </p:pic>
      <p:sp>
        <p:nvSpPr>
          <p:cNvPr id="8" name="Rectangle 7"/>
          <p:cNvSpPr/>
          <p:nvPr/>
        </p:nvSpPr>
        <p:spPr>
          <a:xfrm>
            <a:off x="911349" y="453567"/>
            <a:ext cx="4793992" cy="646331"/>
          </a:xfrm>
          <a:prstGeom prst="rect">
            <a:avLst/>
          </a:prstGeom>
        </p:spPr>
        <p:txBody>
          <a:bodyPr wrap="square">
            <a:spAutoFit/>
          </a:bodyPr>
          <a:lstStyle/>
          <a:p>
            <a:r>
              <a:rPr lang="en-US" sz="3600" b="1" dirty="0">
                <a:solidFill>
                  <a:schemeClr val="bg2">
                    <a:lumMod val="25000"/>
                  </a:schemeClr>
                </a:solidFill>
                <a:latin typeface="Plantagenet Cherokee" panose="02020602070100000000" pitchFamily="18" charset="0"/>
              </a:rPr>
              <a:t>return statement</a:t>
            </a:r>
            <a:endParaRPr lang="en-US" sz="3600" b="1" dirty="0">
              <a:solidFill>
                <a:schemeClr val="bg2">
                  <a:lumMod val="25000"/>
                </a:schemeClr>
              </a:solidFill>
              <a:latin typeface="Plantagenet Cherokee" panose="02020602070100000000" pitchFamily="18" charset="0"/>
            </a:endParaRPr>
          </a:p>
        </p:txBody>
      </p:sp>
      <p:sp>
        <p:nvSpPr>
          <p:cNvPr id="2" name="Rectangle 1"/>
          <p:cNvSpPr>
            <a:spLocks noChangeArrowheads="1"/>
          </p:cNvSpPr>
          <p:nvPr/>
        </p:nvSpPr>
        <p:spPr bwMode="auto">
          <a:xfrm>
            <a:off x="688530" y="1176964"/>
            <a:ext cx="1150347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	The return statement is used to exit a function and go back to the place from </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where it was called. </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p:txBody>
      </p:sp>
      <p:sp>
        <p:nvSpPr>
          <p:cNvPr id="3" name="Rectangle 2"/>
          <p:cNvSpPr>
            <a:spLocks noChangeArrowheads="1"/>
          </p:cNvSpPr>
          <p:nvPr/>
        </p:nvSpPr>
        <p:spPr bwMode="auto">
          <a:xfrm>
            <a:off x="3684104" y="2085027"/>
            <a:ext cx="350288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1" i="0" u="none" strike="noStrike" cap="none" normalizeH="0" baseline="0" dirty="0" smtClean="0">
                <a:ln>
                  <a:noFill/>
                </a:ln>
                <a:solidFill>
                  <a:schemeClr val="bg2">
                    <a:lumMod val="25000"/>
                  </a:schemeClr>
                </a:solidFill>
                <a:effectLst/>
                <a:latin typeface="Georgia" panose="02040502050405020303" pitchFamily="18" charset="0"/>
              </a:rPr>
              <a:t>Syntax:</a:t>
            </a:r>
            <a:endParaRPr kumimoji="0" lang="en-US" altLang="en-US" sz="2400" b="1" i="0" u="none" strike="noStrike" cap="none" normalizeH="0" baseline="0" dirty="0" smtClean="0">
              <a:ln>
                <a:noFill/>
              </a:ln>
              <a:solidFill>
                <a:schemeClr val="bg2">
                  <a:lumMod val="25000"/>
                </a:schemeClr>
              </a:solidFill>
              <a:effectLst/>
              <a:latin typeface="Georgia" panose="02040502050405020303"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2400" b="1" i="0" u="none" strike="noStrike" cap="none" normalizeH="0" baseline="0" dirty="0" smtClean="0">
              <a:ln>
                <a:noFill/>
              </a:ln>
              <a:solidFill>
                <a:schemeClr val="bg2">
                  <a:lumMod val="25000"/>
                </a:schemeClr>
              </a:solidFill>
              <a:effectLst/>
              <a:latin typeface="Georgia" panose="02040502050405020303"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return [</a:t>
            </a:r>
            <a:r>
              <a:rPr kumimoji="0" lang="en-US" altLang="en-US" sz="2400" b="0" i="0" u="none" strike="noStrike" cap="none" normalizeH="0" baseline="0" dirty="0" err="1" smtClean="0">
                <a:ln>
                  <a:noFill/>
                </a:ln>
                <a:solidFill>
                  <a:schemeClr val="bg2">
                    <a:lumMod val="25000"/>
                  </a:schemeClr>
                </a:solidFill>
                <a:effectLst/>
                <a:latin typeface="Georgia" panose="02040502050405020303" pitchFamily="18" charset="0"/>
              </a:rPr>
              <a:t>expression_list</a:t>
            </a: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 </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p:txBody>
      </p:sp>
      <p:sp>
        <p:nvSpPr>
          <p:cNvPr id="5" name="Rectangle 3"/>
          <p:cNvSpPr>
            <a:spLocks noChangeArrowheads="1"/>
          </p:cNvSpPr>
          <p:nvPr/>
        </p:nvSpPr>
        <p:spPr bwMode="auto">
          <a:xfrm>
            <a:off x="450555" y="3177757"/>
            <a:ext cx="11030584"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This statement can contain expression which gets evaluated and the value is </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a:p>
            <a:pPr marR="0" lvl="0" algn="l" defTabSz="914400" rtl="0" eaLnBrk="0" fontAlgn="base" latinLnBrk="0" hangingPunct="0">
              <a:lnSpc>
                <a:spcPct val="100000"/>
              </a:lnSpc>
              <a:spcBef>
                <a:spcPct val="0"/>
              </a:spcBef>
              <a:spcAft>
                <a:spcPct val="0"/>
              </a:spcAft>
              <a:buClrTx/>
              <a:buSzTx/>
            </a:pPr>
            <a:r>
              <a:rPr lang="en-US" altLang="en-US" sz="2400" smtClean="0">
                <a:solidFill>
                  <a:schemeClr val="bg2">
                    <a:lumMod val="25000"/>
                  </a:schemeClr>
                </a:solidFill>
                <a:latin typeface="Georgia" panose="02040502050405020303" pitchFamily="18" charset="0"/>
              </a:rPr>
              <a:t>     </a:t>
            </a:r>
            <a:r>
              <a:rPr kumimoji="0" lang="en-US" altLang="en-US" sz="2400" b="0" i="0" u="none" strike="noStrike" cap="none" normalizeH="0" baseline="0" smtClean="0">
                <a:ln>
                  <a:noFill/>
                </a:ln>
                <a:solidFill>
                  <a:schemeClr val="bg2">
                    <a:lumMod val="25000"/>
                  </a:schemeClr>
                </a:solidFill>
                <a:effectLst/>
                <a:latin typeface="Georgia" panose="02040502050405020303" pitchFamily="18" charset="0"/>
              </a:rPr>
              <a:t>returned</a:t>
            </a: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 </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pP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If there is no expression in the statement or the return statement itself </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a:p>
            <a:pPr marR="0" lvl="0" algn="l" defTabSz="914400" rtl="0" eaLnBrk="0" fontAlgn="base" latinLnBrk="0" hangingPunct="0">
              <a:lnSpc>
                <a:spcPct val="100000"/>
              </a:lnSpc>
              <a:spcBef>
                <a:spcPct val="0"/>
              </a:spcBef>
              <a:spcAft>
                <a:spcPct val="0"/>
              </a:spcAft>
              <a:buClrTx/>
              <a:buSzTx/>
            </a:pPr>
            <a:r>
              <a:rPr lang="en-US" altLang="en-US" sz="2400" dirty="0">
                <a:solidFill>
                  <a:schemeClr val="bg2">
                    <a:lumMod val="25000"/>
                  </a:schemeClr>
                </a:solidFill>
                <a:latin typeface="Georgia" panose="02040502050405020303" pitchFamily="18" charset="0"/>
              </a:rPr>
              <a:t> </a:t>
            </a:r>
            <a:r>
              <a:rPr lang="en-US" altLang="en-US" sz="2400" dirty="0" smtClean="0">
                <a:solidFill>
                  <a:schemeClr val="bg2">
                    <a:lumMod val="25000"/>
                  </a:schemeClr>
                </a:solidFill>
                <a:latin typeface="Georgia" panose="02040502050405020303" pitchFamily="18" charset="0"/>
              </a:rPr>
              <a:t>   </a:t>
            </a:r>
            <a:r>
              <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rPr>
              <a:t>is not present inside a function, then the function will return the None object. </a:t>
            </a:r>
            <a:endParaRPr kumimoji="0" lang="en-US" altLang="en-US" sz="2400" b="0" i="0" u="none" strike="noStrike" cap="none" normalizeH="0" baseline="0" dirty="0" smtClean="0">
              <a:ln>
                <a:noFill/>
              </a:ln>
              <a:solidFill>
                <a:schemeClr val="bg2">
                  <a:lumMod val="25000"/>
                </a:schemeClr>
              </a:solidFill>
              <a:effectLst/>
              <a:latin typeface="Georgia" panose="02040502050405020303" pitchFamily="18" charset="0"/>
            </a:endParaRP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PyCharm</a:t>
            </a:r>
            <a:r>
              <a:rPr lang="en-US" b="1" dirty="0" smtClean="0"/>
              <a:t> installation</a:t>
            </a:r>
            <a:endParaRPr lang="en-IN" b="1" dirty="0"/>
          </a:p>
        </p:txBody>
      </p:sp>
      <p:sp>
        <p:nvSpPr>
          <p:cNvPr id="3" name="Content Placeholder 2"/>
          <p:cNvSpPr>
            <a:spLocks noGrp="1"/>
          </p:cNvSpPr>
          <p:nvPr>
            <p:ph idx="1"/>
          </p:nvPr>
        </p:nvSpPr>
        <p:spPr>
          <a:xfrm>
            <a:off x="2038228" y="1101969"/>
            <a:ext cx="8915400" cy="3777622"/>
          </a:xfrm>
        </p:spPr>
        <p:txBody>
          <a:bodyPr>
            <a:normAutofit/>
          </a:bodyPr>
          <a:lstStyle/>
          <a:p>
            <a:endParaRPr lang="en-US" b="1" dirty="0" smtClean="0"/>
          </a:p>
          <a:p>
            <a:r>
              <a:rPr lang="en-US" b="1" dirty="0" smtClean="0"/>
              <a:t>Windows</a:t>
            </a:r>
            <a:endParaRPr lang="en-US" b="1" dirty="0"/>
          </a:p>
          <a:p>
            <a:r>
              <a:rPr lang="en-US" b="1" dirty="0"/>
              <a:t>Installing </a:t>
            </a:r>
            <a:r>
              <a:rPr lang="en-US" b="1" dirty="0" err="1"/>
              <a:t>PyCharm</a:t>
            </a:r>
            <a:r>
              <a:rPr lang="en-US" b="1" dirty="0"/>
              <a:t> on Windows is very simple. To install </a:t>
            </a:r>
            <a:r>
              <a:rPr lang="en-US" b="1" dirty="0" err="1"/>
              <a:t>PyCharm</a:t>
            </a:r>
            <a:r>
              <a:rPr lang="en-US" b="1" dirty="0"/>
              <a:t> on Windows operating system, visit the link </a:t>
            </a:r>
            <a:r>
              <a:rPr lang="en-US" b="1" dirty="0">
                <a:hlinkClick r:id="rId1"/>
              </a:rPr>
              <a:t>https://www.jetbrains.com/pycharm/download/download-thanks.html?platform=windows</a:t>
            </a:r>
            <a:r>
              <a:rPr lang="en-US" b="1" dirty="0"/>
              <a:t> to download the executable installer. Double click the installer (.exe) file and install </a:t>
            </a:r>
            <a:r>
              <a:rPr lang="en-US" b="1" dirty="0" err="1"/>
              <a:t>PyCharm</a:t>
            </a:r>
            <a:r>
              <a:rPr lang="en-US" b="1" dirty="0"/>
              <a:t> by clicking next at each step.</a:t>
            </a:r>
            <a:endParaRPr lang="en-US" b="1" dirty="0"/>
          </a:p>
          <a:p>
            <a:r>
              <a:rPr lang="en-US" b="1" dirty="0"/>
              <a:t>To create a first program to </a:t>
            </a:r>
            <a:r>
              <a:rPr lang="en-US" b="1" dirty="0" err="1"/>
              <a:t>Pycharm</a:t>
            </a:r>
            <a:r>
              <a:rPr lang="en-US" b="1" dirty="0"/>
              <a:t> follows the following step.</a:t>
            </a:r>
            <a:endParaRPr lang="en-US" b="1" dirty="0"/>
          </a:p>
          <a:p>
            <a:r>
              <a:rPr lang="en-US" b="1" dirty="0"/>
              <a:t>Step - 1. Open </a:t>
            </a:r>
            <a:r>
              <a:rPr lang="en-US" b="1" dirty="0" err="1"/>
              <a:t>Pycharm</a:t>
            </a:r>
            <a:r>
              <a:rPr lang="en-US" b="1" dirty="0"/>
              <a:t> editor. Click on "Create New Project" option to create new project</a:t>
            </a:r>
            <a:r>
              <a:rPr lang="en-US" dirty="0" smtClean="0"/>
              <a:t>.</a:t>
            </a:r>
            <a:endParaRPr lang="en-US" dirty="0" smtClean="0"/>
          </a:p>
          <a:p>
            <a:pPr marL="0" indent="0">
              <a:buNone/>
            </a:pPr>
            <a:endParaRPr lang="en-US" dirty="0"/>
          </a:p>
          <a:p>
            <a:endParaRPr lang="en-US" b="1" dirty="0" smtClean="0"/>
          </a:p>
          <a:p>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15507" y="4634670"/>
            <a:ext cx="4067908" cy="211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PyCharm</a:t>
            </a:r>
            <a:r>
              <a:rPr lang="en-US" b="1" dirty="0"/>
              <a:t> installation</a:t>
            </a:r>
            <a:endParaRPr lang="en-IN" dirty="0"/>
          </a:p>
        </p:txBody>
      </p:sp>
      <p:sp>
        <p:nvSpPr>
          <p:cNvPr id="3" name="Content Placeholder 2"/>
          <p:cNvSpPr>
            <a:spLocks noGrp="1"/>
          </p:cNvSpPr>
          <p:nvPr>
            <p:ph idx="1"/>
          </p:nvPr>
        </p:nvSpPr>
        <p:spPr>
          <a:xfrm>
            <a:off x="2260966" y="1395046"/>
            <a:ext cx="8915400" cy="3777622"/>
          </a:xfrm>
        </p:spPr>
        <p:txBody>
          <a:bodyPr>
            <a:normAutofit/>
          </a:bodyPr>
          <a:lstStyle/>
          <a:p>
            <a:r>
              <a:rPr lang="en-US" b="1" dirty="0"/>
              <a:t>Step - 2.</a:t>
            </a:r>
            <a:r>
              <a:rPr lang="en-US" dirty="0"/>
              <a:t> Select a location to save the project</a:t>
            </a:r>
            <a:r>
              <a:rPr lang="en-US" dirty="0" smtClean="0"/>
              <a:t>.</a:t>
            </a:r>
            <a:endParaRPr lang="en-US" dirty="0" smtClean="0"/>
          </a:p>
          <a:p>
            <a:endParaRPr lang="en-US" dirty="0"/>
          </a:p>
          <a:p>
            <a:pPr marL="0" indent="0">
              <a:buNone/>
            </a:pPr>
            <a:endParaRPr lang="en-IN" dirty="0"/>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46484" y="1921390"/>
            <a:ext cx="8070752" cy="4784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PyCharm</a:t>
            </a:r>
            <a:r>
              <a:rPr lang="en-US" b="1" dirty="0"/>
              <a:t> installation</a:t>
            </a:r>
            <a:endParaRPr lang="en-IN" dirty="0"/>
          </a:p>
        </p:txBody>
      </p:sp>
      <p:sp>
        <p:nvSpPr>
          <p:cNvPr id="3" name="Content Placeholder 2"/>
          <p:cNvSpPr>
            <a:spLocks noGrp="1"/>
          </p:cNvSpPr>
          <p:nvPr>
            <p:ph idx="1"/>
          </p:nvPr>
        </p:nvSpPr>
        <p:spPr/>
        <p:txBody>
          <a:bodyPr/>
          <a:lstStyle/>
          <a:p>
            <a:r>
              <a:rPr lang="en-US" b="1" dirty="0"/>
              <a:t>Step - 2.</a:t>
            </a:r>
            <a:r>
              <a:rPr lang="en-US" dirty="0"/>
              <a:t> Select a location to save the project.</a:t>
            </a:r>
            <a:endParaRPr lang="en-US" dirty="0"/>
          </a:p>
          <a:p>
            <a:r>
              <a:rPr lang="en-US" dirty="0"/>
              <a:t>We can save the newly created project at desired memory location or can keep file location as it is but </a:t>
            </a:r>
            <a:r>
              <a:rPr lang="en-US" dirty="0" err="1"/>
              <a:t>atleast</a:t>
            </a:r>
            <a:r>
              <a:rPr lang="en-US" dirty="0"/>
              <a:t> change the project default name </a:t>
            </a:r>
            <a:r>
              <a:rPr lang="en-US" b="1" dirty="0"/>
              <a:t>untitled</a:t>
            </a:r>
            <a:r>
              <a:rPr lang="en-US" dirty="0"/>
              <a:t> to </a:t>
            </a:r>
            <a:r>
              <a:rPr lang="en-US" b="1" dirty="0"/>
              <a:t>"</a:t>
            </a:r>
            <a:r>
              <a:rPr lang="en-US" b="1" dirty="0" err="1"/>
              <a:t>FirstProject</a:t>
            </a:r>
            <a:r>
              <a:rPr lang="en-US" b="1" dirty="0"/>
              <a:t>"</a:t>
            </a:r>
            <a:r>
              <a:rPr lang="en-US" dirty="0"/>
              <a:t> or something meaningful.</a:t>
            </a:r>
            <a:endParaRPr lang="en-US" dirty="0"/>
          </a:p>
          <a:p>
            <a:r>
              <a:rPr lang="en-US" dirty="0" err="1"/>
              <a:t>Pycharm</a:t>
            </a:r>
            <a:r>
              <a:rPr lang="en-US" dirty="0"/>
              <a:t> automatically found the installed Python interpreter.</a:t>
            </a:r>
            <a:endParaRPr lang="en-US" dirty="0"/>
          </a:p>
          <a:p>
            <a:r>
              <a:rPr lang="en-US" dirty="0"/>
              <a:t>After change the name click on the "Create" Button.</a:t>
            </a:r>
            <a:endParaRPr lang="en-US" dirty="0"/>
          </a:p>
          <a:p>
            <a:r>
              <a:rPr lang="en-US" b="1" dirty="0"/>
              <a:t>Step - 3.</a:t>
            </a:r>
            <a:r>
              <a:rPr lang="en-US" dirty="0"/>
              <a:t> Click on "</a:t>
            </a:r>
            <a:r>
              <a:rPr lang="en-US" b="1" dirty="0"/>
              <a:t>File"</a:t>
            </a:r>
            <a:r>
              <a:rPr lang="en-US" dirty="0"/>
              <a:t> menu and select </a:t>
            </a:r>
            <a:r>
              <a:rPr lang="en-US" b="1" dirty="0"/>
              <a:t>"New"</a:t>
            </a:r>
            <a:r>
              <a:rPr lang="en-US" dirty="0"/>
              <a:t>. By clicking "New" option it will show various file formats. Select the "Python File".</a:t>
            </a:r>
            <a:endParaRPr lang="en-US" dirty="0"/>
          </a:p>
          <a:p>
            <a:r>
              <a:rPr lang="en-US" b="1" dirty="0"/>
              <a:t>Step - 4.</a:t>
            </a:r>
            <a:r>
              <a:rPr lang="en-US" dirty="0"/>
              <a:t> Now type the name of the Python file and click on "OK". We have written the "</a:t>
            </a:r>
            <a:r>
              <a:rPr lang="en-US" dirty="0" err="1"/>
              <a:t>FirstProgram</a:t>
            </a:r>
            <a:r>
              <a:rPr lang="en-US" dirty="0"/>
              <a:t>".</a:t>
            </a:r>
            <a:endParaRPr lang="en-US" dirty="0"/>
          </a:p>
          <a:p>
            <a:endParaRPr lang="en-IN" dirty="0"/>
          </a:p>
        </p:txBody>
      </p:sp>
    </p:spTree>
  </p:cSld>
  <p:clrMapOvr>
    <a:masterClrMapping/>
  </p:clrMapOvr>
</p:sld>
</file>

<file path=ppt/theme/theme1.xml><?xml version="1.0" encoding="utf-8"?>
<a:theme xmlns:a="http://schemas.openxmlformats.org/drawingml/2006/main" name="Wisp">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0</TotalTime>
  <Words>15195</Words>
  <Application>WPS Presentation</Application>
  <PresentationFormat>Custom</PresentationFormat>
  <Paragraphs>672</Paragraphs>
  <Slides>79</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79</vt:i4>
      </vt:variant>
    </vt:vector>
  </HeadingPairs>
  <TitlesOfParts>
    <vt:vector size="92" baseType="lpstr">
      <vt:lpstr>Arial</vt:lpstr>
      <vt:lpstr>SimSun</vt:lpstr>
      <vt:lpstr>Wingdings</vt:lpstr>
      <vt:lpstr>Wingdings 3</vt:lpstr>
      <vt:lpstr>Arial</vt:lpstr>
      <vt:lpstr>Plantagenet Cherokee</vt:lpstr>
      <vt:lpstr>Segoe Print</vt:lpstr>
      <vt:lpstr>Georgia</vt:lpstr>
      <vt:lpstr>Calibri</vt:lpstr>
      <vt:lpstr>Microsoft YaHei</vt:lpstr>
      <vt:lpstr>Arial Unicode MS</vt:lpstr>
      <vt:lpstr>Century Gothic</vt:lpstr>
      <vt:lpstr>Wisp</vt:lpstr>
      <vt:lpstr>PowerPoint 演示文稿</vt:lpstr>
      <vt:lpstr>Overview</vt:lpstr>
      <vt:lpstr>What is Python???</vt:lpstr>
      <vt:lpstr>History of Python???</vt:lpstr>
      <vt:lpstr>Advantages of Python???</vt:lpstr>
      <vt:lpstr>Who uses Python???</vt:lpstr>
      <vt:lpstr>Software Installation</vt:lpstr>
      <vt:lpstr>Software Installation cont...</vt:lpstr>
      <vt:lpstr>Software Installation cont...</vt:lpstr>
      <vt:lpstr>Basic Syntax</vt:lpstr>
      <vt:lpstr>Basic Syntax</vt:lpstr>
      <vt:lpstr>Read User Input from Keyboard in Python</vt:lpstr>
      <vt:lpstr>Comments</vt:lpstr>
      <vt:lpstr>Single line comment</vt:lpstr>
      <vt:lpstr>Multiline Comment</vt:lpstr>
      <vt:lpstr>Identifier</vt:lpstr>
      <vt:lpstr>Keywords</vt:lpstr>
      <vt:lpstr>Data Types</vt:lpstr>
      <vt:lpstr>Syntax of the data types</vt:lpstr>
      <vt:lpstr>PowerPoint 演示文稿</vt:lpstr>
      <vt:lpstr>PowerPoint 演示文稿</vt:lpstr>
      <vt:lpstr>Variables</vt:lpstr>
      <vt:lpstr>Variable Examples</vt:lpstr>
      <vt:lpstr>Operators</vt:lpstr>
      <vt:lpstr>Arithmetic Operator</vt:lpstr>
      <vt:lpstr>Comparison Operator</vt:lpstr>
      <vt:lpstr>Assignment Operator</vt:lpstr>
      <vt:lpstr>Bitwise Operator</vt:lpstr>
      <vt:lpstr>Logical Operator</vt:lpstr>
      <vt:lpstr>Import statement</vt:lpstr>
      <vt:lpstr> Import statement example</vt:lpstr>
      <vt:lpstr>Decision Making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PyCharm installation</vt:lpstr>
      <vt:lpstr>PyCharm installation</vt:lpstr>
      <vt:lpstr>PyCharm installation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EA-161</dc:creator>
  <cp:lastModifiedBy>krishnaraj narthana</cp:lastModifiedBy>
  <cp:revision>301</cp:revision>
  <dcterms:created xsi:type="dcterms:W3CDTF">2018-02-28T12:07:00Z</dcterms:created>
  <dcterms:modified xsi:type="dcterms:W3CDTF">2026-05-20T07:16:52Z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0CA967774C1E4BBEB4D7380B35859180_13</vt:lpwstr>
  </property>
  <property fmtid="{D5CDD505-2E9C-101B-9397-08002B2CF9AE}" pid="3" name="KSOProductBuildVer">
    <vt:lpwstr>1033-12.1.0.26372</vt:lpwstr>
  </property>
</Properties>
</file>