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6.webp" ContentType="image/webp"/>
  <Override PartName="/ppt/media/image2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AE69FB0-EB5E-4279-9C51-6BCF01B9FBD8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9FB0-EB5E-4279-9C51-6BCF01B9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34EF7B3-9E21-45A1-AD06-65363A10370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AE69FB0-EB5E-4279-9C51-6BCF01B9FB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web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7290" y="3643314"/>
            <a:ext cx="6400800" cy="16002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Learning Outcomes</a:t>
            </a:r>
            <a:endParaRPr lang="en-US" b="1" dirty="0" smtClean="0"/>
          </a:p>
          <a:p>
            <a:r>
              <a:rPr lang="en-US" dirty="0" smtClean="0"/>
              <a:t>Understand network communication </a:t>
            </a:r>
            <a:endParaRPr lang="en-US" dirty="0" smtClean="0"/>
          </a:p>
          <a:p>
            <a:r>
              <a:rPr lang="en-US" dirty="0" smtClean="0"/>
              <a:t>Configure basic network devices </a:t>
            </a:r>
            <a:endParaRPr lang="en-US" dirty="0" smtClean="0"/>
          </a:p>
          <a:p>
            <a:r>
              <a:rPr lang="en-US" dirty="0" smtClean="0"/>
              <a:t>Troubleshoot network issues </a:t>
            </a:r>
            <a:endParaRPr lang="en-US" dirty="0" smtClean="0"/>
          </a:p>
          <a:p>
            <a:r>
              <a:rPr lang="en-US" dirty="0" smtClean="0"/>
              <a:t>Implement network security basics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1500174"/>
            <a:ext cx="8229600" cy="1470025"/>
          </a:xfrm>
        </p:spPr>
        <p:txBody>
          <a:bodyPr>
            <a:normAutofit/>
          </a:bodyPr>
          <a:lstStyle/>
          <a:p>
            <a:r>
              <a:rPr sz="2000" b="1" smtClean="0"/>
              <a:t>Introduction to </a:t>
            </a:r>
            <a:r>
              <a:rPr sz="2000" b="1" smtClean="0"/>
              <a:t>CCNA By Elysium Academy</a:t>
            </a:r>
            <a:br>
              <a:rPr sz="1600" b="1" smtClean="0"/>
            </a:br>
            <a:r>
              <a:rPr sz="1600" smtClean="0"/>
              <a:t>What is CCNA ?</a:t>
            </a:r>
            <a:br>
              <a:rPr sz="1600" smtClean="0"/>
            </a:br>
            <a:r>
              <a:rPr sz="1600" smtClean="0"/>
              <a:t>Entry - level </a:t>
            </a:r>
            <a:r>
              <a:rPr sz="1600" smtClean="0"/>
              <a:t>networking certification Covers networking fundamentals Introduces </a:t>
            </a:r>
            <a:r>
              <a:rPr sz="1600" smtClean="0"/>
              <a:t>routing , switching , security , and </a:t>
            </a:r>
            <a:r>
              <a:rPr sz="1600" smtClean="0"/>
              <a:t>automation </a:t>
            </a:r>
            <a:r>
              <a:rPr sz="1600" smtClean="0"/>
              <a:t>Industry - recognized </a:t>
            </a:r>
            <a:r>
              <a:rPr sz="1600" smtClean="0"/>
              <a:t>networking foundation</a:t>
            </a:r>
            <a:br>
              <a:rPr sz="1600" smtClean="0"/>
            </a:b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smtClean="0"/>
              <a:t>Networking 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943880" cy="4695844"/>
          </a:xfrm>
        </p:spPr>
        <p:txBody>
          <a:bodyPr/>
          <a:lstStyle/>
          <a:p>
            <a:r>
              <a:rPr lang="en-US" b="1" dirty="0" smtClean="0"/>
              <a:t>Definition</a:t>
            </a:r>
            <a:endParaRPr lang="en-US" b="1" dirty="0" smtClean="0"/>
          </a:p>
          <a:p>
            <a:r>
              <a:rPr lang="en-US" dirty="0" smtClean="0"/>
              <a:t>Networking is the process of connecting devices to share resources and information.</a:t>
            </a:r>
            <a:endParaRPr lang="en-US" dirty="0" smtClean="0"/>
          </a:p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Communication </a:t>
            </a:r>
            <a:endParaRPr lang="en-US" dirty="0" smtClean="0"/>
          </a:p>
          <a:p>
            <a:r>
              <a:rPr lang="en-US" dirty="0" smtClean="0"/>
              <a:t>Resource Sharing </a:t>
            </a:r>
            <a:endParaRPr lang="en-US" dirty="0" smtClean="0"/>
          </a:p>
          <a:p>
            <a:r>
              <a:rPr lang="en-US" dirty="0" smtClean="0"/>
              <a:t>Internet Access </a:t>
            </a:r>
            <a:endParaRPr lang="en-US" dirty="0" smtClean="0"/>
          </a:p>
          <a:p>
            <a:r>
              <a:rPr lang="en-US" dirty="0" smtClean="0"/>
              <a:t>Data Transfer </a:t>
            </a:r>
            <a:endParaRPr lang="en-US" dirty="0" smtClean="0"/>
          </a:p>
          <a:p>
            <a:r>
              <a:rPr lang="en-US" dirty="0" smtClean="0"/>
              <a:t>Centralized </a:t>
            </a:r>
            <a:r>
              <a:rPr lang="en-US" dirty="0" smtClean="0"/>
              <a:t>Management</a:t>
            </a:r>
            <a:endParaRPr lang="en-US" dirty="0" smtClean="0"/>
          </a:p>
        </p:txBody>
      </p:sp>
      <p:pic>
        <p:nvPicPr>
          <p:cNvPr id="1026" name="Picture 2" descr="9 Different Types of Computer Networks - LAN, WAN, Etc.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857752" y="2714620"/>
            <a:ext cx="3286148" cy="32147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LAN</a:t>
            </a:r>
            <a:endParaRPr lang="en-US" b="1" dirty="0" smtClean="0"/>
          </a:p>
          <a:p>
            <a:r>
              <a:rPr lang="en-US" dirty="0" smtClean="0"/>
              <a:t>Local Area </a:t>
            </a:r>
            <a:r>
              <a:rPr lang="en-US" dirty="0" smtClean="0"/>
              <a:t>Network</a:t>
            </a:r>
            <a:endParaRPr lang="en-US" dirty="0" smtClean="0"/>
          </a:p>
          <a:p>
            <a:r>
              <a:rPr lang="en-US" b="1" dirty="0" smtClean="0"/>
              <a:t>WAN</a:t>
            </a:r>
            <a:endParaRPr lang="en-US" b="1" dirty="0" smtClean="0"/>
          </a:p>
          <a:p>
            <a:r>
              <a:rPr lang="en-US" dirty="0" smtClean="0"/>
              <a:t>Wide Area Network</a:t>
            </a:r>
            <a:endParaRPr lang="en-US" dirty="0" smtClean="0"/>
          </a:p>
          <a:p>
            <a:r>
              <a:rPr lang="en-US" b="1" dirty="0" smtClean="0"/>
              <a:t>MAN</a:t>
            </a:r>
            <a:endParaRPr lang="en-US" b="1" dirty="0" smtClean="0"/>
          </a:p>
          <a:p>
            <a:r>
              <a:rPr lang="en-US" dirty="0" smtClean="0"/>
              <a:t>Metropolitan Area Network</a:t>
            </a:r>
            <a:endParaRPr lang="en-US" dirty="0" smtClean="0"/>
          </a:p>
          <a:p>
            <a:r>
              <a:rPr lang="en-US" b="1" dirty="0" smtClean="0"/>
              <a:t>WLAN</a:t>
            </a:r>
            <a:endParaRPr lang="en-US" b="1" dirty="0" smtClean="0"/>
          </a:p>
          <a:p>
            <a:r>
              <a:rPr lang="en-US" dirty="0" smtClean="0"/>
              <a:t>Wireless Local Area </a:t>
            </a:r>
            <a:r>
              <a:rPr lang="en-US" dirty="0" smtClean="0"/>
              <a:t>Network</a:t>
            </a:r>
            <a:endParaRPr lang="en-US" dirty="0" smtClean="0"/>
          </a:p>
        </p:txBody>
      </p:sp>
      <p:pic>
        <p:nvPicPr>
          <p:cNvPr id="15362" name="Picture 2" descr="WAN vs LAN: What's the Difference? – VCELINK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14876" y="1785926"/>
            <a:ext cx="4191029" cy="23574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Devices</a:t>
            </a:r>
            <a:endParaRPr lang="en-US" b="1" dirty="0" smtClean="0"/>
          </a:p>
          <a:p>
            <a:r>
              <a:rPr lang="en-US" dirty="0" smtClean="0"/>
              <a:t>Router </a:t>
            </a:r>
            <a:endParaRPr lang="en-US" dirty="0" smtClean="0"/>
          </a:p>
          <a:p>
            <a:r>
              <a:rPr lang="en-US" dirty="0" smtClean="0"/>
              <a:t>Switch </a:t>
            </a:r>
            <a:endParaRPr lang="en-US" dirty="0" smtClean="0"/>
          </a:p>
          <a:p>
            <a:r>
              <a:rPr lang="en-US" dirty="0" smtClean="0"/>
              <a:t>Firewall </a:t>
            </a:r>
            <a:endParaRPr lang="en-US" dirty="0" smtClean="0"/>
          </a:p>
          <a:p>
            <a:r>
              <a:rPr lang="en-US" dirty="0" smtClean="0"/>
              <a:t>Access Point </a:t>
            </a:r>
            <a:endParaRPr lang="en-US" dirty="0" smtClean="0"/>
          </a:p>
          <a:p>
            <a:r>
              <a:rPr lang="en-US" dirty="0" smtClean="0"/>
              <a:t>Server </a:t>
            </a:r>
            <a:endParaRPr lang="en-US" dirty="0" smtClean="0"/>
          </a:p>
          <a:p>
            <a:r>
              <a:rPr lang="en-US" dirty="0" smtClean="0"/>
              <a:t>End Devices </a:t>
            </a:r>
            <a:endParaRPr lang="en-US" dirty="0" smtClean="0"/>
          </a:p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Enable communication between network devices.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572000" y="1357298"/>
            <a:ext cx="3786214" cy="3797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OSI Model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Seven </a:t>
            </a:r>
            <a:r>
              <a:rPr lang="en-US" b="1" dirty="0" smtClean="0"/>
              <a:t>Layers</a:t>
            </a:r>
            <a:endParaRPr lang="en-US" b="1" dirty="0" smtClean="0"/>
          </a:p>
          <a:p>
            <a:r>
              <a:rPr lang="en-US" dirty="0" smtClean="0"/>
              <a:t>Physical </a:t>
            </a:r>
            <a:endParaRPr lang="en-US" dirty="0" smtClean="0"/>
          </a:p>
          <a:p>
            <a:r>
              <a:rPr lang="en-US" dirty="0" smtClean="0"/>
              <a:t>Data Link </a:t>
            </a:r>
            <a:endParaRPr lang="en-US" dirty="0" smtClean="0"/>
          </a:p>
          <a:p>
            <a:r>
              <a:rPr lang="en-US" dirty="0" smtClean="0"/>
              <a:t>Network </a:t>
            </a:r>
            <a:endParaRPr lang="en-US" dirty="0" smtClean="0"/>
          </a:p>
          <a:p>
            <a:r>
              <a:rPr lang="en-US" dirty="0" smtClean="0"/>
              <a:t>Transport </a:t>
            </a:r>
            <a:endParaRPr lang="en-US" dirty="0" smtClean="0"/>
          </a:p>
          <a:p>
            <a:r>
              <a:rPr lang="en-US" dirty="0" smtClean="0"/>
              <a:t>Session </a:t>
            </a:r>
            <a:endParaRPr lang="en-US" dirty="0" smtClean="0"/>
          </a:p>
          <a:p>
            <a:r>
              <a:rPr lang="en-US" dirty="0" smtClean="0"/>
              <a:t>Presentation </a:t>
            </a:r>
            <a:endParaRPr lang="en-US" dirty="0" smtClean="0"/>
          </a:p>
          <a:p>
            <a:r>
              <a:rPr lang="en-US" dirty="0" smtClean="0"/>
              <a:t>Application</a:t>
            </a:r>
            <a:endParaRPr lang="en-US" dirty="0" smtClean="0"/>
          </a:p>
        </p:txBody>
      </p:sp>
      <p:pic>
        <p:nvPicPr>
          <p:cNvPr id="17410" name="Picture 2" descr="The OSI Model: A Guide to Understanding Data Transfer Across Networks | by  nishanthan-k | Medium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071934" y="1342567"/>
            <a:ext cx="4071966" cy="45962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TCP/IP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Layers</a:t>
            </a:r>
            <a:endParaRPr lang="en-US" b="1" dirty="0" smtClean="0"/>
          </a:p>
          <a:p>
            <a:r>
              <a:rPr lang="en-US" dirty="0" smtClean="0"/>
              <a:t>Network Access </a:t>
            </a:r>
            <a:endParaRPr lang="en-US" dirty="0" smtClean="0"/>
          </a:p>
          <a:p>
            <a:r>
              <a:rPr lang="en-US" dirty="0" smtClean="0"/>
              <a:t>Internet </a:t>
            </a:r>
            <a:endParaRPr lang="en-US" dirty="0" smtClean="0"/>
          </a:p>
          <a:p>
            <a:r>
              <a:rPr lang="en-US" dirty="0" smtClean="0"/>
              <a:t>Transport </a:t>
            </a:r>
            <a:endParaRPr lang="en-US" dirty="0" smtClean="0"/>
          </a:p>
          <a:p>
            <a:r>
              <a:rPr lang="en-US" dirty="0" smtClean="0"/>
              <a:t>Application </a:t>
            </a:r>
            <a:endParaRPr lang="en-US" dirty="0" smtClean="0"/>
          </a:p>
          <a:p>
            <a:r>
              <a:rPr lang="en-US" b="1" dirty="0" smtClean="0"/>
              <a:t>Importance</a:t>
            </a:r>
            <a:endParaRPr lang="en-US" b="1" dirty="0" smtClean="0"/>
          </a:p>
          <a:p>
            <a:r>
              <a:rPr lang="en-US" dirty="0" smtClean="0"/>
              <a:t>Foundation of Internet communication. </a:t>
            </a:r>
            <a:endParaRPr lang="en-US" dirty="0" smtClean="0"/>
          </a:p>
        </p:txBody>
      </p:sp>
      <p:pic>
        <p:nvPicPr>
          <p:cNvPr id="18434" name="Picture 2" descr="OSI and TCP/IP Model. Notes and explanations of the OSI and… | by Erin |  Medium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571868" y="1571612"/>
            <a:ext cx="4748274" cy="26432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Encapsulation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Process</a:t>
            </a:r>
            <a:endParaRPr lang="en-US" b="1" dirty="0" smtClean="0"/>
          </a:p>
          <a:p>
            <a:r>
              <a:rPr lang="en-US" dirty="0" smtClean="0"/>
              <a:t>Data </a:t>
            </a:r>
            <a:endParaRPr lang="en-US" dirty="0" smtClean="0"/>
          </a:p>
          <a:p>
            <a:r>
              <a:rPr lang="en-US" dirty="0" smtClean="0"/>
              <a:t>Segment </a:t>
            </a:r>
            <a:r>
              <a:rPr lang="en-US" dirty="0" smtClean="0"/>
              <a:t> </a:t>
            </a:r>
            <a:endParaRPr lang="en-US" dirty="0" smtClean="0"/>
          </a:p>
          <a:p>
            <a:r>
              <a:rPr lang="en-US" dirty="0" smtClean="0"/>
              <a:t>Packet </a:t>
            </a:r>
            <a:endParaRPr lang="en-US" dirty="0" smtClean="0"/>
          </a:p>
          <a:p>
            <a:r>
              <a:rPr lang="en-US" dirty="0" smtClean="0"/>
              <a:t>Frame </a:t>
            </a:r>
            <a:endParaRPr lang="en-US" dirty="0" smtClean="0"/>
          </a:p>
          <a:p>
            <a:r>
              <a:rPr lang="en-US" dirty="0" smtClean="0"/>
              <a:t>Bits </a:t>
            </a:r>
            <a:endParaRPr lang="en-US" dirty="0" smtClean="0"/>
          </a:p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Allows data transmission across </a:t>
            </a:r>
            <a:r>
              <a:rPr lang="en-US" dirty="0" smtClean="0"/>
              <a:t>networks .</a:t>
            </a:r>
            <a:endParaRPr lang="en-US" dirty="0" smtClean="0"/>
          </a:p>
        </p:txBody>
      </p:sp>
      <p:pic>
        <p:nvPicPr>
          <p:cNvPr id="19458" name="Picture 2" descr="What is Data Encapsulation and de-encapsulation in networking? -  GeeksforGeeks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786182" y="1357298"/>
            <a:ext cx="3987797" cy="33654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Topologies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Types</a:t>
            </a:r>
            <a:endParaRPr lang="en-US" b="1" dirty="0" smtClean="0"/>
          </a:p>
          <a:p>
            <a:r>
              <a:rPr lang="en-US" dirty="0" smtClean="0"/>
              <a:t>Star </a:t>
            </a:r>
            <a:endParaRPr lang="en-US" dirty="0" smtClean="0"/>
          </a:p>
          <a:p>
            <a:r>
              <a:rPr lang="en-US" dirty="0" smtClean="0"/>
              <a:t>Bus </a:t>
            </a:r>
            <a:endParaRPr lang="en-US" dirty="0" smtClean="0"/>
          </a:p>
          <a:p>
            <a:r>
              <a:rPr lang="en-US" dirty="0" smtClean="0"/>
              <a:t>Ring </a:t>
            </a:r>
            <a:endParaRPr lang="en-US" dirty="0" smtClean="0"/>
          </a:p>
          <a:p>
            <a:r>
              <a:rPr lang="en-US" dirty="0" smtClean="0"/>
              <a:t>Mesh </a:t>
            </a:r>
            <a:endParaRPr lang="en-US" dirty="0" smtClean="0"/>
          </a:p>
          <a:p>
            <a:r>
              <a:rPr lang="en-US" dirty="0" smtClean="0"/>
              <a:t>Hybrid </a:t>
            </a:r>
            <a:endParaRPr lang="en-US" dirty="0" smtClean="0"/>
          </a:p>
          <a:p>
            <a:r>
              <a:rPr lang="en-US" b="1" dirty="0" smtClean="0"/>
              <a:t>Comparison</a:t>
            </a:r>
            <a:endParaRPr lang="en-US" b="1" dirty="0" smtClean="0"/>
          </a:p>
          <a:p>
            <a:r>
              <a:rPr lang="en-US" dirty="0" smtClean="0"/>
              <a:t>Advantages and disadvantages of each topology</a:t>
            </a:r>
            <a:r>
              <a:rPr lang="en-US" dirty="0" smtClean="0"/>
              <a:t>.</a:t>
            </a:r>
            <a:endParaRPr lang="en-US" dirty="0" smtClean="0"/>
          </a:p>
        </p:txBody>
      </p:sp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571868" y="1928802"/>
            <a:ext cx="4207243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Features</a:t>
            </a:r>
            <a:endParaRPr lang="en-US" b="1" dirty="0" smtClean="0"/>
          </a:p>
          <a:p>
            <a:r>
              <a:rPr lang="en-US" dirty="0" smtClean="0"/>
              <a:t>Most common LAN technology </a:t>
            </a:r>
            <a:endParaRPr lang="en-US" dirty="0" smtClean="0"/>
          </a:p>
          <a:p>
            <a:r>
              <a:rPr lang="en-US" dirty="0" smtClean="0"/>
              <a:t>Uses MAC addresses </a:t>
            </a:r>
            <a:endParaRPr lang="en-US" dirty="0" smtClean="0"/>
          </a:p>
          <a:p>
            <a:r>
              <a:rPr lang="en-US" dirty="0" smtClean="0"/>
              <a:t>Supports high-speed communication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21506" name="Picture 2" descr="Introduction of Gigabit Ethernet - GeeksforGeeks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28728" y="3357562"/>
            <a:ext cx="5872077" cy="30718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Definition</a:t>
            </a:r>
            <a:endParaRPr lang="en-US" b="1" dirty="0" smtClean="0"/>
          </a:p>
          <a:p>
            <a:r>
              <a:rPr lang="en-US" dirty="0" smtClean="0"/>
              <a:t>Unique hardware address assigned to network interfaces.</a:t>
            </a:r>
            <a:endParaRPr lang="en-US" dirty="0" smtClean="0"/>
          </a:p>
          <a:p>
            <a:r>
              <a:rPr lang="en-US" b="1" dirty="0" smtClean="0"/>
              <a:t>Functions</a:t>
            </a:r>
            <a:endParaRPr lang="en-US" b="1" dirty="0" smtClean="0"/>
          </a:p>
          <a:p>
            <a:r>
              <a:rPr lang="en-US" dirty="0" smtClean="0"/>
              <a:t>Device Identification </a:t>
            </a:r>
            <a:endParaRPr lang="en-US" dirty="0" smtClean="0"/>
          </a:p>
          <a:p>
            <a:r>
              <a:rPr lang="en-US" dirty="0" smtClean="0"/>
              <a:t>Frame Forwarding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22530" name="Picture 2" descr="What is MAC Address? Types, Uses &amp; How to Find It (2026)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85918" y="3714752"/>
            <a:ext cx="4762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IP </a:t>
            </a:r>
            <a:r>
              <a:rPr lang="en-US" b="1" dirty="0" smtClean="0"/>
              <a:t>Addressing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IPv4</a:t>
            </a:r>
            <a:endParaRPr lang="en-US" b="1" dirty="0" smtClean="0"/>
          </a:p>
          <a:p>
            <a:r>
              <a:rPr lang="en-US" dirty="0" smtClean="0"/>
              <a:t>32-bit address </a:t>
            </a:r>
            <a:endParaRPr lang="en-US" dirty="0" smtClean="0"/>
          </a:p>
          <a:p>
            <a:r>
              <a:rPr lang="en-US" dirty="0" smtClean="0"/>
              <a:t>Example: 192.168.1.1 </a:t>
            </a:r>
            <a:endParaRPr lang="en-US" dirty="0" smtClean="0"/>
          </a:p>
          <a:p>
            <a:r>
              <a:rPr lang="en-US" b="1" dirty="0" smtClean="0"/>
              <a:t>IPv6</a:t>
            </a:r>
            <a:endParaRPr lang="en-US" b="1" dirty="0" smtClean="0"/>
          </a:p>
          <a:p>
            <a:r>
              <a:rPr lang="en-US" dirty="0" smtClean="0"/>
              <a:t>128-bit address </a:t>
            </a:r>
            <a:endParaRPr lang="en-US" dirty="0" smtClean="0"/>
          </a:p>
          <a:p>
            <a:r>
              <a:rPr lang="en-US" dirty="0" smtClean="0"/>
              <a:t>Supports larger address space </a:t>
            </a:r>
            <a:endParaRPr lang="en-US" dirty="0" smtClean="0"/>
          </a:p>
        </p:txBody>
      </p:sp>
      <p:pic>
        <p:nvPicPr>
          <p:cNvPr id="23554" name="Picture 2" descr="Comparing IPv4 and IPv6: What is the Difference Between Them?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929190" y="1571612"/>
            <a:ext cx="3714776" cy="31140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Subnetting</a:t>
            </a:r>
            <a:r>
              <a:rPr lang="en-US" dirty="0" smtClean="0"/>
              <a:t>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Efficient IP allocation </a:t>
            </a:r>
            <a:endParaRPr lang="en-US" dirty="0" smtClean="0"/>
          </a:p>
          <a:p>
            <a:r>
              <a:rPr lang="en-US" dirty="0" smtClean="0"/>
              <a:t>Reduced broadcast traffic </a:t>
            </a:r>
            <a:endParaRPr lang="en-US" dirty="0" smtClean="0"/>
          </a:p>
          <a:p>
            <a:r>
              <a:rPr lang="en-US" dirty="0" smtClean="0"/>
              <a:t>Better security </a:t>
            </a:r>
            <a:endParaRPr lang="en-US" dirty="0" smtClean="0"/>
          </a:p>
          <a:p>
            <a:r>
              <a:rPr lang="en-US" b="1" dirty="0" smtClean="0"/>
              <a:t>Key Terms</a:t>
            </a:r>
            <a:endParaRPr lang="en-US" b="1" dirty="0" smtClean="0"/>
          </a:p>
          <a:p>
            <a:r>
              <a:rPr lang="en-US" dirty="0" smtClean="0"/>
              <a:t>Network ID </a:t>
            </a:r>
            <a:endParaRPr lang="en-US" dirty="0" smtClean="0"/>
          </a:p>
          <a:p>
            <a:r>
              <a:rPr lang="en-US" dirty="0" smtClean="0"/>
              <a:t>Host ID </a:t>
            </a:r>
            <a:endParaRPr lang="en-US" dirty="0" smtClean="0"/>
          </a:p>
          <a:p>
            <a:r>
              <a:rPr lang="en-US" dirty="0" smtClean="0"/>
              <a:t>Subnet Mask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24578" name="Picture 2" descr="VLAN vs Subnet - What's the difference?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643438" y="2357430"/>
            <a:ext cx="4000528" cy="24003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CIDR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228972" cy="412434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Examples</a:t>
            </a:r>
            <a:endParaRPr lang="en-US" b="1" dirty="0" smtClean="0"/>
          </a:p>
          <a:p>
            <a:r>
              <a:rPr lang="en-US" dirty="0" smtClean="0"/>
              <a:t>/24 </a:t>
            </a:r>
            <a:endParaRPr lang="en-US" dirty="0" smtClean="0"/>
          </a:p>
          <a:p>
            <a:r>
              <a:rPr lang="en-US" dirty="0" smtClean="0"/>
              <a:t>/16 </a:t>
            </a:r>
            <a:endParaRPr lang="en-US" dirty="0" smtClean="0"/>
          </a:p>
          <a:p>
            <a:r>
              <a:rPr lang="en-US" dirty="0" smtClean="0"/>
              <a:t>/30 </a:t>
            </a:r>
            <a:endParaRPr lang="en-US" dirty="0" smtClean="0"/>
          </a:p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Flexible IP allocation </a:t>
            </a:r>
            <a:endParaRPr lang="en-US" dirty="0" smtClean="0"/>
          </a:p>
          <a:p>
            <a:r>
              <a:rPr lang="en-US" dirty="0" smtClean="0"/>
              <a:t>Route </a:t>
            </a:r>
            <a:r>
              <a:rPr lang="en-US" dirty="0" smtClean="0"/>
              <a:t>summarization</a:t>
            </a:r>
            <a:endParaRPr lang="en-US" dirty="0" smtClean="0"/>
          </a:p>
          <a:p>
            <a:r>
              <a:rPr lang="en-US" dirty="0" smtClean="0"/>
              <a:t>Class - full or Classless inter domain routing 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14876" y="714356"/>
            <a:ext cx="2857520" cy="4952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Router Functions</a:t>
            </a:r>
            <a:endParaRPr lang="en-US" b="1" dirty="0" smtClean="0"/>
          </a:p>
          <a:p>
            <a:r>
              <a:rPr lang="en-US" dirty="0" smtClean="0"/>
              <a:t>Forward packets </a:t>
            </a:r>
            <a:endParaRPr lang="en-US" dirty="0" smtClean="0"/>
          </a:p>
          <a:p>
            <a:r>
              <a:rPr lang="en-US" dirty="0" smtClean="0"/>
              <a:t>Determine best path </a:t>
            </a:r>
            <a:endParaRPr lang="en-US" dirty="0" smtClean="0"/>
          </a:p>
          <a:p>
            <a:r>
              <a:rPr lang="en-US" dirty="0" smtClean="0"/>
              <a:t>Connect multiple networks 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26626" name="Picture 2" descr="Packet flow in different Network - GeeksforGeeks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14546" y="3500438"/>
            <a:ext cx="4286280" cy="26647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Routing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Characteristics</a:t>
            </a:r>
            <a:endParaRPr lang="en-US" b="1" dirty="0" smtClean="0"/>
          </a:p>
          <a:p>
            <a:r>
              <a:rPr lang="en-US" dirty="0" smtClean="0"/>
              <a:t>Manually configured </a:t>
            </a:r>
            <a:endParaRPr lang="en-US" dirty="0" smtClean="0"/>
          </a:p>
          <a:p>
            <a:r>
              <a:rPr lang="en-US" dirty="0" smtClean="0"/>
              <a:t>Predictable routing </a:t>
            </a:r>
            <a:endParaRPr lang="en-US" dirty="0" smtClean="0"/>
          </a:p>
          <a:p>
            <a:r>
              <a:rPr lang="en-US" dirty="0" smtClean="0"/>
              <a:t>Suitable for small </a:t>
            </a:r>
            <a:r>
              <a:rPr lang="en-US" dirty="0" smtClean="0"/>
              <a:t>networks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27650" name="Picture 2" descr="Static Routing Configuration Guide with Examples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86314" y="928670"/>
            <a:ext cx="3529966" cy="49095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Routing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Automatic route updates </a:t>
            </a:r>
            <a:endParaRPr lang="en-US" dirty="0" smtClean="0"/>
          </a:p>
          <a:p>
            <a:r>
              <a:rPr lang="en-US" dirty="0" smtClean="0"/>
              <a:t>Scalable </a:t>
            </a:r>
            <a:endParaRPr lang="en-US" dirty="0" smtClean="0"/>
          </a:p>
          <a:p>
            <a:r>
              <a:rPr lang="en-US" dirty="0" smtClean="0"/>
              <a:t>Efficient path selection </a:t>
            </a:r>
            <a:endParaRPr lang="en-US" dirty="0" smtClean="0"/>
          </a:p>
          <a:p>
            <a:r>
              <a:rPr lang="en-US" b="1" dirty="0" smtClean="0"/>
              <a:t>Examples</a:t>
            </a:r>
            <a:endParaRPr lang="en-US" b="1" dirty="0" smtClean="0"/>
          </a:p>
          <a:p>
            <a:r>
              <a:rPr lang="en-US" dirty="0" smtClean="0"/>
              <a:t>OSPF </a:t>
            </a:r>
            <a:endParaRPr lang="en-US" dirty="0" smtClean="0"/>
          </a:p>
          <a:p>
            <a:r>
              <a:rPr lang="en-US" dirty="0" smtClean="0"/>
              <a:t>RIP </a:t>
            </a:r>
            <a:endParaRPr lang="en-US" dirty="0" smtClean="0"/>
          </a:p>
          <a:p>
            <a:r>
              <a:rPr lang="en-US" dirty="0" smtClean="0"/>
              <a:t>EIGRP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29698" name="Picture 2" descr="EIGRP Dynamic Routing or Summary Static Routes - Michael McNamara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214810" y="2428868"/>
            <a:ext cx="4500594" cy="2993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OSPF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Features</a:t>
            </a:r>
            <a:endParaRPr lang="en-US" b="1" dirty="0" smtClean="0"/>
          </a:p>
          <a:p>
            <a:r>
              <a:rPr lang="en-US" dirty="0" smtClean="0"/>
              <a:t>Link-state protocol </a:t>
            </a:r>
            <a:endParaRPr lang="en-US" dirty="0" smtClean="0"/>
          </a:p>
          <a:p>
            <a:r>
              <a:rPr lang="en-US" dirty="0" smtClean="0"/>
              <a:t>Fast convergence </a:t>
            </a:r>
            <a:endParaRPr lang="en-US" dirty="0" smtClean="0"/>
          </a:p>
          <a:p>
            <a:r>
              <a:rPr lang="en-US" dirty="0" smtClean="0"/>
              <a:t>Widely used in enterprises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30722" name="Picture 2" descr="OSPF Part IV | CCNA Blo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57356" y="3357562"/>
            <a:ext cx="5383667" cy="31749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Switching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Functions</a:t>
            </a:r>
            <a:endParaRPr lang="en-US" b="1" dirty="0" smtClean="0"/>
          </a:p>
          <a:p>
            <a:r>
              <a:rPr lang="en-US" dirty="0" smtClean="0"/>
              <a:t>Learn MAC addresses </a:t>
            </a:r>
            <a:endParaRPr lang="en-US" dirty="0" smtClean="0"/>
          </a:p>
          <a:p>
            <a:r>
              <a:rPr lang="en-US" dirty="0" smtClean="0"/>
              <a:t>Forward frames </a:t>
            </a:r>
            <a:endParaRPr lang="en-US" dirty="0" smtClean="0"/>
          </a:p>
          <a:p>
            <a:r>
              <a:rPr lang="en-US" dirty="0" smtClean="0"/>
              <a:t>Reduce collisions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1746" name="Picture 2" descr="Difference between Hub, Switch and Router - GeeksforGeeks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143372" y="1500174"/>
            <a:ext cx="4057650" cy="4457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VLAN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VLAN</a:t>
            </a:r>
            <a:endParaRPr lang="en-US" b="1" dirty="0" smtClean="0"/>
          </a:p>
          <a:p>
            <a:r>
              <a:rPr lang="en-US" dirty="0" smtClean="0"/>
              <a:t>Virtual Local Area Network</a:t>
            </a:r>
            <a:endParaRPr lang="en-US" dirty="0" smtClean="0"/>
          </a:p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Segmentation </a:t>
            </a:r>
            <a:endParaRPr lang="en-US" dirty="0" smtClean="0"/>
          </a:p>
          <a:p>
            <a:r>
              <a:rPr lang="en-US" dirty="0" smtClean="0"/>
              <a:t>Improved Security </a:t>
            </a:r>
            <a:endParaRPr lang="en-US" dirty="0" smtClean="0"/>
          </a:p>
          <a:p>
            <a:r>
              <a:rPr lang="en-US" dirty="0" smtClean="0"/>
              <a:t>Better Performance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32770" name="Picture 2" descr="12 network segmentation examples + business cybersecurity tips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714876" y="1142984"/>
            <a:ext cx="4071965" cy="40719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Trunking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Carry multiple VLANs across one link.</a:t>
            </a:r>
            <a:endParaRPr lang="en-US" dirty="0" smtClean="0"/>
          </a:p>
          <a:p>
            <a:r>
              <a:rPr lang="en-US" b="1" dirty="0" smtClean="0"/>
              <a:t>Protocol</a:t>
            </a:r>
            <a:endParaRPr lang="en-US" b="1" dirty="0" smtClean="0"/>
          </a:p>
          <a:p>
            <a:r>
              <a:rPr lang="en-US" dirty="0" smtClean="0"/>
              <a:t>IEEE 802.1Q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3794" name="Picture 2" descr="How to configure VLAN Trunk - LEARNABHI.COM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143240" y="2571744"/>
            <a:ext cx="5572164" cy="31291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Spanning Tree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Prevent Layer 2 loops</a:t>
            </a:r>
            <a:endParaRPr lang="en-US" dirty="0" smtClean="0"/>
          </a:p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Network Stability </a:t>
            </a:r>
            <a:endParaRPr lang="en-US" dirty="0" smtClean="0"/>
          </a:p>
          <a:p>
            <a:r>
              <a:rPr lang="en-US" dirty="0" smtClean="0"/>
              <a:t>Redundancy Support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4818" name="Picture 2" descr="How STP prevents Ethernet network loops | Shruti Aggarwal posted on the  topic | LinkedIn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214810" y="1571612"/>
            <a:ext cx="4429156" cy="43796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EtherChannel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Combine multiple physical links into one logical link.</a:t>
            </a:r>
            <a:endParaRPr lang="en-US" dirty="0" smtClean="0"/>
          </a:p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Increased bandwidth </a:t>
            </a:r>
            <a:endParaRPr lang="en-US" dirty="0" smtClean="0"/>
          </a:p>
          <a:p>
            <a:r>
              <a:rPr lang="en-US" dirty="0" smtClean="0"/>
              <a:t>Redundancy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5844" name="Picture 4" descr="EtherChannel - Lesson and Lab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071934" y="2857496"/>
            <a:ext cx="4428920" cy="28831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Wireless Networking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Components</a:t>
            </a:r>
            <a:endParaRPr lang="en-US" b="1" dirty="0" smtClean="0"/>
          </a:p>
          <a:p>
            <a:r>
              <a:rPr lang="en-US" dirty="0" smtClean="0"/>
              <a:t>Access Point </a:t>
            </a:r>
            <a:endParaRPr lang="en-US" dirty="0" smtClean="0"/>
          </a:p>
          <a:p>
            <a:r>
              <a:rPr lang="en-US" dirty="0" smtClean="0"/>
              <a:t>Wireless Clients </a:t>
            </a:r>
            <a:endParaRPr lang="en-US" dirty="0" smtClean="0"/>
          </a:p>
          <a:p>
            <a:r>
              <a:rPr lang="en-US" dirty="0" smtClean="0"/>
              <a:t>SSID </a:t>
            </a:r>
            <a:endParaRPr lang="en-US" dirty="0" smtClean="0"/>
          </a:p>
          <a:p>
            <a:r>
              <a:rPr lang="en-US" b="1" dirty="0" smtClean="0"/>
              <a:t>Benefits</a:t>
            </a:r>
            <a:endParaRPr lang="en-US" b="1" dirty="0" smtClean="0"/>
          </a:p>
          <a:p>
            <a:r>
              <a:rPr lang="en-US" dirty="0" smtClean="0"/>
              <a:t>Mobility </a:t>
            </a:r>
            <a:endParaRPr lang="en-US" dirty="0" smtClean="0"/>
          </a:p>
          <a:p>
            <a:r>
              <a:rPr lang="en-US" dirty="0" smtClean="0"/>
              <a:t>Flexibility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EtherChannel configuration - Cisco Networking Foundations: Switching and  Routi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571868" y="2428868"/>
            <a:ext cx="4876800" cy="27432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Dynamic Host Configuration </a:t>
            </a:r>
            <a:r>
              <a:rPr lang="en-US" dirty="0" smtClean="0"/>
              <a:t>Protocol</a:t>
            </a:r>
            <a:endParaRPr lang="en-US" dirty="0" smtClean="0"/>
          </a:p>
          <a:p>
            <a:r>
              <a:rPr lang="en-US" b="1" dirty="0" smtClean="0"/>
              <a:t>Functions</a:t>
            </a:r>
            <a:endParaRPr lang="en-US" b="1" dirty="0" smtClean="0"/>
          </a:p>
          <a:p>
            <a:r>
              <a:rPr lang="en-US" dirty="0" smtClean="0"/>
              <a:t>Automatic IP assignment </a:t>
            </a:r>
            <a:endParaRPr lang="en-US" dirty="0" smtClean="0"/>
          </a:p>
          <a:p>
            <a:r>
              <a:rPr lang="en-US" dirty="0" smtClean="0"/>
              <a:t>Gateway assignment </a:t>
            </a:r>
            <a:endParaRPr lang="en-US" dirty="0" smtClean="0"/>
          </a:p>
          <a:p>
            <a:r>
              <a:rPr lang="en-US" dirty="0" smtClean="0"/>
              <a:t>DNS assignment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7890" name="Picture 2" descr="Understanding DHCP: How it Works and Its Importance | Md Saiful Alam posted  on the topic | LinkedIn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14876" y="2071678"/>
            <a:ext cx="3746276" cy="32147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4800608" cy="4572000"/>
          </a:xfrm>
        </p:spPr>
        <p:txBody>
          <a:bodyPr/>
          <a:lstStyle/>
          <a:p>
            <a:r>
              <a:rPr lang="en-US" b="1" dirty="0" smtClean="0"/>
              <a:t>Domain Name System</a:t>
            </a:r>
            <a:endParaRPr lang="en-US" b="1" dirty="0" smtClean="0"/>
          </a:p>
          <a:p>
            <a:r>
              <a:rPr lang="en-US" b="1" dirty="0" smtClean="0"/>
              <a:t>Purpose</a:t>
            </a:r>
            <a:endParaRPr lang="en-US" b="1" dirty="0" smtClean="0"/>
          </a:p>
          <a:p>
            <a:r>
              <a:rPr lang="en-US" dirty="0" smtClean="0"/>
              <a:t>Converts domain names into IP addresses.</a:t>
            </a:r>
            <a:endParaRPr lang="en-US" dirty="0" smtClean="0"/>
          </a:p>
          <a:p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dirty="0" smtClean="0"/>
              <a:t>www.example.com → 192.168.1.1</a:t>
            </a: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38914" name="Picture 2" descr="DNS Name Resolution Process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699314" y="1571612"/>
            <a:ext cx="3153882" cy="27146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NAT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en-US" altLang="en-US"/>
              <a:t>Network Address  Translation</a:t>
            </a:r>
            <a:endParaRPr lang="en-US" altLang="en-US"/>
          </a:p>
          <a:p>
            <a:r>
              <a:rPr lang="en-US" altLang="en-US"/>
              <a:t>Benefits</a:t>
            </a:r>
            <a:endParaRPr lang="en-US" altLang="en-US"/>
          </a:p>
          <a:p>
            <a:r>
              <a:rPr lang="en-US" altLang="en-US"/>
              <a:t>Conserves public IP addresses</a:t>
            </a:r>
            <a:endParaRPr lang="en-US" altLang="en-US"/>
          </a:p>
          <a:p>
            <a:r>
              <a:rPr lang="en-US" altLang="en-US"/>
              <a:t>Improves security</a:t>
            </a: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619885" y="3573145"/>
            <a:ext cx="6443980" cy="23799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Access Control Lists ( ACL s 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en-US" altLang="en-US"/>
              <a:t>Purpose</a:t>
            </a:r>
            <a:endParaRPr lang="en-US" altLang="en-US"/>
          </a:p>
          <a:p>
            <a:r>
              <a:rPr lang="en-US" altLang="en-US"/>
              <a:t>Filter network traffic</a:t>
            </a:r>
            <a:endParaRPr lang="en-US" altLang="en-US"/>
          </a:p>
          <a:p>
            <a:r>
              <a:rPr lang="en-US" altLang="en-US"/>
              <a:t>Types</a:t>
            </a:r>
            <a:endParaRPr lang="en-US" altLang="en-US"/>
          </a:p>
          <a:p>
            <a:r>
              <a:rPr lang="en-US" altLang="en-US"/>
              <a:t>Standard ACL</a:t>
            </a:r>
            <a:endParaRPr lang="en-US" altLang="en-US"/>
          </a:p>
          <a:p>
            <a:r>
              <a:rPr lang="en-US" altLang="en-US"/>
              <a:t>Extended ACL</a:t>
            </a: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67075" y="2636520"/>
            <a:ext cx="5173980" cy="26492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Network Security Fundamentals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en-US" altLang="en-US"/>
              <a:t>Threats</a:t>
            </a:r>
            <a:endParaRPr lang="en-US" altLang="en-US"/>
          </a:p>
          <a:p>
            <a:r>
              <a:rPr lang="en-US" altLang="en-US"/>
              <a:t>Malware</a:t>
            </a:r>
            <a:endParaRPr lang="en-US" altLang="en-US"/>
          </a:p>
          <a:p>
            <a:r>
              <a:rPr lang="en-US" altLang="en-US"/>
              <a:t>Phishing</a:t>
            </a:r>
            <a:endParaRPr lang="en-US" altLang="en-US"/>
          </a:p>
          <a:p>
            <a:r>
              <a:rPr lang="en-US" altLang="en-US"/>
              <a:t>Unauthorized Access</a:t>
            </a:r>
            <a:endParaRPr lang="en-US" altLang="en-US"/>
          </a:p>
          <a:p>
            <a:r>
              <a:rPr lang="en-US" altLang="en-US"/>
              <a:t>Protection</a:t>
            </a:r>
            <a:endParaRPr lang="en-US" altLang="en-US"/>
          </a:p>
          <a:p>
            <a:r>
              <a:rPr lang="en-US" altLang="en-US"/>
              <a:t>Firewalls</a:t>
            </a:r>
            <a:endParaRPr lang="en-US" altLang="en-US"/>
          </a:p>
          <a:p>
            <a:r>
              <a:rPr lang="en-US" altLang="en-US"/>
              <a:t>ACLs</a:t>
            </a:r>
            <a:endParaRPr lang="en-US" altLang="en-US"/>
          </a:p>
          <a:p>
            <a:r>
              <a:rPr lang="en-US" altLang="en-US"/>
              <a:t>Authentication</a:t>
            </a: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923665" y="1988820"/>
            <a:ext cx="3619500" cy="34010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Network Automation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en-US" altLang="en-US"/>
              <a:t>Concepts</a:t>
            </a:r>
            <a:endParaRPr lang="en-US" altLang="en-US"/>
          </a:p>
          <a:p>
            <a:r>
              <a:rPr lang="en-US" altLang="en-US"/>
              <a:t>APIs</a:t>
            </a:r>
            <a:endParaRPr lang="en-US" altLang="en-US"/>
          </a:p>
          <a:p>
            <a:r>
              <a:rPr lang="en-US" altLang="en-US"/>
              <a:t>JSON</a:t>
            </a:r>
            <a:endParaRPr lang="en-US" altLang="en-US"/>
          </a:p>
          <a:p>
            <a:r>
              <a:rPr lang="en-US" altLang="en-US"/>
              <a:t>SDN</a:t>
            </a:r>
            <a:endParaRPr lang="en-US" altLang="en-US"/>
          </a:p>
          <a:p>
            <a:r>
              <a:rPr lang="en-US" altLang="en-US"/>
              <a:t>Programmability</a:t>
            </a:r>
            <a:endParaRPr lang="en-US" altLang="en-US"/>
          </a:p>
          <a:p>
            <a:r>
              <a:rPr lang="en-US" altLang="en-US"/>
              <a:t>Benefits</a:t>
            </a:r>
            <a:endParaRPr lang="en-US" altLang="en-US"/>
          </a:p>
          <a:p>
            <a:r>
              <a:rPr lang="en-US" altLang="en-US"/>
              <a:t>Faster deployment</a:t>
            </a:r>
            <a:endParaRPr lang="en-US" altLang="en-US"/>
          </a:p>
          <a:p>
            <a:r>
              <a:rPr lang="en-US" altLang="en-US"/>
              <a:t>Reduced errors</a:t>
            </a: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948430" y="1844675"/>
            <a:ext cx="3728720" cy="40843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Summary &amp; Career Opportunities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Topics Covered</a:t>
            </a:r>
            <a:endParaRPr lang="en-US" altLang="en-US"/>
          </a:p>
          <a:p>
            <a:r>
              <a:rPr lang="en-US" altLang="en-US"/>
              <a:t>Networking Fundamentals</a:t>
            </a:r>
            <a:endParaRPr lang="en-US" altLang="en-US"/>
          </a:p>
          <a:p>
            <a:r>
              <a:rPr lang="en-US" altLang="en-US"/>
              <a:t>IP Addressing</a:t>
            </a:r>
            <a:endParaRPr lang="en-US" altLang="en-US"/>
          </a:p>
          <a:p>
            <a:r>
              <a:rPr lang="en-US" altLang="en-US"/>
              <a:t>Routing</a:t>
            </a:r>
            <a:endParaRPr lang="en-US" altLang="en-US"/>
          </a:p>
          <a:p>
            <a:r>
              <a:rPr lang="en-US" altLang="en-US"/>
              <a:t>Switching</a:t>
            </a:r>
            <a:endParaRPr lang="en-US" altLang="en-US"/>
          </a:p>
          <a:p>
            <a:r>
              <a:rPr lang="en-US" altLang="en-US"/>
              <a:t>Security</a:t>
            </a:r>
            <a:endParaRPr lang="en-US" altLang="en-US"/>
          </a:p>
          <a:p>
            <a:r>
              <a:rPr lang="en-US" altLang="en-US"/>
              <a:t>Wireless</a:t>
            </a:r>
            <a:endParaRPr lang="en-US" altLang="en-US"/>
          </a:p>
          <a:p>
            <a:r>
              <a:rPr lang="en-US" altLang="en-US"/>
              <a:t>Automation</a:t>
            </a:r>
            <a:endParaRPr lang="en-US" altLang="en-US"/>
          </a:p>
          <a:p>
            <a:r>
              <a:rPr lang="en-US" altLang="en-US"/>
              <a:t>Career Roles</a:t>
            </a:r>
            <a:endParaRPr lang="en-US" altLang="en-US"/>
          </a:p>
          <a:p>
            <a:r>
              <a:rPr lang="en-US" altLang="en-US"/>
              <a:t>Network Engineer</a:t>
            </a:r>
            <a:endParaRPr lang="en-US" altLang="en-US"/>
          </a:p>
          <a:p>
            <a:r>
              <a:rPr lang="en-US" altLang="en-US"/>
              <a:t>Network Administrator</a:t>
            </a:r>
            <a:endParaRPr lang="en-US" altLang="en-US"/>
          </a:p>
          <a:p>
            <a:r>
              <a:rPr lang="en-US" altLang="en-US"/>
              <a:t>System Administrator</a:t>
            </a:r>
            <a:endParaRPr lang="en-US" altLang="en-US"/>
          </a:p>
          <a:p>
            <a:r>
              <a:rPr lang="en-US" altLang="en-US"/>
              <a:t>Security Analyst</a:t>
            </a:r>
            <a:endParaRPr lang="en-US" altLang="en-US"/>
          </a:p>
          <a:p>
            <a:r>
              <a:rPr lang="en-US" altLang="en-US"/>
              <a:t>Technical Support Engineer</a:t>
            </a: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7855" y="1412240"/>
            <a:ext cx="3714115" cy="51149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REFERENCES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en-US" altLang="en-US"/>
              <a:t>https://www.google.com/search?q=ccna+tutorial&amp;rlz=1C1CHBD_enIN1039IN1039&amp;oq=CCNA+Tutorial&amp;gs_lcrp=EgZjaHJvbWUqBggAEEUYOzIGCAAQRRg7Mg0IARAAGJECGIAEGIoFMg0IAhAAGJECGIAEGIoFMg0IAxAAGJECGIAEGIoFMgcIBBAAGIAEMggIBRAAGBYYHjIICAYQABgWGB4yCAgHEAAYFhgeMggICBAAGBYYHjIICAkQABgWGB7SAQk1MzEwajBqMTWoAgiwAgHxBYslUQfZedSd8QWLJVEH2XnUnQ&amp;sourceid=chrome&amp;ie=UTF-8</a:t>
            </a:r>
            <a:endParaRPr lang="en-US" altLang="en-US"/>
          </a:p>
          <a:p>
            <a:r>
              <a:rPr lang="en-US" altLang="en-US"/>
              <a:t>notes Notes NOTES ( Notes 1 To Notes 6 ) - https://github.com/Narthana-Elysium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4021</Words>
  <Application>WPS Presentation</Application>
  <PresentationFormat>On-screen Show (4:3)</PresentationFormat>
  <Paragraphs>307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Arial</vt:lpstr>
      <vt:lpstr>SimSun</vt:lpstr>
      <vt:lpstr>Wingdings</vt:lpstr>
      <vt:lpstr>Wingdings 2</vt:lpstr>
      <vt:lpstr>Perpetua</vt:lpstr>
      <vt:lpstr>Franklin Gothic Book</vt:lpstr>
      <vt:lpstr>Microsoft YaHei</vt:lpstr>
      <vt:lpstr>Arial Unicode MS</vt:lpstr>
      <vt:lpstr>Calibri</vt:lpstr>
      <vt:lpstr>Equity</vt:lpstr>
      <vt:lpstr>Introduction to CCNA By Elysium Academy What is CCNA ? Entry - level networking certification Covers networking fundamentals Introduces routing , switching , security , and automation Industry - recognized networking foundation </vt:lpstr>
      <vt:lpstr>What is Networking  ?</vt:lpstr>
      <vt:lpstr>Types of Networks</vt:lpstr>
      <vt:lpstr>Network Components</vt:lpstr>
      <vt:lpstr>OSI Model Overview</vt:lpstr>
      <vt:lpstr>TCP/IP Model</vt:lpstr>
      <vt:lpstr>Data Encapsulation</vt:lpstr>
      <vt:lpstr>Network Topologies</vt:lpstr>
      <vt:lpstr>Ethernet Fundamentals</vt:lpstr>
      <vt:lpstr>MAC Address</vt:lpstr>
      <vt:lpstr>IP Addressing</vt:lpstr>
      <vt:lpstr>Subnetting Basics</vt:lpstr>
      <vt:lpstr>CIDR Notation</vt:lpstr>
      <vt:lpstr>Routing Fundamentals</vt:lpstr>
      <vt:lpstr>Static Routing</vt:lpstr>
      <vt:lpstr>Dynamic Routing</vt:lpstr>
      <vt:lpstr>OSPF Overview</vt:lpstr>
      <vt:lpstr>Switching Fundamentals</vt:lpstr>
      <vt:lpstr>VLAN Concepts</vt:lpstr>
      <vt:lpstr>Trunking</vt:lpstr>
      <vt:lpstr>Spanning Tree Protocol</vt:lpstr>
      <vt:lpstr>EtherChannel</vt:lpstr>
      <vt:lpstr>Wireless Networking</vt:lpstr>
      <vt:lpstr>DHCP</vt:lpstr>
      <vt:lpstr>DNS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135</cp:revision>
  <dcterms:created xsi:type="dcterms:W3CDTF">2026-06-10T12:32:00Z</dcterms:created>
  <dcterms:modified xsi:type="dcterms:W3CDTF">2026-06-10T13:31:04Z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D4E87F08AEAB49808DA2AB60F26A4528_12</vt:lpwstr>
  </property>
  <property fmtid="{D5CDD505-2E9C-101B-9397-08002B2CF9AE}" pid="3" name="KSOProductBuildVer">
    <vt:lpwstr>1033-12.1.0.26880</vt:lpwstr>
  </property>
</Properties>
</file>