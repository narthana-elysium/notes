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5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0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6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83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08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62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61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36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85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94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674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4440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35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614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098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400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53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D5EB39-1845-475F-B8F5-A09A75044C5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0A720-DE0F-4862-B51C-82FB09E52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5844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BA90-76D5-4196-A341-22338BD51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Cloud Computing By Elysium Academy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A43B-87A4-42BC-995F-CD1459CEBF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The Future of Computing and Digital Services</a:t>
            </a:r>
          </a:p>
          <a:p>
            <a:r>
              <a:rPr lang="en-US" b="1" dirty="0"/>
              <a:t>Image Suggestion:</a:t>
            </a:r>
            <a:r>
              <a:rPr lang="en-US" dirty="0"/>
              <a:t> Modern cloud network connecting laptops, mobiles, servers, and databases.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A464DE-6E18-4AEC-8D65-D96ED0823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849" y="2650435"/>
            <a:ext cx="3139936" cy="235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37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D1BF-6840-4001-88A9-58B74893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FFDE-B4EE-40CF-BD8A-02F3A9AF7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5342644" cy="4195481"/>
          </a:xfrm>
        </p:spPr>
        <p:txBody>
          <a:bodyPr/>
          <a:lstStyle/>
          <a:p>
            <a:r>
              <a:rPr lang="en-US" dirty="0"/>
              <a:t>After completing this session, students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Cloud Computing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Cloud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Service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Deployment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Virtualization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Benefits and Challenges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Cloud Security Concepts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Real-world Applications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2FE2666-7A9D-41F6-8EC5-BFB09D8E1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957" y="2565111"/>
            <a:ext cx="4427359" cy="295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08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EF95-57EC-4472-8265-5EE3AD5F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Cloud Computing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9AD3-65C3-4657-BB2D-D32D56019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46" y="1603021"/>
            <a:ext cx="4755622" cy="45607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Cloud Computing is the delivery of computing resources such as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Analytics </a:t>
            </a:r>
          </a:p>
          <a:p>
            <a:r>
              <a:rPr lang="en-US" dirty="0"/>
              <a:t>through the Internet on demand.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Use resources when needed and pay only for usage.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D04D583-A816-4740-8AF5-9C874ACAA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3" y="1853248"/>
            <a:ext cx="5570537" cy="3429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91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B2EE-0772-409D-9F46-26A24CF0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601E0-C5A9-44C8-A175-5C5FC03A3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Traditional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Local Servers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Hardware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Scalability </a:t>
            </a:r>
          </a:p>
          <a:p>
            <a:r>
              <a:rPr lang="en-US" b="1" dirty="0"/>
              <a:t>Cloud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Remote 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On-Demand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Scaling</a:t>
            </a:r>
          </a:p>
        </p:txBody>
      </p:sp>
    </p:spTree>
    <p:extLst>
      <p:ext uri="{BB962C8B-B14F-4D97-AF65-F5344CB8AC3E}">
        <p14:creationId xmlns:p14="http://schemas.microsoft.com/office/powerpoint/2010/main" val="344832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3B80-D5E1-4468-94DF-BFAA1F8D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Cloud Computing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C976-C07F-4065-BBD5-EAEF0D56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use cloud because it offers: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Global Accessibility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Continuity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Availability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480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9502-DBF8-4E56-8825-901F7B1B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Cloud Computing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80E6B-F5D9-4EE9-9FE4-9334A183F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2602" y="1854537"/>
            <a:ext cx="29381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- Demand Self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Broad Network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Resource Pooling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Rapid Elasticity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Measured Service </a:t>
            </a:r>
          </a:p>
        </p:txBody>
      </p:sp>
      <p:pic>
        <p:nvPicPr>
          <p:cNvPr id="4099" name="Picture 3" descr="Characteristics of Cloud Computing - GeeksforGeeks">
            <a:extLst>
              <a:ext uri="{FF2B5EF4-FFF2-40B4-BE49-F238E27FC236}">
                <a16:creationId xmlns:a16="http://schemas.microsoft.com/office/drawing/2014/main" id="{B2475AD4-2E99-4190-9DBA-20E15FE19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752" y="1501503"/>
            <a:ext cx="5587646" cy="45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96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FE84-6D9A-49DB-ADC0-7F60E755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Computing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6FE6-97C3-4E0E-AFCF-EBA90FB9E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2576866" cy="4195481"/>
          </a:xfrm>
        </p:spPr>
        <p:txBody>
          <a:bodyPr/>
          <a:lstStyle/>
          <a:p>
            <a:r>
              <a:rPr lang="en-IN" b="1" dirty="0"/>
              <a:t>Front 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Browsers </a:t>
            </a:r>
          </a:p>
          <a:p>
            <a:r>
              <a:rPr lang="en-IN" b="1" dirty="0"/>
              <a:t>Back 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Cloud Services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791D-3341-4A2A-B2EB-621AD5B5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987" y="1626129"/>
            <a:ext cx="4505502" cy="38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8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5DDF-FCA3-4E4D-ABBD-AA9C943C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Components of Cloud Computing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9E034D-6381-4275-B3DC-29A18F784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2666" y="2136338"/>
            <a:ext cx="261161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Runtime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Management </a:t>
            </a:r>
          </a:p>
        </p:txBody>
      </p:sp>
    </p:spTree>
    <p:extLst>
      <p:ext uri="{BB962C8B-B14F-4D97-AF65-F5344CB8AC3E}">
        <p14:creationId xmlns:p14="http://schemas.microsoft.com/office/powerpoint/2010/main" val="3354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4FBBA-1A26-404F-8209-E7DC55F7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Service Models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99F98-AE99-4260-AF10-DB6FF1A08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3976688" cy="4195481"/>
          </a:xfrm>
        </p:spPr>
        <p:txBody>
          <a:bodyPr/>
          <a:lstStyle/>
          <a:p>
            <a:r>
              <a:rPr lang="en-US" dirty="0"/>
              <a:t>Three Major Service Models:</a:t>
            </a:r>
          </a:p>
          <a:p>
            <a:pPr>
              <a:buFont typeface="+mj-lt"/>
              <a:buAutoNum type="arabicPeriod"/>
            </a:pPr>
            <a:r>
              <a:rPr lang="en-US" dirty="0"/>
              <a:t>Infrastructure as a Service (IaaS) </a:t>
            </a:r>
          </a:p>
          <a:p>
            <a:pPr>
              <a:buFont typeface="+mj-lt"/>
              <a:buAutoNum type="arabicPeriod"/>
            </a:pPr>
            <a:r>
              <a:rPr lang="en-US" dirty="0"/>
              <a:t>Platform as a Service (PaaS) </a:t>
            </a:r>
          </a:p>
          <a:p>
            <a:pPr>
              <a:buFont typeface="+mj-lt"/>
              <a:buAutoNum type="arabicPeriod"/>
            </a:pPr>
            <a:r>
              <a:rPr lang="en-US" dirty="0"/>
              <a:t>Software as a Service (SaaS)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 descr="Cloud Computing — Week 3. Cloud Service Models and Deployment… | by Ayoade  Akintayo (PhD) | Medium">
            <a:extLst>
              <a:ext uri="{FF2B5EF4-FFF2-40B4-BE49-F238E27FC236}">
                <a16:creationId xmlns:a16="http://schemas.microsoft.com/office/drawing/2014/main" id="{3692A935-3E8F-4811-832A-041BE58C1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066" y="1320801"/>
            <a:ext cx="3390429" cy="508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43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71C1-BD41-45EA-A221-0CB05DFD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Infrastructure as a Service (IaaS)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9371F-BD1B-4CBA-8A1D-2F561326D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Virtual Machines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Servers </a:t>
            </a:r>
          </a:p>
          <a:p>
            <a:r>
              <a:rPr lang="en-US" dirty="0"/>
              <a:t>User manages: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Operating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Virtual Servers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99535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E5EC-7FEB-4FE7-90BE-482F0145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IaaS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2DFC1F-6D03-4C5B-A9A6-86543AA41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31934" y="2551837"/>
            <a:ext cx="376577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Cost Effective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Flexible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Quick Deployment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Hardware Maintenance </a:t>
            </a:r>
          </a:p>
        </p:txBody>
      </p:sp>
    </p:spTree>
    <p:extLst>
      <p:ext uri="{BB962C8B-B14F-4D97-AF65-F5344CB8AC3E}">
        <p14:creationId xmlns:p14="http://schemas.microsoft.com/office/powerpoint/2010/main" val="279381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5BFC3-C1FA-4C33-983C-1A7A6F6F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Platform as a Service (PaaS)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266A-2C6E-4476-9EF2-B27E7A4F4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Development Environment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Runtime Environment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Development Tools </a:t>
            </a:r>
          </a:p>
          <a:p>
            <a:r>
              <a:rPr lang="en-IN" dirty="0"/>
              <a:t>Developers focus on coding rather than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08475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8293-39E1-4DFD-97DA-265E3946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PaaS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BF6B0B-2721-45FA-8058-F658BD533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83782" y="2551837"/>
            <a:ext cx="262443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Deployment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Complexity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Updates </a:t>
            </a:r>
          </a:p>
        </p:txBody>
      </p:sp>
    </p:spTree>
    <p:extLst>
      <p:ext uri="{BB962C8B-B14F-4D97-AF65-F5344CB8AC3E}">
        <p14:creationId xmlns:p14="http://schemas.microsoft.com/office/powerpoint/2010/main" val="84927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EDFF-9EED-4D43-9A3B-79E95336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as a Service (SaaS)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6BF20-BE19-42D2-A03C-61FDA921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complete software applications over the Internet.</a:t>
            </a:r>
          </a:p>
          <a:p>
            <a:r>
              <a:rPr lang="en-US" dirty="0"/>
              <a:t>Users access applications through: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Apps </a:t>
            </a:r>
          </a:p>
          <a:p>
            <a:r>
              <a:rPr lang="en-US" dirty="0"/>
              <a:t>No installation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307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A281-71A1-4791-ACC8-F53EB63C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SaaS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FDC4B0-F958-4E5F-B18F-6D1CB38B99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9198" y="2551837"/>
            <a:ext cx="25218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Subscription - Based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Maintenance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Anywhere Access </a:t>
            </a:r>
          </a:p>
        </p:txBody>
      </p:sp>
    </p:spTree>
    <p:extLst>
      <p:ext uri="{BB962C8B-B14F-4D97-AF65-F5344CB8AC3E}">
        <p14:creationId xmlns:p14="http://schemas.microsoft.com/office/powerpoint/2010/main" val="313806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E324-50A6-4DAA-A5F3-53693A44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IaaS vs PaaS vs SaaS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5D6508-F68D-4BDE-9B7D-FA0AD7A23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687" y="2314575"/>
            <a:ext cx="7286625" cy="2228850"/>
          </a:xfrm>
        </p:spPr>
      </p:pic>
    </p:spTree>
    <p:extLst>
      <p:ext uri="{BB962C8B-B14F-4D97-AF65-F5344CB8AC3E}">
        <p14:creationId xmlns:p14="http://schemas.microsoft.com/office/powerpoint/2010/main" val="4114824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3A24-4EDB-4821-A34D-C6E5F572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Deployment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0FD3-54C4-4E92-A297-6FAB6862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Public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Hybrid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Community Cloud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28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1AC2-D8F0-49E1-BD72-9ADBC119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Public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2D66-78D7-472E-B418-9583EA4D3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Shared 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Scalability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Internet Accessible </a:t>
            </a:r>
          </a:p>
          <a:p>
            <a:r>
              <a:rPr lang="en-US" dirty="0"/>
              <a:t>Best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Startups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Businesses</a:t>
            </a:r>
          </a:p>
        </p:txBody>
      </p:sp>
    </p:spTree>
    <p:extLst>
      <p:ext uri="{BB962C8B-B14F-4D97-AF65-F5344CB8AC3E}">
        <p14:creationId xmlns:p14="http://schemas.microsoft.com/office/powerpoint/2010/main" val="3752606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75DA-EA3D-4117-ACBD-3AB6A576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Private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9E73-1239-4FF8-8155-D9ED4F060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Dedicated 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Greater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Enhanced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Compliance </a:t>
            </a:r>
          </a:p>
          <a:p>
            <a:r>
              <a:rPr lang="en-US" dirty="0"/>
              <a:t>Best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Enterprises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Government Organizations </a:t>
            </a:r>
          </a:p>
        </p:txBody>
      </p:sp>
    </p:spTree>
    <p:extLst>
      <p:ext uri="{BB962C8B-B14F-4D97-AF65-F5344CB8AC3E}">
        <p14:creationId xmlns:p14="http://schemas.microsoft.com/office/powerpoint/2010/main" val="212808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5190-AD8A-4662-BDC8-DBC16669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0F2D7-1E4D-4F95-AE63-42EB56B3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Combination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Public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Cloud </a:t>
            </a:r>
          </a:p>
          <a:p>
            <a:r>
              <a:rPr lang="en-US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 Optimization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Security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562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D6FC-6524-4F54-B1D1-614C4663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Community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10EFD-423E-4187-8B12-D18557809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among organizations with similar goals.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Educational Institutions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Healthcare 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Organizations </a:t>
            </a:r>
          </a:p>
        </p:txBody>
      </p:sp>
    </p:spTree>
    <p:extLst>
      <p:ext uri="{BB962C8B-B14F-4D97-AF65-F5344CB8AC3E}">
        <p14:creationId xmlns:p14="http://schemas.microsoft.com/office/powerpoint/2010/main" val="3186461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4738-65AA-4F4F-9C4E-B5BDFFD7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Virtualization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6AB42-4431-4853-A95D-8897A81E1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creates virtual versions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Operating Systems </a:t>
            </a:r>
          </a:p>
          <a:p>
            <a:r>
              <a:rPr lang="en-US" dirty="0"/>
              <a:t>Foundation technology behind cloud computing.</a:t>
            </a:r>
          </a:p>
        </p:txBody>
      </p:sp>
    </p:spTree>
    <p:extLst>
      <p:ext uri="{BB962C8B-B14F-4D97-AF65-F5344CB8AC3E}">
        <p14:creationId xmlns:p14="http://schemas.microsoft.com/office/powerpoint/2010/main" val="2408239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E8790-9CE9-4112-9F59-51C98F39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6D06-A332-441E-9215-6DE25E52A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351599"/>
            <a:ext cx="4891088" cy="26206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Virtualization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Storage Virtualization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Virtualization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Desktop Virtualization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Application Virtualization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290" name="Picture 2" descr="Layered Architecture of Cloud - GeeksforGeeks">
            <a:extLst>
              <a:ext uri="{FF2B5EF4-FFF2-40B4-BE49-F238E27FC236}">
                <a16:creationId xmlns:a16="http://schemas.microsoft.com/office/drawing/2014/main" id="{78923560-E5D6-47FE-B475-9BA3E5133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655" y="2214493"/>
            <a:ext cx="5789789" cy="289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051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24DC6-B2D0-4E43-B81C-D6670F33E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Virtualization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14CE9B-8C04-47DC-A24A-3D7ADA6929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6823" y="2551837"/>
            <a:ext cx="533135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Resource Utilization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Hardware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Flexibility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Recovery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F4F3C0-3149-4BEF-8053-2A8E71EC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398" y="1876021"/>
            <a:ext cx="256222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73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C787-E427-4D46-B957-15B1E81A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8DBF-1A8B-49CC-B7C3-8FDE11964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Confidentiality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Availability </a:t>
            </a:r>
          </a:p>
          <a:p>
            <a:r>
              <a:rPr lang="en-US" dirty="0"/>
              <a:t>Security Measures: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Encryption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675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3DD5-5DBB-480A-9113-3AC3EF2A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Cloud Computing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28C5AC-625C-4001-A127-B3C9E5411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2290" y="2785041"/>
            <a:ext cx="23680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Lower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 Accessibility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Innovation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1C9A2-996D-4C66-84AD-5B90AF703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836" y="2550936"/>
            <a:ext cx="24193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42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77D-DAD5-4D65-9696-335DF37F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of Cloud Computing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799138-0E28-4F06-A91E-163E749A0A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3273495"/>
            <a:ext cx="253466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Privacy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Security Risks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Internet Dependency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Downtime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Compliance Issues </a:t>
            </a:r>
          </a:p>
        </p:txBody>
      </p:sp>
      <p:pic>
        <p:nvPicPr>
          <p:cNvPr id="15363" name="Picture 3" descr="Cloud Computing Challenges">
            <a:extLst>
              <a:ext uri="{FF2B5EF4-FFF2-40B4-BE49-F238E27FC236}">
                <a16:creationId xmlns:a16="http://schemas.microsoft.com/office/drawing/2014/main" id="{E32D655B-4828-4D88-8B82-FD489EA4C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533" y="2190750"/>
            <a:ext cx="53340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794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1A8C-1662-41D3-8F10-C2EAE8C6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BD44D0-1CA1-4257-9A6A-58E1DFFFE8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996496"/>
            <a:ext cx="20944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Video Streaming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E-Commerce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Healthcare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Social Media </a:t>
            </a:r>
          </a:p>
        </p:txBody>
      </p:sp>
      <p:pic>
        <p:nvPicPr>
          <p:cNvPr id="16387" name="Picture 3" descr="Cloud Computing Collage Stock Illustration - Download Image Now - Cloud  Storage, File Sharing, Icon Symbol - iStock">
            <a:extLst>
              <a:ext uri="{FF2B5EF4-FFF2-40B4-BE49-F238E27FC236}">
                <a16:creationId xmlns:a16="http://schemas.microsoft.com/office/drawing/2014/main" id="{1D015A7C-1364-49FB-B1F3-3E79A6FC8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174220"/>
            <a:ext cx="396240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81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BC25-397E-45C1-A524-83A5F6F3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295D-4EA3-47F9-9304-AE865C9D3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405666" cy="2951835"/>
          </a:xfrm>
        </p:spPr>
        <p:txBody>
          <a:bodyPr/>
          <a:lstStyle/>
          <a:p>
            <a:r>
              <a:rPr lang="en-US" dirty="0"/>
              <a:t>Emerging Trends: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Artificial Intelligence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Edge Computing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Serverless Computing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Internet of Things (IoT)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Multi-Cloud Strategy </a:t>
            </a:r>
          </a:p>
          <a:p>
            <a:endParaRPr lang="en-IN" dirty="0"/>
          </a:p>
        </p:txBody>
      </p:sp>
      <p:pic>
        <p:nvPicPr>
          <p:cNvPr id="17410" name="Picture 2" descr="Revolutionizing Industries: The Future of Digital Twin Technology Beyond  2024">
            <a:extLst>
              <a:ext uri="{FF2B5EF4-FFF2-40B4-BE49-F238E27FC236}">
                <a16:creationId xmlns:a16="http://schemas.microsoft.com/office/drawing/2014/main" id="{9F7D6900-9BE2-47B4-976E-A6B492A21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855" y="1900413"/>
            <a:ext cx="4885266" cy="325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418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66E0-099D-4EB1-BBF8-5A1AC159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C775-7C63-4C3A-93C5-FBD8FF87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Key Takeaways</a:t>
            </a:r>
          </a:p>
          <a:p>
            <a:r>
              <a:rPr lang="en-IN" dirty="0"/>
              <a:t>✓ Cloud Computing delivers IT resources over the Internet</a:t>
            </a:r>
          </a:p>
          <a:p>
            <a:r>
              <a:rPr lang="en-IN" dirty="0"/>
              <a:t>✓ Three Service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IaaS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SaaS </a:t>
            </a:r>
          </a:p>
          <a:p>
            <a:r>
              <a:rPr lang="en-IN" dirty="0"/>
              <a:t>✓ Four Deployment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Public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Private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Hybrid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Community </a:t>
            </a:r>
          </a:p>
          <a:p>
            <a:r>
              <a:rPr lang="en-IN" dirty="0"/>
              <a:t>✓ Virtualization enables cloud infrastructure</a:t>
            </a:r>
          </a:p>
          <a:p>
            <a:r>
              <a:rPr lang="en-IN" dirty="0"/>
              <a:t>✓ Cloud offers scalability, flexibility, and cost savings</a:t>
            </a:r>
          </a:p>
          <a:p>
            <a:r>
              <a:rPr lang="en-IN" b="1" dirty="0"/>
              <a:t>Questions &amp; Answers</a:t>
            </a:r>
          </a:p>
          <a:p>
            <a:r>
              <a:rPr lang="en-IN" b="1" dirty="0"/>
              <a:t>Image Suggestion:</a:t>
            </a:r>
            <a:r>
              <a:rPr lang="en-IN" dirty="0"/>
              <a:t> Thank You / Q&amp;A cloud background.</a:t>
            </a:r>
          </a:p>
        </p:txBody>
      </p:sp>
    </p:spTree>
    <p:extLst>
      <p:ext uri="{BB962C8B-B14F-4D97-AF65-F5344CB8AC3E}">
        <p14:creationId xmlns:p14="http://schemas.microsoft.com/office/powerpoint/2010/main" val="3178766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5428-DCAC-4488-B2B2-C90486F3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6002-7630-4D53-8012-1EB5119EB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google.com/search?q=Cloud+Computing+Tutorial&amp;oq=clo&amp;gs_lcrp=EgZjaHJvbWUqBggAEEUYOzIGCAAQRRg7MhIIARAAGEMYgwEYsQMYgAQYigUyBggCECMYJzIGCAMQIxgnMgYIBBBFGDkyDQgFEAAYkQIYgAQYigUyDwgGEAAYQxixAxiABBiKBTIYCAcQLhhDGIMBGMcBGLEDGNEDGIAEGIoFMhIICBAAGBQYgwEYhwIYsQMYgAQyEggJEC4YQxjHARjRAxiABBiKBdIBCTI0MjFqMGoxNagCCLACAfEFtRhDva9X9iM&amp;sourceid=chrome&amp;ie</a:t>
            </a:r>
            <a:r>
              <a:rPr lang="en-IN"/>
              <a:t>=UTF-8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notes </a:t>
            </a:r>
            <a:r>
              <a:rPr lang="en-IN" dirty="0" err="1"/>
              <a:t>Notes</a:t>
            </a:r>
            <a:r>
              <a:rPr lang="en-IN" dirty="0"/>
              <a:t> </a:t>
            </a:r>
            <a:r>
              <a:rPr lang="en-IN" dirty="0" err="1"/>
              <a:t>NOTES</a:t>
            </a:r>
            <a:r>
              <a:rPr lang="en-IN" dirty="0"/>
              <a:t> ( Notes 1 To Notes 6 ) - https://github.com/Narthana-Elysium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376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725</Words>
  <Application>Microsoft Office PowerPoint</Application>
  <PresentationFormat>Widescreen</PresentationFormat>
  <Paragraphs>239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Ion</vt:lpstr>
      <vt:lpstr>Cloud Computing By Elysium Academy</vt:lpstr>
      <vt:lpstr>Learning Objectives</vt:lpstr>
      <vt:lpstr>What is Cloud Computing ?</vt:lpstr>
      <vt:lpstr>Evolution of Computing</vt:lpstr>
      <vt:lpstr>Why Cloud Computing ?</vt:lpstr>
      <vt:lpstr>Characteristics of Cloud Computing</vt:lpstr>
      <vt:lpstr>Cloud Computing Architecture</vt:lpstr>
      <vt:lpstr>Components of Cloud Computing </vt:lpstr>
      <vt:lpstr>Cloud Service Models Overview</vt:lpstr>
      <vt:lpstr>Infrastructure as a Service (IaaS)</vt:lpstr>
      <vt:lpstr>Benefits of IaaS</vt:lpstr>
      <vt:lpstr>Platform as a Service (PaaS)</vt:lpstr>
      <vt:lpstr>Benefits of PaaS</vt:lpstr>
      <vt:lpstr>Software as a Service (SaaS)</vt:lpstr>
      <vt:lpstr>Benefits of SaaS</vt:lpstr>
      <vt:lpstr>IaaS vs PaaS vs SaaS</vt:lpstr>
      <vt:lpstr>Cloud Deployment Models</vt:lpstr>
      <vt:lpstr>Public Cloud</vt:lpstr>
      <vt:lpstr>Private Cloud</vt:lpstr>
      <vt:lpstr>Hybrid Cloud</vt:lpstr>
      <vt:lpstr>Community Cloud</vt:lpstr>
      <vt:lpstr>What is Virtualization ?</vt:lpstr>
      <vt:lpstr>Types of Virtualization</vt:lpstr>
      <vt:lpstr>Benefits of Virtualization</vt:lpstr>
      <vt:lpstr>Cloud Security</vt:lpstr>
      <vt:lpstr>Advantages of Cloud Computing</vt:lpstr>
      <vt:lpstr>Challenges of Cloud Computing</vt:lpstr>
      <vt:lpstr>Real-World Applications</vt:lpstr>
      <vt:lpstr>Future of Cloud Computing</vt:lpstr>
      <vt:lpstr>Summary &amp; Discussion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103</cp:revision>
  <dcterms:created xsi:type="dcterms:W3CDTF">2026-06-10T10:58:39Z</dcterms:created>
  <dcterms:modified xsi:type="dcterms:W3CDTF">2026-06-10T11:24:24Z</dcterms:modified>
</cp:coreProperties>
</file>