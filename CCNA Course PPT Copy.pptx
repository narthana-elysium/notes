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26.webp" ContentType="image/webp"/>
  <Override PartName="/ppt/media/image28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 showGuides="1">
      <p:cViewPr varScale="1">
        <p:scale>
          <a:sx n="68" d="100"/>
          <a:sy n="68" d="100"/>
        </p:scale>
        <p:origin x="-144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6" Type="http://schemas.openxmlformats.org/officeDocument/2006/relationships/tableStyles" Target="tableStyles.xml"/><Relationship Id="rId35" Type="http://schemas.openxmlformats.org/officeDocument/2006/relationships/viewProps" Target="viewProps.xml"/><Relationship Id="rId34" Type="http://schemas.openxmlformats.org/officeDocument/2006/relationships/presProps" Target="presProps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3" name="Rounded Rectangle 12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95400" y="3200400"/>
            <a:ext cx="6400800" cy="1600200"/>
          </a:xfrm>
        </p:spPr>
        <p:txBody>
          <a:bodyPr/>
          <a:lstStyle>
            <a:lvl1pPr marL="0" indent="0" algn="ctr">
              <a:buNone/>
              <a:defRPr sz="26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4EF7B3-9E21-45A1-AD06-65363A103704}" type="datetimeFigureOut">
              <a:rPr lang="en-US" smtClean="0"/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>
            <a:noAutofit/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fld id="{1AE69FB0-EB5E-4279-9C51-6BCF01B9FBD8}" type="slidenum">
              <a:rPr lang="en-US" smtClean="0"/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62931" y="1449303"/>
            <a:ext cx="9021537" cy="1527349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62931" y="1396720"/>
            <a:ext cx="9021537" cy="120580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62931" y="2976649"/>
            <a:ext cx="9021537" cy="110532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457200" y="1505930"/>
            <a:ext cx="8229600" cy="1470025"/>
          </a:xfrm>
        </p:spPr>
        <p:txBody>
          <a:bodyPr anchor="ctr"/>
          <a:lstStyle>
            <a:lvl1pPr algn="ctr">
              <a:defRPr lang="en-US" dirty="0">
                <a:solidFill>
                  <a:srgbClr val="FFFFFF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4EF7B3-9E21-45A1-AD06-65363A10370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69FB0-EB5E-4279-9C51-6BCF01B9FBD8}" type="slidenum">
              <a:rPr lang="en-US" smtClean="0"/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45720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Section Header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0" name="Rounded Rectangle 9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3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952500"/>
            <a:ext cx="7772400" cy="1362075"/>
          </a:xfrm>
        </p:spPr>
        <p:txBody>
          <a:bodyPr anchor="b" anchorCtr="0"/>
          <a:lstStyle>
            <a:lvl1pPr algn="l">
              <a:buNone/>
              <a:defRPr sz="4000" b="0" cap="none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547938"/>
            <a:ext cx="7772400" cy="1338262"/>
          </a:xfrm>
        </p:spPr>
        <p:txBody>
          <a:bodyPr anchor="t" anchorCtr="0"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4EF7B3-9E21-45A1-AD06-65363A10370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0100" y="6172200"/>
            <a:ext cx="4000500" cy="45720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 flipV="1">
            <a:off x="69412" y="2376830"/>
            <a:ext cx="9013515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69146" y="2341475"/>
            <a:ext cx="9013781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68306" y="2468880"/>
            <a:ext cx="9014621" cy="45720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1AE69FB0-EB5E-4279-9C51-6BCF01B9FBD8}" type="slidenum">
              <a:rPr lang="en-US" smtClean="0"/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4EF7B3-9E21-45A1-AD06-65363A10370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69FB0-EB5E-4279-9C51-6BCF01B9FBD8}" type="slidenum">
              <a:rPr lang="en-US" smtClean="0"/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93395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9530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4EF7B3-9E21-45A1-AD06-65363A10370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69FB0-EB5E-4279-9C51-6BCF01B9FBD8}" type="slidenum">
              <a:rPr lang="en-US" smtClean="0"/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half" idx="2"/>
          </p:nvPr>
        </p:nvSpPr>
        <p:spPr>
          <a:xfrm>
            <a:off x="9144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half" idx="4"/>
          </p:nvPr>
        </p:nvSpPr>
        <p:spPr>
          <a:xfrm>
            <a:off x="49530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4EF7B3-9E21-45A1-AD06-65363A10370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69FB0-EB5E-4279-9C51-6BCF01B9FBD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4EF7B3-9E21-45A1-AD06-65363A10370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69FB0-EB5E-4279-9C51-6BCF01B9FBD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9" name="Rounded Rectangle 8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 algn="l">
              <a:buNone/>
              <a:defRPr sz="4000" b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914400" y="1600200"/>
            <a:ext cx="1905000" cy="4495800"/>
          </a:xfrm>
        </p:spPr>
        <p:txBody>
          <a:bodyPr/>
          <a:lstStyle>
            <a:lvl1pPr marL="0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4EF7B3-9E21-45A1-AD06-65363A10370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69FB0-EB5E-4279-9C51-6BCF01B9FBD8}" type="slidenum">
              <a:rPr lang="en-US" smtClean="0"/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"/>
          </p:nvPr>
        </p:nvSpPr>
        <p:spPr>
          <a:xfrm>
            <a:off x="2971800" y="1600200"/>
            <a:ext cx="5715000" cy="44958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900550"/>
            <a:ext cx="7315200" cy="522288"/>
          </a:xfrm>
        </p:spPr>
        <p:txBody>
          <a:bodyPr anchor="ctr">
            <a:noAutofit/>
          </a:bodyPr>
          <a:lstStyle>
            <a:lvl1pPr algn="l">
              <a:buNone/>
              <a:defRPr sz="2800" b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5445825"/>
            <a:ext cx="7315200" cy="685800"/>
          </a:xfrm>
        </p:spPr>
        <p:txBody>
          <a:bodyPr/>
          <a:lstStyle>
            <a:lvl1pPr marL="0" indent="0">
              <a:buFontTx/>
              <a:buNone/>
              <a:defRPr sz="16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4EF7B3-9E21-45A1-AD06-65363A10370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914400" y="6172200"/>
            <a:ext cx="3886200" cy="45720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1AE69FB0-EB5E-4279-9C51-6BCF01B9FBD8}" type="slidenum">
              <a:rPr lang="en-US" smtClean="0"/>
            </a:fld>
            <a:endParaRPr lang="en-US"/>
          </a:p>
        </p:txBody>
      </p:sp>
      <p:sp>
        <p:nvSpPr>
          <p:cNvPr id="11" name="Rectangle 10"/>
          <p:cNvSpPr/>
          <p:nvPr/>
        </p:nvSpPr>
        <p:spPr>
          <a:xfrm flipV="1">
            <a:off x="68307" y="4683555"/>
            <a:ext cx="9006840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>
          <a:xfrm>
            <a:off x="68508" y="4650474"/>
            <a:ext cx="9006639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Rectangle 12"/>
          <p:cNvSpPr/>
          <p:nvPr/>
        </p:nvSpPr>
        <p:spPr>
          <a:xfrm>
            <a:off x="68510" y="4773224"/>
            <a:ext cx="9006637" cy="48807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8308" y="66675"/>
            <a:ext cx="9001873" cy="4581525"/>
          </a:xfrm>
          <a:prstGeom prst="round2SameRect">
            <a:avLst>
              <a:gd name="adj1" fmla="val 7101"/>
              <a:gd name="adj2" fmla="val 0"/>
            </a:avLst>
          </a:prstGeom>
          <a:solidFill>
            <a:schemeClr val="bg2"/>
          </a:solidFill>
          <a:ln w="6350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4EF7B3-9E21-45A1-AD06-65363A10370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69FB0-EB5E-4279-9C51-6BCF01B9FBD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41"/>
            <a:ext cx="201168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4400" y="274640"/>
            <a:ext cx="55626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4EF7B3-9E21-45A1-AD06-65363A10370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69FB0-EB5E-4279-9C51-6BCF01B9FBD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8" name="Rounded Rectangle 7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</p:spPr>
        <p:txBody>
          <a:bodyPr bIns="91440" anchor="b" anchorCtr="0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  <a:p>
            <a:pPr lvl="1" eaLnBrk="1" latinLnBrk="0" hangingPunct="1"/>
            <a:r>
              <a:rPr kumimoji="0" lang="en-US" smtClean="0"/>
              <a:t>Second level</a:t>
            </a:r>
            <a:endParaRPr kumimoji="0" lang="en-US" smtClean="0"/>
          </a:p>
          <a:p>
            <a:pPr lvl="2" eaLnBrk="1" latinLnBrk="0" hangingPunct="1"/>
            <a:r>
              <a:rPr kumimoji="0" lang="en-US" smtClean="0"/>
              <a:t>Third level</a:t>
            </a:r>
            <a:endParaRPr kumimoji="0" lang="en-US" smtClean="0"/>
          </a:p>
          <a:p>
            <a:pPr lvl="3" eaLnBrk="1" latinLnBrk="0" hangingPunct="1"/>
            <a:r>
              <a:rPr kumimoji="0" lang="en-US" smtClean="0"/>
              <a:t>Fourth level</a:t>
            </a:r>
            <a:endParaRPr kumimoji="0" lang="en-US" smtClean="0"/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</p:spPr>
        <p:txBody>
          <a:bodyPr anchor="ctr" anchorCtr="0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634EF7B3-9E21-45A1-AD06-65363A10370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</p:spPr>
        <p:txBody>
          <a:bodyPr anchor="ctr" anchorCtr="0"/>
          <a:lstStyle>
            <a:lvl1pPr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anchor="ctr" anchorCtr="1">
            <a:noAutofit/>
          </a:bodyPr>
          <a:lstStyle>
            <a:lvl1pPr algn="ctr" eaLnBrk="1" latinLnBrk="0" hangingPunct="1">
              <a:defRPr kumimoji="0" sz="14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fld id="{1AE69FB0-EB5E-4279-9C51-6BCF01B9FBD8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580"/>
        </a:spcBef>
        <a:buClr>
          <a:schemeClr val="accent1"/>
        </a:buClr>
        <a:buSzPct val="85000"/>
        <a:buFont typeface="Wingdings 2" panose="05020102010507070707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28600" algn="l" rtl="0" eaLnBrk="1" latinLnBrk="0" hangingPunct="1">
        <a:spcBef>
          <a:spcPts val="370"/>
        </a:spcBef>
        <a:buClr>
          <a:schemeClr val="accent2"/>
        </a:buClr>
        <a:buSzPct val="85000"/>
        <a:buFont typeface="Wingdings 2" panose="05020102010507070707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SzPct val="85000"/>
        <a:buFont typeface="Wingdings 2" panose="05020102010507070707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370"/>
        </a:spcBef>
        <a:buClr>
          <a:schemeClr val="accent3"/>
        </a:buClr>
        <a:buSzPct val="80000"/>
        <a:buFont typeface="Wingdings 2" panose="05020102010507070707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70"/>
        </a:spcBef>
        <a:buClr>
          <a:schemeClr val="accent3"/>
        </a:buClr>
        <a:buFontTx/>
        <a:buChar char="o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228600" algn="l" rtl="0" eaLnBrk="1" latinLnBrk="0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rtl="0" eaLnBrk="1" latinLnBrk="0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28600" algn="l" rtl="0" eaLnBrk="1" latinLnBrk="0" hangingPunct="1">
        <a:spcBef>
          <a:spcPts val="370"/>
        </a:spcBef>
        <a:buClr>
          <a:schemeClr val="accent2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jpe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4.jpe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5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6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7.jpe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8.jpe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9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0.jpe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1.jpe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2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3.jpe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4.jpe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5.jpe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6.webp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8.svg"/><Relationship Id="rId1" Type="http://schemas.openxmlformats.org/officeDocument/2006/relationships/image" Target="../media/image27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9.jpe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0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1.pn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FF0000"/>
            </a:gs>
            <a:gs pos="30000">
              <a:srgbClr val="66008F"/>
            </a:gs>
            <a:gs pos="64999">
              <a:srgbClr val="BA0066"/>
            </a:gs>
            <a:gs pos="89999">
              <a:srgbClr val="FF0000"/>
            </a:gs>
            <a:gs pos="100000">
              <a:srgbClr val="FF8200"/>
            </a:gs>
          </a:gsLst>
          <a:path path="shap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57290" y="3643314"/>
            <a:ext cx="6400800" cy="1600200"/>
          </a:xfrm>
        </p:spPr>
        <p:txBody>
          <a:bodyPr>
            <a:normAutofit fontScale="70000" lnSpcReduction="20000"/>
          </a:bodyPr>
          <a:lstStyle/>
          <a:p>
            <a:r>
              <a:rPr lang="en-US" b="1" dirty="0" smtClean="0"/>
              <a:t>Learning Outcomes</a:t>
            </a:r>
            <a:endParaRPr lang="en-US" b="1" dirty="0" smtClean="0"/>
          </a:p>
          <a:p>
            <a:r>
              <a:rPr lang="en-US" dirty="0" smtClean="0"/>
              <a:t>Understand network communication </a:t>
            </a:r>
            <a:endParaRPr lang="en-US" dirty="0" smtClean="0"/>
          </a:p>
          <a:p>
            <a:r>
              <a:rPr lang="en-US" dirty="0" smtClean="0"/>
              <a:t>Configure basic network devices </a:t>
            </a:r>
            <a:endParaRPr lang="en-US" dirty="0" smtClean="0"/>
          </a:p>
          <a:p>
            <a:r>
              <a:rPr lang="en-US" dirty="0" smtClean="0"/>
              <a:t>Troubleshoot network issues </a:t>
            </a:r>
            <a:endParaRPr lang="en-US" dirty="0" smtClean="0"/>
          </a:p>
          <a:p>
            <a:r>
              <a:rPr lang="en-US" dirty="0" smtClean="0"/>
              <a:t>Implement network security basics</a:t>
            </a:r>
            <a:endParaRPr lang="en-US" dirty="0" smtClean="0"/>
          </a:p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42910" y="1500174"/>
            <a:ext cx="8229600" cy="1470025"/>
          </a:xfrm>
        </p:spPr>
        <p:txBody>
          <a:bodyPr>
            <a:normAutofit fontScale="90000"/>
          </a:bodyPr>
          <a:lstStyle/>
          <a:p>
            <a:r>
              <a:rPr sz="2000" b="1" smtClean="0"/>
              <a:t>Introduction to </a:t>
            </a:r>
            <a:r>
              <a:rPr sz="2000" b="1" smtClean="0"/>
              <a:t>CCNA ( Cisco Certified Network Associate / CISCO CERTIFIED NETWORK ASSOCIATE ) By Elysium Academy</a:t>
            </a:r>
            <a:br>
              <a:rPr sz="1600" b="1" smtClean="0"/>
            </a:br>
            <a:r>
              <a:rPr sz="1600" smtClean="0"/>
              <a:t>What is CCNA ?</a:t>
            </a:r>
            <a:br>
              <a:rPr sz="1600" smtClean="0"/>
            </a:br>
            <a:r>
              <a:rPr sz="1600" smtClean="0"/>
              <a:t>Entry - level </a:t>
            </a:r>
            <a:r>
              <a:rPr sz="1600" smtClean="0"/>
              <a:t>networking certification Covers networking fundamentals Introduces </a:t>
            </a:r>
            <a:r>
              <a:rPr sz="1600" smtClean="0"/>
              <a:t>routing , switching , security , and </a:t>
            </a:r>
            <a:r>
              <a:rPr sz="1600" smtClean="0"/>
              <a:t>automation </a:t>
            </a:r>
            <a:r>
              <a:rPr sz="1600" smtClean="0"/>
              <a:t>Industry - recognized </a:t>
            </a:r>
            <a:r>
              <a:rPr sz="1600" smtClean="0"/>
              <a:t>networking foundation</a:t>
            </a:r>
            <a:br>
              <a:rPr sz="1600" smtClean="0"/>
            </a:b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is </a:t>
            </a:r>
            <a:r>
              <a:rPr lang="en-US" dirty="0" smtClean="0"/>
              <a:t>Networking  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943880" cy="4695844"/>
          </a:xfrm>
        </p:spPr>
        <p:txBody>
          <a:bodyPr/>
          <a:lstStyle/>
          <a:p>
            <a:r>
              <a:rPr lang="en-US" b="1" dirty="0" smtClean="0"/>
              <a:t>Definition</a:t>
            </a:r>
            <a:endParaRPr lang="en-US" b="1" dirty="0" smtClean="0"/>
          </a:p>
          <a:p>
            <a:r>
              <a:rPr lang="en-US" dirty="0" smtClean="0"/>
              <a:t>Networking is the process of connecting devices to share resources and information.</a:t>
            </a:r>
            <a:endParaRPr lang="en-US" dirty="0" smtClean="0"/>
          </a:p>
          <a:p>
            <a:r>
              <a:rPr lang="en-US" b="1" dirty="0" smtClean="0"/>
              <a:t>Benefits</a:t>
            </a:r>
            <a:endParaRPr lang="en-US" b="1" dirty="0" smtClean="0"/>
          </a:p>
          <a:p>
            <a:r>
              <a:rPr lang="en-US" dirty="0" smtClean="0"/>
              <a:t>Communication </a:t>
            </a:r>
            <a:endParaRPr lang="en-US" dirty="0" smtClean="0"/>
          </a:p>
          <a:p>
            <a:r>
              <a:rPr lang="en-US" dirty="0" smtClean="0"/>
              <a:t>Resource Sharing </a:t>
            </a:r>
            <a:endParaRPr lang="en-US" dirty="0" smtClean="0"/>
          </a:p>
          <a:p>
            <a:r>
              <a:rPr lang="en-US" dirty="0" smtClean="0"/>
              <a:t>Internet Access </a:t>
            </a:r>
            <a:endParaRPr lang="en-US" dirty="0" smtClean="0"/>
          </a:p>
          <a:p>
            <a:r>
              <a:rPr lang="en-US" dirty="0" smtClean="0"/>
              <a:t>Data Transfer </a:t>
            </a:r>
            <a:endParaRPr lang="en-US" dirty="0" smtClean="0"/>
          </a:p>
          <a:p>
            <a:r>
              <a:rPr lang="en-US" dirty="0" smtClean="0"/>
              <a:t>Centralized </a:t>
            </a:r>
            <a:r>
              <a:rPr lang="en-US" dirty="0" smtClean="0"/>
              <a:t>Management</a:t>
            </a:r>
            <a:endParaRPr lang="en-US" dirty="0" smtClean="0"/>
          </a:p>
        </p:txBody>
      </p:sp>
      <p:pic>
        <p:nvPicPr>
          <p:cNvPr id="1026" name="Picture 2" descr="9 Different Types of Computer Networks - LAN, WAN, Etc.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4857752" y="2714620"/>
            <a:ext cx="3286148" cy="321471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Types of Networks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b="1" dirty="0" smtClean="0"/>
              <a:t>LAN</a:t>
            </a:r>
            <a:endParaRPr lang="en-US" b="1" dirty="0" smtClean="0"/>
          </a:p>
          <a:p>
            <a:r>
              <a:rPr lang="en-US" dirty="0" smtClean="0"/>
              <a:t>Local Area </a:t>
            </a:r>
            <a:r>
              <a:rPr lang="en-US" dirty="0" smtClean="0"/>
              <a:t>Network</a:t>
            </a:r>
            <a:endParaRPr lang="en-US" dirty="0" smtClean="0"/>
          </a:p>
          <a:p>
            <a:r>
              <a:rPr lang="en-US" b="1" dirty="0" smtClean="0"/>
              <a:t>WAN</a:t>
            </a:r>
            <a:endParaRPr lang="en-US" b="1" dirty="0" smtClean="0"/>
          </a:p>
          <a:p>
            <a:r>
              <a:rPr lang="en-US" dirty="0" smtClean="0"/>
              <a:t>Wide Area Network</a:t>
            </a:r>
            <a:endParaRPr lang="en-US" dirty="0" smtClean="0"/>
          </a:p>
          <a:p>
            <a:r>
              <a:rPr lang="en-US" b="1" dirty="0" smtClean="0"/>
              <a:t>MAN</a:t>
            </a:r>
            <a:endParaRPr lang="en-US" b="1" dirty="0" smtClean="0"/>
          </a:p>
          <a:p>
            <a:r>
              <a:rPr lang="en-US" dirty="0" smtClean="0"/>
              <a:t>Metropolitan Area Network</a:t>
            </a:r>
            <a:endParaRPr lang="en-US" dirty="0" smtClean="0"/>
          </a:p>
          <a:p>
            <a:r>
              <a:rPr lang="en-US" b="1" dirty="0" smtClean="0"/>
              <a:t>WLAN</a:t>
            </a:r>
            <a:endParaRPr lang="en-US" b="1" dirty="0" smtClean="0"/>
          </a:p>
          <a:p>
            <a:r>
              <a:rPr lang="en-US" dirty="0" smtClean="0"/>
              <a:t>Wireless Local Area </a:t>
            </a:r>
            <a:r>
              <a:rPr lang="en-US" dirty="0" smtClean="0"/>
              <a:t>Network</a:t>
            </a:r>
            <a:endParaRPr lang="en-US" dirty="0" smtClean="0"/>
          </a:p>
        </p:txBody>
      </p:sp>
      <p:pic>
        <p:nvPicPr>
          <p:cNvPr id="15362" name="Picture 2" descr="WAN vs LAN: What's the Difference? – VCELINK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4714876" y="1785926"/>
            <a:ext cx="4191029" cy="2357454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Network Components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b="1" dirty="0" smtClean="0"/>
              <a:t>Devices</a:t>
            </a:r>
            <a:endParaRPr lang="en-US" b="1" dirty="0" smtClean="0"/>
          </a:p>
          <a:p>
            <a:r>
              <a:rPr lang="en-US" dirty="0" smtClean="0"/>
              <a:t>Router </a:t>
            </a:r>
            <a:endParaRPr lang="en-US" dirty="0" smtClean="0"/>
          </a:p>
          <a:p>
            <a:r>
              <a:rPr lang="en-US" dirty="0" smtClean="0"/>
              <a:t>Switch </a:t>
            </a:r>
            <a:endParaRPr lang="en-US" dirty="0" smtClean="0"/>
          </a:p>
          <a:p>
            <a:r>
              <a:rPr lang="en-US" dirty="0" smtClean="0"/>
              <a:t>Firewall </a:t>
            </a:r>
            <a:endParaRPr lang="en-US" dirty="0" smtClean="0"/>
          </a:p>
          <a:p>
            <a:r>
              <a:rPr lang="en-US" dirty="0" smtClean="0"/>
              <a:t>Access Point </a:t>
            </a:r>
            <a:endParaRPr lang="en-US" dirty="0" smtClean="0"/>
          </a:p>
          <a:p>
            <a:r>
              <a:rPr lang="en-US" dirty="0" smtClean="0"/>
              <a:t>Server </a:t>
            </a:r>
            <a:endParaRPr lang="en-US" dirty="0" smtClean="0"/>
          </a:p>
          <a:p>
            <a:r>
              <a:rPr lang="en-US" dirty="0" smtClean="0"/>
              <a:t>End Devices </a:t>
            </a:r>
            <a:endParaRPr lang="en-US" dirty="0" smtClean="0"/>
          </a:p>
          <a:p>
            <a:r>
              <a:rPr lang="en-US" b="1" dirty="0" smtClean="0"/>
              <a:t>Purpose</a:t>
            </a:r>
            <a:endParaRPr lang="en-US" b="1" dirty="0" smtClean="0"/>
          </a:p>
          <a:p>
            <a:r>
              <a:rPr lang="en-US" dirty="0" smtClean="0"/>
              <a:t>Enable communication between network devices.</a:t>
            </a:r>
            <a:endParaRPr lang="en-US" dirty="0" smtClean="0"/>
          </a:p>
          <a:p>
            <a:pPr>
              <a:buNone/>
            </a:pPr>
            <a:endParaRPr lang="en-US" dirty="0"/>
          </a:p>
        </p:txBody>
      </p:sp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4572000" y="1357298"/>
            <a:ext cx="3786214" cy="37971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OSI Model Overview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b="1" dirty="0" smtClean="0"/>
              <a:t>Seven </a:t>
            </a:r>
            <a:r>
              <a:rPr lang="en-US" b="1" dirty="0" smtClean="0"/>
              <a:t>Layers</a:t>
            </a:r>
            <a:endParaRPr lang="en-US" b="1" dirty="0" smtClean="0"/>
          </a:p>
          <a:p>
            <a:r>
              <a:rPr lang="en-US" dirty="0" smtClean="0"/>
              <a:t>Physical </a:t>
            </a:r>
            <a:endParaRPr lang="en-US" dirty="0" smtClean="0"/>
          </a:p>
          <a:p>
            <a:r>
              <a:rPr lang="en-US" dirty="0" smtClean="0"/>
              <a:t>Data Link </a:t>
            </a:r>
            <a:endParaRPr lang="en-US" dirty="0" smtClean="0"/>
          </a:p>
          <a:p>
            <a:r>
              <a:rPr lang="en-US" dirty="0" smtClean="0"/>
              <a:t>Network </a:t>
            </a:r>
            <a:endParaRPr lang="en-US" dirty="0" smtClean="0"/>
          </a:p>
          <a:p>
            <a:r>
              <a:rPr lang="en-US" dirty="0" smtClean="0"/>
              <a:t>Transport </a:t>
            </a:r>
            <a:endParaRPr lang="en-US" dirty="0" smtClean="0"/>
          </a:p>
          <a:p>
            <a:r>
              <a:rPr lang="en-US" dirty="0" smtClean="0"/>
              <a:t>Session </a:t>
            </a:r>
            <a:endParaRPr lang="en-US" dirty="0" smtClean="0"/>
          </a:p>
          <a:p>
            <a:r>
              <a:rPr lang="en-US" dirty="0" smtClean="0"/>
              <a:t>Presentation </a:t>
            </a:r>
            <a:endParaRPr lang="en-US" dirty="0" smtClean="0"/>
          </a:p>
          <a:p>
            <a:r>
              <a:rPr lang="en-US" dirty="0" smtClean="0"/>
              <a:t>Application</a:t>
            </a:r>
            <a:endParaRPr lang="en-US" dirty="0" smtClean="0"/>
          </a:p>
        </p:txBody>
      </p:sp>
      <p:pic>
        <p:nvPicPr>
          <p:cNvPr id="17410" name="Picture 2" descr="The OSI Model: A Guide to Understanding Data Transfer Across Networks | by  nishanthan-k | Medium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4071934" y="1342567"/>
            <a:ext cx="4071966" cy="4596253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TCP/IP Model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b="1" dirty="0" smtClean="0"/>
              <a:t>Layers</a:t>
            </a:r>
            <a:endParaRPr lang="en-US" b="1" dirty="0" smtClean="0"/>
          </a:p>
          <a:p>
            <a:r>
              <a:rPr lang="en-US" dirty="0" smtClean="0"/>
              <a:t>Network Access </a:t>
            </a:r>
            <a:endParaRPr lang="en-US" dirty="0" smtClean="0"/>
          </a:p>
          <a:p>
            <a:r>
              <a:rPr lang="en-US" dirty="0" smtClean="0"/>
              <a:t>Internet </a:t>
            </a:r>
            <a:endParaRPr lang="en-US" dirty="0" smtClean="0"/>
          </a:p>
          <a:p>
            <a:r>
              <a:rPr lang="en-US" dirty="0" smtClean="0"/>
              <a:t>Transport </a:t>
            </a:r>
            <a:endParaRPr lang="en-US" dirty="0" smtClean="0"/>
          </a:p>
          <a:p>
            <a:r>
              <a:rPr lang="en-US" dirty="0" smtClean="0"/>
              <a:t>Application </a:t>
            </a:r>
            <a:endParaRPr lang="en-US" dirty="0" smtClean="0"/>
          </a:p>
          <a:p>
            <a:r>
              <a:rPr lang="en-US" b="1" dirty="0" smtClean="0"/>
              <a:t>Importance</a:t>
            </a:r>
            <a:endParaRPr lang="en-US" b="1" dirty="0" smtClean="0"/>
          </a:p>
          <a:p>
            <a:r>
              <a:rPr lang="en-US" dirty="0" smtClean="0"/>
              <a:t>Foundation of Internet communication. </a:t>
            </a:r>
            <a:endParaRPr lang="en-US" dirty="0" smtClean="0"/>
          </a:p>
        </p:txBody>
      </p:sp>
      <p:pic>
        <p:nvPicPr>
          <p:cNvPr id="18434" name="Picture 2" descr="OSI and TCP/IP Model. Notes and explanations of the OSI and… | by Erin |  Medium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3571868" y="1571612"/>
            <a:ext cx="4748274" cy="264320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Data Encapsulation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b="1" dirty="0" smtClean="0"/>
              <a:t>Process</a:t>
            </a:r>
            <a:endParaRPr lang="en-US" b="1" dirty="0" smtClean="0"/>
          </a:p>
          <a:p>
            <a:r>
              <a:rPr lang="en-US" dirty="0" smtClean="0"/>
              <a:t>Data </a:t>
            </a:r>
            <a:endParaRPr lang="en-US" dirty="0" smtClean="0"/>
          </a:p>
          <a:p>
            <a:r>
              <a:rPr lang="en-US" dirty="0" smtClean="0"/>
              <a:t>Segment </a:t>
            </a:r>
            <a:r>
              <a:rPr lang="en-US" dirty="0" smtClean="0"/>
              <a:t> </a:t>
            </a:r>
            <a:endParaRPr lang="en-US" dirty="0" smtClean="0"/>
          </a:p>
          <a:p>
            <a:r>
              <a:rPr lang="en-US" dirty="0" smtClean="0"/>
              <a:t>Packet </a:t>
            </a:r>
            <a:endParaRPr lang="en-US" dirty="0" smtClean="0"/>
          </a:p>
          <a:p>
            <a:r>
              <a:rPr lang="en-US" dirty="0" smtClean="0"/>
              <a:t>Frame </a:t>
            </a:r>
            <a:endParaRPr lang="en-US" dirty="0" smtClean="0"/>
          </a:p>
          <a:p>
            <a:r>
              <a:rPr lang="en-US" dirty="0" smtClean="0"/>
              <a:t>Bits </a:t>
            </a:r>
            <a:endParaRPr lang="en-US" dirty="0" smtClean="0"/>
          </a:p>
          <a:p>
            <a:r>
              <a:rPr lang="en-US" b="1" dirty="0" smtClean="0"/>
              <a:t>Purpose</a:t>
            </a:r>
            <a:endParaRPr lang="en-US" b="1" dirty="0" smtClean="0"/>
          </a:p>
          <a:p>
            <a:r>
              <a:rPr lang="en-US" dirty="0" smtClean="0"/>
              <a:t>Allows data transmission across </a:t>
            </a:r>
            <a:r>
              <a:rPr lang="en-US" dirty="0" smtClean="0"/>
              <a:t>networks .</a:t>
            </a:r>
            <a:endParaRPr lang="en-US" dirty="0" smtClean="0"/>
          </a:p>
        </p:txBody>
      </p:sp>
      <p:pic>
        <p:nvPicPr>
          <p:cNvPr id="19458" name="Picture 2" descr="What is Data Encapsulation and de-encapsulation in networking? -  GeeksforGeeks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3786182" y="1357298"/>
            <a:ext cx="3987797" cy="336546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Network Topologies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b="1" dirty="0" smtClean="0"/>
              <a:t>Types</a:t>
            </a:r>
            <a:endParaRPr lang="en-US" b="1" dirty="0" smtClean="0"/>
          </a:p>
          <a:p>
            <a:r>
              <a:rPr lang="en-US" dirty="0" smtClean="0"/>
              <a:t>Star </a:t>
            </a:r>
            <a:endParaRPr lang="en-US" dirty="0" smtClean="0"/>
          </a:p>
          <a:p>
            <a:r>
              <a:rPr lang="en-US" dirty="0" smtClean="0"/>
              <a:t>Bus </a:t>
            </a:r>
            <a:endParaRPr lang="en-US" dirty="0" smtClean="0"/>
          </a:p>
          <a:p>
            <a:r>
              <a:rPr lang="en-US" dirty="0" smtClean="0"/>
              <a:t>Ring </a:t>
            </a:r>
            <a:endParaRPr lang="en-US" dirty="0" smtClean="0"/>
          </a:p>
          <a:p>
            <a:r>
              <a:rPr lang="en-US" dirty="0" smtClean="0"/>
              <a:t>Mesh </a:t>
            </a:r>
            <a:endParaRPr lang="en-US" dirty="0" smtClean="0"/>
          </a:p>
          <a:p>
            <a:r>
              <a:rPr lang="en-US" dirty="0" smtClean="0"/>
              <a:t>Hybrid </a:t>
            </a:r>
            <a:endParaRPr lang="en-US" dirty="0" smtClean="0"/>
          </a:p>
          <a:p>
            <a:r>
              <a:rPr lang="en-US" b="1" dirty="0" smtClean="0"/>
              <a:t>Comparison</a:t>
            </a:r>
            <a:endParaRPr lang="en-US" b="1" dirty="0" smtClean="0"/>
          </a:p>
          <a:p>
            <a:r>
              <a:rPr lang="en-US" dirty="0" smtClean="0"/>
              <a:t>Advantages and disadvantages of each topology</a:t>
            </a:r>
            <a:r>
              <a:rPr lang="en-US" dirty="0" smtClean="0"/>
              <a:t>.</a:t>
            </a:r>
            <a:endParaRPr lang="en-US" dirty="0" smtClean="0"/>
          </a:p>
        </p:txBody>
      </p:sp>
      <p:pic>
        <p:nvPicPr>
          <p:cNvPr id="20486" name="Picture 6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3571868" y="1928802"/>
            <a:ext cx="4207243" cy="22860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Ethernet Fundamentals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b="1" dirty="0" smtClean="0"/>
              <a:t>Features</a:t>
            </a:r>
            <a:endParaRPr lang="en-US" b="1" dirty="0" smtClean="0"/>
          </a:p>
          <a:p>
            <a:r>
              <a:rPr lang="en-US" dirty="0" smtClean="0"/>
              <a:t>Most common LAN technology </a:t>
            </a:r>
            <a:endParaRPr lang="en-US" dirty="0" smtClean="0"/>
          </a:p>
          <a:p>
            <a:r>
              <a:rPr lang="en-US" dirty="0" smtClean="0"/>
              <a:t>Uses MAC addresses </a:t>
            </a:r>
            <a:endParaRPr lang="en-US" dirty="0" smtClean="0"/>
          </a:p>
          <a:p>
            <a:r>
              <a:rPr lang="en-US" dirty="0" smtClean="0"/>
              <a:t>Supports high-speed communication</a:t>
            </a:r>
            <a:endParaRPr lang="en-US" dirty="0" smtClean="0"/>
          </a:p>
          <a:p>
            <a:pPr>
              <a:buNone/>
            </a:pPr>
            <a:endParaRPr lang="en-US" dirty="0"/>
          </a:p>
        </p:txBody>
      </p:sp>
      <p:pic>
        <p:nvPicPr>
          <p:cNvPr id="21506" name="Picture 2" descr="Introduction of Gigabit Ethernet - GeeksforGeeks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1428728" y="3357562"/>
            <a:ext cx="5872077" cy="307181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MAC Address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b="1" dirty="0" smtClean="0"/>
              <a:t>Definition</a:t>
            </a:r>
            <a:endParaRPr lang="en-US" b="1" dirty="0" smtClean="0"/>
          </a:p>
          <a:p>
            <a:r>
              <a:rPr lang="en-US" dirty="0" smtClean="0"/>
              <a:t>Unique hardware address assigned to network interfaces.</a:t>
            </a:r>
            <a:endParaRPr lang="en-US" dirty="0" smtClean="0"/>
          </a:p>
          <a:p>
            <a:r>
              <a:rPr lang="en-US" b="1" dirty="0" smtClean="0"/>
              <a:t>Functions</a:t>
            </a:r>
            <a:endParaRPr lang="en-US" b="1" dirty="0" smtClean="0"/>
          </a:p>
          <a:p>
            <a:r>
              <a:rPr lang="en-US" dirty="0" smtClean="0"/>
              <a:t>Device Identification </a:t>
            </a:r>
            <a:endParaRPr lang="en-US" dirty="0" smtClean="0"/>
          </a:p>
          <a:p>
            <a:r>
              <a:rPr lang="en-US" dirty="0" smtClean="0"/>
              <a:t>Frame Forwarding</a:t>
            </a:r>
            <a:endParaRPr lang="en-US" dirty="0" smtClean="0"/>
          </a:p>
          <a:p>
            <a:pPr>
              <a:buNone/>
            </a:pPr>
            <a:endParaRPr lang="en-US" dirty="0"/>
          </a:p>
        </p:txBody>
      </p:sp>
      <p:pic>
        <p:nvPicPr>
          <p:cNvPr id="22530" name="Picture 2" descr="What is MAC Address? Types, Uses &amp; How to Find It (2026)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1785918" y="3714752"/>
            <a:ext cx="4762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smtClean="0"/>
              <a:t>IP </a:t>
            </a:r>
            <a:r>
              <a:rPr lang="en-US" b="1" dirty="0" smtClean="0"/>
              <a:t>Addressing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b="1" dirty="0" smtClean="0"/>
              <a:t>IPv4</a:t>
            </a:r>
            <a:endParaRPr lang="en-US" b="1" dirty="0" smtClean="0"/>
          </a:p>
          <a:p>
            <a:r>
              <a:rPr lang="en-US" dirty="0" smtClean="0"/>
              <a:t>32-bit address </a:t>
            </a:r>
            <a:endParaRPr lang="en-US" dirty="0" smtClean="0"/>
          </a:p>
          <a:p>
            <a:r>
              <a:rPr lang="en-US" dirty="0" smtClean="0"/>
              <a:t>Example: 192.168.1.1 </a:t>
            </a:r>
            <a:endParaRPr lang="en-US" dirty="0" smtClean="0"/>
          </a:p>
          <a:p>
            <a:r>
              <a:rPr lang="en-US" b="1" dirty="0" smtClean="0"/>
              <a:t>IPv6</a:t>
            </a:r>
            <a:endParaRPr lang="en-US" b="1" dirty="0" smtClean="0"/>
          </a:p>
          <a:p>
            <a:r>
              <a:rPr lang="en-US" dirty="0" smtClean="0"/>
              <a:t>128-bit address </a:t>
            </a:r>
            <a:endParaRPr lang="en-US" dirty="0" smtClean="0"/>
          </a:p>
          <a:p>
            <a:r>
              <a:rPr lang="en-US" dirty="0" smtClean="0"/>
              <a:t>Supports larger address space </a:t>
            </a:r>
            <a:endParaRPr lang="en-US" dirty="0" smtClean="0"/>
          </a:p>
        </p:txBody>
      </p:sp>
      <p:pic>
        <p:nvPicPr>
          <p:cNvPr id="23554" name="Picture 2" descr="Comparing IPv4 and IPv6: What is the Difference Between Them?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4929190" y="1571612"/>
            <a:ext cx="3714776" cy="3114088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Subnetting</a:t>
            </a:r>
            <a:r>
              <a:rPr lang="en-US" dirty="0" smtClean="0"/>
              <a:t> Basics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b="1" dirty="0" smtClean="0"/>
              <a:t>Purpose</a:t>
            </a:r>
            <a:endParaRPr lang="en-US" b="1" dirty="0" smtClean="0"/>
          </a:p>
          <a:p>
            <a:r>
              <a:rPr lang="en-US" dirty="0" smtClean="0"/>
              <a:t>Efficient IP allocation </a:t>
            </a:r>
            <a:endParaRPr lang="en-US" dirty="0" smtClean="0"/>
          </a:p>
          <a:p>
            <a:r>
              <a:rPr lang="en-US" dirty="0" smtClean="0"/>
              <a:t>Reduced broadcast traffic </a:t>
            </a:r>
            <a:endParaRPr lang="en-US" dirty="0" smtClean="0"/>
          </a:p>
          <a:p>
            <a:r>
              <a:rPr lang="en-US" dirty="0" smtClean="0"/>
              <a:t>Better security </a:t>
            </a:r>
            <a:endParaRPr lang="en-US" dirty="0" smtClean="0"/>
          </a:p>
          <a:p>
            <a:r>
              <a:rPr lang="en-US" b="1" dirty="0" smtClean="0"/>
              <a:t>Key Terms</a:t>
            </a:r>
            <a:endParaRPr lang="en-US" b="1" dirty="0" smtClean="0"/>
          </a:p>
          <a:p>
            <a:r>
              <a:rPr lang="en-US" dirty="0" smtClean="0"/>
              <a:t>Network ID </a:t>
            </a:r>
            <a:endParaRPr lang="en-US" dirty="0" smtClean="0"/>
          </a:p>
          <a:p>
            <a:r>
              <a:rPr lang="en-US" dirty="0" smtClean="0"/>
              <a:t>Host ID </a:t>
            </a:r>
            <a:endParaRPr lang="en-US" dirty="0" smtClean="0"/>
          </a:p>
          <a:p>
            <a:r>
              <a:rPr lang="en-US" dirty="0" smtClean="0"/>
              <a:t>Subnet Mask</a:t>
            </a:r>
            <a:endParaRPr lang="en-US" dirty="0" smtClean="0"/>
          </a:p>
          <a:p>
            <a:endParaRPr lang="en-US" dirty="0"/>
          </a:p>
        </p:txBody>
      </p:sp>
      <p:pic>
        <p:nvPicPr>
          <p:cNvPr id="24578" name="Picture 2" descr="VLAN vs Subnet - What's the difference?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4643438" y="2357430"/>
            <a:ext cx="4000528" cy="2400317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CIDR Notation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3228972" cy="4124340"/>
          </a:xfrm>
        </p:spPr>
        <p:txBody>
          <a:bodyPr>
            <a:normAutofit lnSpcReduction="10000"/>
          </a:bodyPr>
          <a:lstStyle/>
          <a:p>
            <a:r>
              <a:rPr lang="en-US" b="1" dirty="0" smtClean="0"/>
              <a:t>Examples</a:t>
            </a:r>
            <a:endParaRPr lang="en-US" b="1" dirty="0" smtClean="0"/>
          </a:p>
          <a:p>
            <a:r>
              <a:rPr lang="en-US" dirty="0" smtClean="0"/>
              <a:t>/24 </a:t>
            </a:r>
            <a:endParaRPr lang="en-US" dirty="0" smtClean="0"/>
          </a:p>
          <a:p>
            <a:r>
              <a:rPr lang="en-US" dirty="0" smtClean="0"/>
              <a:t>/16 </a:t>
            </a:r>
            <a:endParaRPr lang="en-US" dirty="0" smtClean="0"/>
          </a:p>
          <a:p>
            <a:r>
              <a:rPr lang="en-US" dirty="0" smtClean="0"/>
              <a:t>/30 </a:t>
            </a:r>
            <a:endParaRPr lang="en-US" dirty="0" smtClean="0"/>
          </a:p>
          <a:p>
            <a:r>
              <a:rPr lang="en-US" b="1" dirty="0" smtClean="0"/>
              <a:t>Benefits</a:t>
            </a:r>
            <a:endParaRPr lang="en-US" b="1" dirty="0" smtClean="0"/>
          </a:p>
          <a:p>
            <a:r>
              <a:rPr lang="en-US" dirty="0" smtClean="0"/>
              <a:t>Flexible IP allocation </a:t>
            </a:r>
            <a:endParaRPr lang="en-US" dirty="0" smtClean="0"/>
          </a:p>
          <a:p>
            <a:r>
              <a:rPr lang="en-US" dirty="0" smtClean="0"/>
              <a:t>Route </a:t>
            </a:r>
            <a:r>
              <a:rPr lang="en-US" dirty="0" smtClean="0"/>
              <a:t>summarization</a:t>
            </a:r>
            <a:endParaRPr lang="en-US" dirty="0" smtClean="0"/>
          </a:p>
          <a:p>
            <a:r>
              <a:rPr lang="en-US" dirty="0" smtClean="0"/>
              <a:t>Class - full or Classless inter domain routing </a:t>
            </a:r>
            <a:endParaRPr lang="en-US" dirty="0" smtClean="0"/>
          </a:p>
          <a:p>
            <a:endParaRPr lang="en-US" dirty="0"/>
          </a:p>
        </p:txBody>
      </p:sp>
      <p:pic>
        <p:nvPicPr>
          <p:cNvPr id="25603" name="Picture 3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4714876" y="714356"/>
            <a:ext cx="2857520" cy="4952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Routing Fundamentals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b="1" dirty="0" smtClean="0"/>
              <a:t>Router Functions</a:t>
            </a:r>
            <a:endParaRPr lang="en-US" b="1" dirty="0" smtClean="0"/>
          </a:p>
          <a:p>
            <a:r>
              <a:rPr lang="en-US" dirty="0" smtClean="0"/>
              <a:t>Forward packets </a:t>
            </a:r>
            <a:endParaRPr lang="en-US" dirty="0" smtClean="0"/>
          </a:p>
          <a:p>
            <a:r>
              <a:rPr lang="en-US" dirty="0" smtClean="0"/>
              <a:t>Determine best path </a:t>
            </a:r>
            <a:endParaRPr lang="en-US" dirty="0" smtClean="0"/>
          </a:p>
          <a:p>
            <a:r>
              <a:rPr lang="en-US" dirty="0" smtClean="0"/>
              <a:t>Connect multiple networks </a:t>
            </a:r>
            <a:endParaRPr lang="en-US" dirty="0" smtClean="0"/>
          </a:p>
          <a:p>
            <a:pPr>
              <a:buNone/>
            </a:pPr>
            <a:endParaRPr lang="en-US" dirty="0"/>
          </a:p>
        </p:txBody>
      </p:sp>
      <p:pic>
        <p:nvPicPr>
          <p:cNvPr id="26626" name="Picture 2" descr="Packet flow in different Network - GeeksforGeeks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2214546" y="3500438"/>
            <a:ext cx="4286280" cy="2664767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Static Routing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b="1" dirty="0" smtClean="0"/>
              <a:t>Characteristics</a:t>
            </a:r>
            <a:endParaRPr lang="en-US" b="1" dirty="0" smtClean="0"/>
          </a:p>
          <a:p>
            <a:r>
              <a:rPr lang="en-US" dirty="0" smtClean="0"/>
              <a:t>Manually configured </a:t>
            </a:r>
            <a:endParaRPr lang="en-US" dirty="0" smtClean="0"/>
          </a:p>
          <a:p>
            <a:r>
              <a:rPr lang="en-US" dirty="0" smtClean="0"/>
              <a:t>Predictable routing </a:t>
            </a:r>
            <a:endParaRPr lang="en-US" dirty="0" smtClean="0"/>
          </a:p>
          <a:p>
            <a:r>
              <a:rPr lang="en-US" dirty="0" smtClean="0"/>
              <a:t>Suitable for small </a:t>
            </a:r>
            <a:r>
              <a:rPr lang="en-US" dirty="0" smtClean="0"/>
              <a:t>networks</a:t>
            </a:r>
            <a:endParaRPr lang="en-US" dirty="0" smtClean="0"/>
          </a:p>
          <a:p>
            <a:pPr>
              <a:buNone/>
            </a:pPr>
            <a:endParaRPr lang="en-US" dirty="0" smtClean="0"/>
          </a:p>
          <a:p>
            <a:endParaRPr lang="en-US" dirty="0"/>
          </a:p>
        </p:txBody>
      </p:sp>
      <p:pic>
        <p:nvPicPr>
          <p:cNvPr id="27650" name="Picture 2" descr="Static Routing Configuration Guide with Examples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4786314" y="928670"/>
            <a:ext cx="3529966" cy="4909549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Dynamic Routing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b="1" dirty="0" smtClean="0"/>
              <a:t>Benefits</a:t>
            </a:r>
            <a:endParaRPr lang="en-US" b="1" dirty="0" smtClean="0"/>
          </a:p>
          <a:p>
            <a:r>
              <a:rPr lang="en-US" dirty="0" smtClean="0"/>
              <a:t>Automatic route updates </a:t>
            </a:r>
            <a:endParaRPr lang="en-US" dirty="0" smtClean="0"/>
          </a:p>
          <a:p>
            <a:r>
              <a:rPr lang="en-US" dirty="0" smtClean="0"/>
              <a:t>Scalable </a:t>
            </a:r>
            <a:endParaRPr lang="en-US" dirty="0" smtClean="0"/>
          </a:p>
          <a:p>
            <a:r>
              <a:rPr lang="en-US" dirty="0" smtClean="0"/>
              <a:t>Efficient path selection </a:t>
            </a:r>
            <a:endParaRPr lang="en-US" dirty="0" smtClean="0"/>
          </a:p>
          <a:p>
            <a:r>
              <a:rPr lang="en-US" b="1" dirty="0" smtClean="0"/>
              <a:t>Examples</a:t>
            </a:r>
            <a:endParaRPr lang="en-US" b="1" dirty="0" smtClean="0"/>
          </a:p>
          <a:p>
            <a:r>
              <a:rPr lang="en-US" dirty="0" smtClean="0"/>
              <a:t>OSPF </a:t>
            </a:r>
            <a:endParaRPr lang="en-US" dirty="0" smtClean="0"/>
          </a:p>
          <a:p>
            <a:r>
              <a:rPr lang="en-US" dirty="0" smtClean="0"/>
              <a:t>RIP </a:t>
            </a:r>
            <a:endParaRPr lang="en-US" dirty="0" smtClean="0"/>
          </a:p>
          <a:p>
            <a:r>
              <a:rPr lang="en-US" dirty="0" smtClean="0"/>
              <a:t>EIGRP</a:t>
            </a:r>
            <a:endParaRPr lang="en-US" dirty="0" smtClean="0"/>
          </a:p>
          <a:p>
            <a:endParaRPr lang="en-US" dirty="0"/>
          </a:p>
        </p:txBody>
      </p:sp>
      <p:pic>
        <p:nvPicPr>
          <p:cNvPr id="29698" name="Picture 2" descr="EIGRP Dynamic Routing or Summary Static Routes - Michael McNamara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4214810" y="2428868"/>
            <a:ext cx="4500594" cy="299315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OSPF Overview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b="1" dirty="0" smtClean="0"/>
              <a:t>Features</a:t>
            </a:r>
            <a:endParaRPr lang="en-US" b="1" dirty="0" smtClean="0"/>
          </a:p>
          <a:p>
            <a:r>
              <a:rPr lang="en-US" dirty="0" smtClean="0"/>
              <a:t>Link-state protocol </a:t>
            </a:r>
            <a:endParaRPr lang="en-US" dirty="0" smtClean="0"/>
          </a:p>
          <a:p>
            <a:r>
              <a:rPr lang="en-US" dirty="0" smtClean="0"/>
              <a:t>Fast convergence </a:t>
            </a:r>
            <a:endParaRPr lang="en-US" dirty="0" smtClean="0"/>
          </a:p>
          <a:p>
            <a:r>
              <a:rPr lang="en-US" dirty="0" smtClean="0"/>
              <a:t>Widely used in enterprises </a:t>
            </a:r>
            <a:endParaRPr lang="en-US" dirty="0" smtClean="0"/>
          </a:p>
          <a:p>
            <a:pPr>
              <a:buNone/>
            </a:pPr>
            <a:endParaRPr lang="en-US" dirty="0" smtClean="0"/>
          </a:p>
          <a:p>
            <a:endParaRPr lang="en-US" dirty="0"/>
          </a:p>
        </p:txBody>
      </p:sp>
      <p:pic>
        <p:nvPicPr>
          <p:cNvPr id="30722" name="Picture 2" descr="OSPF Part IV | CCNA Blog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1857356" y="3357562"/>
            <a:ext cx="5383667" cy="3174984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Switching Fundamentals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b="1" dirty="0" smtClean="0"/>
              <a:t>Functions</a:t>
            </a:r>
            <a:endParaRPr lang="en-US" b="1" dirty="0" smtClean="0"/>
          </a:p>
          <a:p>
            <a:r>
              <a:rPr lang="en-US" dirty="0" smtClean="0"/>
              <a:t>Learn MAC addresses </a:t>
            </a:r>
            <a:endParaRPr lang="en-US" dirty="0" smtClean="0"/>
          </a:p>
          <a:p>
            <a:r>
              <a:rPr lang="en-US" dirty="0" smtClean="0"/>
              <a:t>Forward frames </a:t>
            </a:r>
            <a:endParaRPr lang="en-US" dirty="0" smtClean="0"/>
          </a:p>
          <a:p>
            <a:r>
              <a:rPr lang="en-US" dirty="0" smtClean="0"/>
              <a:t>Reduce collisions</a:t>
            </a:r>
            <a:endParaRPr lang="en-US" dirty="0" smtClean="0"/>
          </a:p>
          <a:p>
            <a:endParaRPr lang="en-US" dirty="0"/>
          </a:p>
        </p:txBody>
      </p:sp>
      <p:pic>
        <p:nvPicPr>
          <p:cNvPr id="31746" name="Picture 2" descr="Difference between Hub, Switch and Router - GeeksforGeeks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4143372" y="1500174"/>
            <a:ext cx="4057650" cy="44577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VLAN Concepts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b="1" dirty="0" smtClean="0"/>
              <a:t>VLAN</a:t>
            </a:r>
            <a:endParaRPr lang="en-US" b="1" dirty="0" smtClean="0"/>
          </a:p>
          <a:p>
            <a:r>
              <a:rPr lang="en-US" dirty="0" smtClean="0"/>
              <a:t>Virtual Local Area Network</a:t>
            </a:r>
            <a:endParaRPr lang="en-US" dirty="0" smtClean="0"/>
          </a:p>
          <a:p>
            <a:r>
              <a:rPr lang="en-US" b="1" dirty="0" smtClean="0"/>
              <a:t>Benefits</a:t>
            </a:r>
            <a:endParaRPr lang="en-US" b="1" dirty="0" smtClean="0"/>
          </a:p>
          <a:p>
            <a:r>
              <a:rPr lang="en-US" dirty="0" smtClean="0"/>
              <a:t>Segmentation </a:t>
            </a:r>
            <a:endParaRPr lang="en-US" dirty="0" smtClean="0"/>
          </a:p>
          <a:p>
            <a:r>
              <a:rPr lang="en-US" dirty="0" smtClean="0"/>
              <a:t>Improved Security </a:t>
            </a:r>
            <a:endParaRPr lang="en-US" dirty="0" smtClean="0"/>
          </a:p>
          <a:p>
            <a:r>
              <a:rPr lang="en-US" dirty="0" smtClean="0"/>
              <a:t>Better Performance</a:t>
            </a:r>
            <a:endParaRPr lang="en-US" dirty="0" smtClean="0"/>
          </a:p>
          <a:p>
            <a:pPr>
              <a:buNone/>
            </a:pPr>
            <a:endParaRPr lang="en-US" dirty="0"/>
          </a:p>
        </p:txBody>
      </p:sp>
      <p:pic>
        <p:nvPicPr>
          <p:cNvPr id="32770" name="Picture 2" descr="12 network segmentation examples + business cybersecurity tips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4714876" y="1142984"/>
            <a:ext cx="4071965" cy="407196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Trunking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b="1" dirty="0" smtClean="0"/>
              <a:t>Purpose</a:t>
            </a:r>
            <a:endParaRPr lang="en-US" b="1" dirty="0" smtClean="0"/>
          </a:p>
          <a:p>
            <a:r>
              <a:rPr lang="en-US" dirty="0" smtClean="0"/>
              <a:t>Carry multiple VLANs across one link.</a:t>
            </a:r>
            <a:endParaRPr lang="en-US" dirty="0" smtClean="0"/>
          </a:p>
          <a:p>
            <a:r>
              <a:rPr lang="en-US" b="1" dirty="0" smtClean="0"/>
              <a:t>Protocol</a:t>
            </a:r>
            <a:endParaRPr lang="en-US" b="1" dirty="0" smtClean="0"/>
          </a:p>
          <a:p>
            <a:r>
              <a:rPr lang="en-US" dirty="0" smtClean="0"/>
              <a:t>IEEE 802.1Q</a:t>
            </a:r>
            <a:endParaRPr lang="en-US" dirty="0" smtClean="0"/>
          </a:p>
          <a:p>
            <a:endParaRPr lang="en-US" dirty="0"/>
          </a:p>
        </p:txBody>
      </p:sp>
      <p:pic>
        <p:nvPicPr>
          <p:cNvPr id="33794" name="Picture 2" descr="How to configure VLAN Trunk - LEARNABHI.COM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3143240" y="2571744"/>
            <a:ext cx="5572164" cy="3129159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Spanning Tree Protocol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b="1" dirty="0" smtClean="0"/>
              <a:t>Purpose</a:t>
            </a:r>
            <a:endParaRPr lang="en-US" b="1" dirty="0" smtClean="0"/>
          </a:p>
          <a:p>
            <a:r>
              <a:rPr lang="en-US" dirty="0" smtClean="0"/>
              <a:t>Prevent Layer 2 loops</a:t>
            </a:r>
            <a:endParaRPr lang="en-US" dirty="0" smtClean="0"/>
          </a:p>
          <a:p>
            <a:r>
              <a:rPr lang="en-US" b="1" dirty="0" smtClean="0"/>
              <a:t>Benefits</a:t>
            </a:r>
            <a:endParaRPr lang="en-US" b="1" dirty="0" smtClean="0"/>
          </a:p>
          <a:p>
            <a:r>
              <a:rPr lang="en-US" dirty="0" smtClean="0"/>
              <a:t>Network Stability </a:t>
            </a:r>
            <a:endParaRPr lang="en-US" dirty="0" smtClean="0"/>
          </a:p>
          <a:p>
            <a:r>
              <a:rPr lang="en-US" dirty="0" smtClean="0"/>
              <a:t>Redundancy Support</a:t>
            </a:r>
            <a:endParaRPr lang="en-US" dirty="0" smtClean="0"/>
          </a:p>
          <a:p>
            <a:endParaRPr lang="en-US" dirty="0"/>
          </a:p>
        </p:txBody>
      </p:sp>
      <p:pic>
        <p:nvPicPr>
          <p:cNvPr id="34818" name="Picture 2" descr="How STP prevents Ethernet network loops | Shruti Aggarwal posted on the  topic | LinkedIn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4214810" y="1571612"/>
            <a:ext cx="4429156" cy="4379669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EtherChannel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b="1" dirty="0" smtClean="0"/>
              <a:t>Purpose</a:t>
            </a:r>
            <a:endParaRPr lang="en-US" b="1" dirty="0" smtClean="0"/>
          </a:p>
          <a:p>
            <a:r>
              <a:rPr lang="en-US" dirty="0" smtClean="0"/>
              <a:t>Combine multiple physical links into one logical link.</a:t>
            </a:r>
            <a:endParaRPr lang="en-US" dirty="0" smtClean="0"/>
          </a:p>
          <a:p>
            <a:r>
              <a:rPr lang="en-US" b="1" dirty="0" smtClean="0"/>
              <a:t>Benefits</a:t>
            </a:r>
            <a:endParaRPr lang="en-US" b="1" dirty="0" smtClean="0"/>
          </a:p>
          <a:p>
            <a:r>
              <a:rPr lang="en-US" dirty="0" smtClean="0"/>
              <a:t>Increased bandwidth </a:t>
            </a:r>
            <a:endParaRPr lang="en-US" dirty="0" smtClean="0"/>
          </a:p>
          <a:p>
            <a:r>
              <a:rPr lang="en-US" dirty="0" smtClean="0"/>
              <a:t>Redundancy</a:t>
            </a:r>
            <a:endParaRPr lang="en-US" dirty="0" smtClean="0"/>
          </a:p>
          <a:p>
            <a:endParaRPr lang="en-US" dirty="0"/>
          </a:p>
        </p:txBody>
      </p:sp>
      <p:pic>
        <p:nvPicPr>
          <p:cNvPr id="35844" name="Picture 4" descr="EtherChannel - Lesson and Lab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4071934" y="2857496"/>
            <a:ext cx="4428920" cy="2883183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Wireless Networking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b="1" dirty="0" smtClean="0"/>
              <a:t>Components</a:t>
            </a:r>
            <a:endParaRPr lang="en-US" b="1" dirty="0" smtClean="0"/>
          </a:p>
          <a:p>
            <a:r>
              <a:rPr lang="en-US" dirty="0" smtClean="0"/>
              <a:t>Access Point </a:t>
            </a:r>
            <a:endParaRPr lang="en-US" dirty="0" smtClean="0"/>
          </a:p>
          <a:p>
            <a:r>
              <a:rPr lang="en-US" dirty="0" smtClean="0"/>
              <a:t>Wireless Clients </a:t>
            </a:r>
            <a:endParaRPr lang="en-US" dirty="0" smtClean="0"/>
          </a:p>
          <a:p>
            <a:r>
              <a:rPr lang="en-US" dirty="0" smtClean="0"/>
              <a:t>SSID </a:t>
            </a:r>
            <a:endParaRPr lang="en-US" dirty="0" smtClean="0"/>
          </a:p>
          <a:p>
            <a:r>
              <a:rPr lang="en-US" b="1" dirty="0" smtClean="0"/>
              <a:t>Benefits</a:t>
            </a:r>
            <a:endParaRPr lang="en-US" b="1" dirty="0" smtClean="0"/>
          </a:p>
          <a:p>
            <a:r>
              <a:rPr lang="en-US" dirty="0" smtClean="0"/>
              <a:t>Mobility </a:t>
            </a:r>
            <a:endParaRPr lang="en-US" dirty="0" smtClean="0"/>
          </a:p>
          <a:p>
            <a:r>
              <a:rPr lang="en-US" dirty="0" smtClean="0"/>
              <a:t>Flexibility</a:t>
            </a:r>
            <a:endParaRPr lang="en-US" dirty="0" smtClean="0"/>
          </a:p>
          <a:p>
            <a:endParaRPr lang="en-US" dirty="0"/>
          </a:p>
        </p:txBody>
      </p:sp>
      <p:pic>
        <p:nvPicPr>
          <p:cNvPr id="4" name="Picture 2" descr="EtherChannel configuration - Cisco Networking Foundations: Switching and  Routing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3571868" y="2428868"/>
            <a:ext cx="4876800" cy="2743201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DHCP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Dynamic Host Configuration </a:t>
            </a:r>
            <a:r>
              <a:rPr lang="en-US" dirty="0" smtClean="0"/>
              <a:t>Protocol</a:t>
            </a:r>
            <a:endParaRPr lang="en-US" dirty="0" smtClean="0"/>
          </a:p>
          <a:p>
            <a:r>
              <a:rPr lang="en-US" b="1" dirty="0" smtClean="0"/>
              <a:t>Functions</a:t>
            </a:r>
            <a:endParaRPr lang="en-US" b="1" dirty="0" smtClean="0"/>
          </a:p>
          <a:p>
            <a:r>
              <a:rPr lang="en-US" dirty="0" smtClean="0"/>
              <a:t>Automatic IP assignment </a:t>
            </a:r>
            <a:endParaRPr lang="en-US" dirty="0" smtClean="0"/>
          </a:p>
          <a:p>
            <a:r>
              <a:rPr lang="en-US" dirty="0" smtClean="0"/>
              <a:t>Gateway assignment </a:t>
            </a:r>
            <a:endParaRPr lang="en-US" dirty="0" smtClean="0"/>
          </a:p>
          <a:p>
            <a:r>
              <a:rPr lang="en-US" dirty="0" smtClean="0"/>
              <a:t>DNS assignment</a:t>
            </a:r>
            <a:endParaRPr lang="en-US" dirty="0" smtClean="0"/>
          </a:p>
          <a:p>
            <a:endParaRPr lang="en-US" dirty="0"/>
          </a:p>
        </p:txBody>
      </p:sp>
      <p:pic>
        <p:nvPicPr>
          <p:cNvPr id="37890" name="Picture 2" descr="Understanding DHCP: How it Works and Its Importance | Md Saiful Alam posted  on the topic | LinkedIn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4714876" y="2071678"/>
            <a:ext cx="3746276" cy="321471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4800608" cy="4572000"/>
          </a:xfrm>
        </p:spPr>
        <p:txBody>
          <a:bodyPr/>
          <a:lstStyle/>
          <a:p>
            <a:r>
              <a:rPr lang="en-US" b="1" dirty="0" smtClean="0"/>
              <a:t>Domain Name System</a:t>
            </a:r>
            <a:endParaRPr lang="en-US" b="1" dirty="0" smtClean="0"/>
          </a:p>
          <a:p>
            <a:r>
              <a:rPr lang="en-US" b="1" dirty="0" smtClean="0"/>
              <a:t>Purpose</a:t>
            </a:r>
            <a:endParaRPr lang="en-US" b="1" dirty="0" smtClean="0"/>
          </a:p>
          <a:p>
            <a:r>
              <a:rPr lang="en-US" dirty="0" smtClean="0"/>
              <a:t>Converts domain names into IP addresses.</a:t>
            </a:r>
            <a:endParaRPr lang="en-US" dirty="0" smtClean="0"/>
          </a:p>
          <a:p>
            <a:r>
              <a:rPr lang="en-US" dirty="0" smtClean="0"/>
              <a:t>Example:</a:t>
            </a:r>
            <a:br>
              <a:rPr lang="en-US" dirty="0" smtClean="0"/>
            </a:br>
            <a:r>
              <a:rPr lang="en-US" dirty="0" smtClean="0"/>
              <a:t>www.example.com → 192.168.1.1</a:t>
            </a:r>
            <a:endParaRPr lang="en-US" dirty="0" smtClean="0"/>
          </a:p>
          <a:p>
            <a:pPr>
              <a:buNone/>
            </a:pPr>
            <a:endParaRPr lang="en-US" dirty="0" smtClean="0"/>
          </a:p>
        </p:txBody>
      </p:sp>
      <p:pic>
        <p:nvPicPr>
          <p:cNvPr id="38914" name="Picture 2" descr="DNS Name Resolution Process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5699314" y="1571612"/>
            <a:ext cx="3153882" cy="2714644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NAT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p>
            <a:r>
              <a:rPr lang="en-US" altLang="en-US"/>
              <a:t>Network Address  Translation</a:t>
            </a:r>
            <a:endParaRPr lang="en-US" altLang="en-US"/>
          </a:p>
          <a:p>
            <a:r>
              <a:rPr lang="en-US" altLang="en-US"/>
              <a:t>Benefits</a:t>
            </a:r>
            <a:endParaRPr lang="en-US" altLang="en-US"/>
          </a:p>
          <a:p>
            <a:r>
              <a:rPr lang="en-US" altLang="en-US"/>
              <a:t>Conserves public IP addresses</a:t>
            </a:r>
            <a:endParaRPr lang="en-US" altLang="en-US"/>
          </a:p>
          <a:p>
            <a:r>
              <a:rPr lang="en-US" altLang="en-US"/>
              <a:t>Improves security</a:t>
            </a:r>
            <a:endParaRPr lang="en-US" altLang="en-US"/>
          </a:p>
        </p:txBody>
      </p:sp>
      <p:pic>
        <p:nvPicPr>
          <p:cNvPr id="4" name="Picture 3"/>
          <p:cNvPicPr/>
          <p:nvPr/>
        </p:nvPicPr>
        <p:blipFill>
          <a:blip r:embed="rId1"/>
          <a:stretch>
            <a:fillRect/>
          </a:stretch>
        </p:blipFill>
        <p:spPr>
          <a:xfrm>
            <a:off x="1619885" y="3573145"/>
            <a:ext cx="6443980" cy="237998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Access Control Lists ( ACL s )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p>
            <a:r>
              <a:rPr lang="en-US" altLang="en-US"/>
              <a:t>Purpose</a:t>
            </a:r>
            <a:endParaRPr lang="en-US" altLang="en-US"/>
          </a:p>
          <a:p>
            <a:r>
              <a:rPr lang="en-US" altLang="en-US"/>
              <a:t>Filter network traffic</a:t>
            </a:r>
            <a:endParaRPr lang="en-US" altLang="en-US"/>
          </a:p>
          <a:p>
            <a:r>
              <a:rPr lang="en-US" altLang="en-US"/>
              <a:t>Types</a:t>
            </a:r>
            <a:endParaRPr lang="en-US" altLang="en-US"/>
          </a:p>
          <a:p>
            <a:r>
              <a:rPr lang="en-US" altLang="en-US"/>
              <a:t>Standard ACL</a:t>
            </a:r>
            <a:endParaRPr lang="en-US" altLang="en-US"/>
          </a:p>
          <a:p>
            <a:r>
              <a:rPr lang="en-US" altLang="en-US"/>
              <a:t>Extended ACL</a:t>
            </a:r>
            <a:endParaRPr lang="en-US" altLang="en-US"/>
          </a:p>
        </p:txBody>
      </p:sp>
      <p:pic>
        <p:nvPicPr>
          <p:cNvPr id="4" name="Picture 3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267075" y="2636520"/>
            <a:ext cx="5173980" cy="264922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Network Security Fundamentals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p>
            <a:r>
              <a:rPr lang="en-US" altLang="en-US"/>
              <a:t>Threats</a:t>
            </a:r>
            <a:endParaRPr lang="en-US" altLang="en-US"/>
          </a:p>
          <a:p>
            <a:r>
              <a:rPr lang="en-US" altLang="en-US"/>
              <a:t>Malware</a:t>
            </a:r>
            <a:endParaRPr lang="en-US" altLang="en-US"/>
          </a:p>
          <a:p>
            <a:r>
              <a:rPr lang="en-US" altLang="en-US"/>
              <a:t>Phishing</a:t>
            </a:r>
            <a:endParaRPr lang="en-US" altLang="en-US"/>
          </a:p>
          <a:p>
            <a:r>
              <a:rPr lang="en-US" altLang="en-US"/>
              <a:t>Unauthorized Access</a:t>
            </a:r>
            <a:endParaRPr lang="en-US" altLang="en-US"/>
          </a:p>
          <a:p>
            <a:r>
              <a:rPr lang="en-US" altLang="en-US"/>
              <a:t>Protection</a:t>
            </a:r>
            <a:endParaRPr lang="en-US" altLang="en-US"/>
          </a:p>
          <a:p>
            <a:r>
              <a:rPr lang="en-US" altLang="en-US"/>
              <a:t>Firewalls</a:t>
            </a:r>
            <a:endParaRPr lang="en-US" altLang="en-US"/>
          </a:p>
          <a:p>
            <a:r>
              <a:rPr lang="en-US" altLang="en-US"/>
              <a:t>ACLs</a:t>
            </a:r>
            <a:endParaRPr lang="en-US" altLang="en-US"/>
          </a:p>
          <a:p>
            <a:r>
              <a:rPr lang="en-US" altLang="en-US"/>
              <a:t>Authentication</a:t>
            </a:r>
            <a:endParaRPr lang="en-US" altLang="en-US"/>
          </a:p>
        </p:txBody>
      </p:sp>
      <p:pic>
        <p:nvPicPr>
          <p:cNvPr id="4" name="Picture 3"/>
          <p:cNvPicPr/>
          <p:nvPr/>
        </p:nvPicPr>
        <p:blipFill>
          <a:blip r:embed="rId1"/>
          <a:stretch>
            <a:fillRect/>
          </a:stretch>
        </p:blipFill>
        <p:spPr>
          <a:xfrm>
            <a:off x="3923665" y="1988820"/>
            <a:ext cx="3619500" cy="340106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Network Automation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p>
            <a:r>
              <a:rPr lang="en-US" altLang="en-US"/>
              <a:t>Concepts</a:t>
            </a:r>
            <a:endParaRPr lang="en-US" altLang="en-US"/>
          </a:p>
          <a:p>
            <a:r>
              <a:rPr lang="en-US" altLang="en-US"/>
              <a:t>APIs</a:t>
            </a:r>
            <a:endParaRPr lang="en-US" altLang="en-US"/>
          </a:p>
          <a:p>
            <a:r>
              <a:rPr lang="en-US" altLang="en-US"/>
              <a:t>JSON</a:t>
            </a:r>
            <a:endParaRPr lang="en-US" altLang="en-US"/>
          </a:p>
          <a:p>
            <a:r>
              <a:rPr lang="en-US" altLang="en-US"/>
              <a:t>SDN</a:t>
            </a:r>
            <a:endParaRPr lang="en-US" altLang="en-US"/>
          </a:p>
          <a:p>
            <a:r>
              <a:rPr lang="en-US" altLang="en-US"/>
              <a:t>Programmability</a:t>
            </a:r>
            <a:endParaRPr lang="en-US" altLang="en-US"/>
          </a:p>
          <a:p>
            <a:r>
              <a:rPr lang="en-US" altLang="en-US"/>
              <a:t>Benefits</a:t>
            </a:r>
            <a:endParaRPr lang="en-US" altLang="en-US"/>
          </a:p>
          <a:p>
            <a:r>
              <a:rPr lang="en-US" altLang="en-US"/>
              <a:t>Faster deployment</a:t>
            </a:r>
            <a:endParaRPr lang="en-US" altLang="en-US"/>
          </a:p>
          <a:p>
            <a:r>
              <a:rPr lang="en-US" altLang="en-US"/>
              <a:t>Reduced errors</a:t>
            </a:r>
            <a:endParaRPr lang="en-US" altLang="en-US"/>
          </a:p>
        </p:txBody>
      </p:sp>
      <p:pic>
        <p:nvPicPr>
          <p:cNvPr id="4" name="Picture 3"/>
          <p:cNvPicPr/>
          <p:nvPr/>
        </p:nvPicPr>
        <p:blipFill>
          <a:blip r:embed="rId1"/>
          <a:stretch>
            <a:fillRect/>
          </a:stretch>
        </p:blipFill>
        <p:spPr>
          <a:xfrm>
            <a:off x="3948430" y="1844675"/>
            <a:ext cx="3728720" cy="408432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Summary &amp; Career Opportunities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60000"/>
          </a:bodyPr>
          <a:p>
            <a:r>
              <a:rPr lang="en-US" altLang="en-US"/>
              <a:t>Topics Covered</a:t>
            </a:r>
            <a:endParaRPr lang="en-US" altLang="en-US"/>
          </a:p>
          <a:p>
            <a:r>
              <a:rPr lang="en-US" altLang="en-US"/>
              <a:t>Networking Fundamentals</a:t>
            </a:r>
            <a:endParaRPr lang="en-US" altLang="en-US"/>
          </a:p>
          <a:p>
            <a:r>
              <a:rPr lang="en-US" altLang="en-US"/>
              <a:t>IP Addressing</a:t>
            </a:r>
            <a:endParaRPr lang="en-US" altLang="en-US"/>
          </a:p>
          <a:p>
            <a:r>
              <a:rPr lang="en-US" altLang="en-US"/>
              <a:t>Routing</a:t>
            </a:r>
            <a:endParaRPr lang="en-US" altLang="en-US"/>
          </a:p>
          <a:p>
            <a:r>
              <a:rPr lang="en-US" altLang="en-US"/>
              <a:t>Switching</a:t>
            </a:r>
            <a:endParaRPr lang="en-US" altLang="en-US"/>
          </a:p>
          <a:p>
            <a:r>
              <a:rPr lang="en-US" altLang="en-US"/>
              <a:t>Security</a:t>
            </a:r>
            <a:endParaRPr lang="en-US" altLang="en-US"/>
          </a:p>
          <a:p>
            <a:r>
              <a:rPr lang="en-US" altLang="en-US"/>
              <a:t>Wireless</a:t>
            </a:r>
            <a:endParaRPr lang="en-US" altLang="en-US"/>
          </a:p>
          <a:p>
            <a:r>
              <a:rPr lang="en-US" altLang="en-US"/>
              <a:t>Automation</a:t>
            </a:r>
            <a:endParaRPr lang="en-US" altLang="en-US"/>
          </a:p>
          <a:p>
            <a:r>
              <a:rPr lang="en-US" altLang="en-US"/>
              <a:t>Career Roles</a:t>
            </a:r>
            <a:endParaRPr lang="en-US" altLang="en-US"/>
          </a:p>
          <a:p>
            <a:r>
              <a:rPr lang="en-US" altLang="en-US"/>
              <a:t>Network Engineer</a:t>
            </a:r>
            <a:endParaRPr lang="en-US" altLang="en-US"/>
          </a:p>
          <a:p>
            <a:r>
              <a:rPr lang="en-US" altLang="en-US"/>
              <a:t>Network Administrator</a:t>
            </a:r>
            <a:endParaRPr lang="en-US" altLang="en-US"/>
          </a:p>
          <a:p>
            <a:r>
              <a:rPr lang="en-US" altLang="en-US"/>
              <a:t>System Administrator</a:t>
            </a:r>
            <a:endParaRPr lang="en-US" altLang="en-US"/>
          </a:p>
          <a:p>
            <a:r>
              <a:rPr lang="en-US" altLang="en-US"/>
              <a:t>Security Analyst</a:t>
            </a:r>
            <a:endParaRPr lang="en-US" altLang="en-US"/>
          </a:p>
          <a:p>
            <a:r>
              <a:rPr lang="en-US" altLang="en-US"/>
              <a:t>Technical Support Engineer</a:t>
            </a:r>
            <a:endParaRPr lang="en-US" alt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27855" y="1412240"/>
            <a:ext cx="3714115" cy="5114925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REFERENCES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p>
            <a:r>
              <a:rPr lang="en-US" altLang="en-US"/>
              <a:t>https://www.google.com/search?q=ccna+tutorial&amp;rlz=1C1CHBD_enIN1039IN1039&amp;oq=CCNA+Tutorial&amp;gs_lcrp=EgZjaHJvbWUqBggAEEUYOzIGCAAQRRg7Mg0IARAAGJECGIAEGIoFMg0IAhAAGJECGIAEGIoFMg0IAxAAGJECGIAEGIoFMgcIBBAAGIAEMggIBRAAGBYYHjIICAYQABgWGB4yCAgHEAAYFhgeMggICBAAGBYYHjIICAkQABgWGB7SAQk1MzEwajBqMTWoAgiwAgHxBYslUQfZedSd8QWLJVEH2XnUnQ&amp;sourceid=chrome&amp;ie=UTF-8</a:t>
            </a:r>
            <a:endParaRPr lang="en-US" altLang="en-US"/>
          </a:p>
          <a:p>
            <a:r>
              <a:rPr lang="en-US" altLang="en-US"/>
              <a:t>notes Notes NOTES ( Notes 1 To Notes 6 ) - https://github.com/Narthana-Elysium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quity">
  <a:themeElements>
    <a:clrScheme name="Equity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Equity">
      <a:majorFont>
        <a:latin typeface="Franklin Gothic Book"/>
        <a:ea typeface=""/>
        <a:cs typeface=""/>
        <a:font script="Grek" typeface="Calibri"/>
        <a:font script="Cyrl" typeface="Calibri"/>
        <a:font script="Jpan" typeface="HGｺﾞｼｯｸM"/>
        <a:font script="Hang" typeface="바탕"/>
        <a:font script="Hans" typeface="幼圆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Perpetua"/>
        <a:ea typeface=""/>
        <a:cs typeface=""/>
        <a:font script="Grek" typeface="Cambria"/>
        <a:font script="Cyrl" typeface="Cambria"/>
        <a:font script="Jpan" typeface="HG創英ﾌﾟﾚｾﾞﾝｽEB"/>
        <a:font script="Hang" typeface="맑은 고딕"/>
        <a:font script="Hans" typeface="宋体"/>
        <a:font script="Hant" typeface="新細明體"/>
        <a:font script="Arab" typeface="Times New Roman"/>
        <a:font script="Hebr" typeface="Aharoni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Equity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tint val="30000"/>
                <a:satMod val="300000"/>
              </a:schemeClr>
              <a:schemeClr val="phClr">
                <a:tint val="40000"/>
                <a:satMod val="200000"/>
              </a:schemeClr>
            </a:duotone>
          </a:blip>
          <a:tile tx="0" ty="0" sx="70000" sy="70000" flip="none" algn="ctr"/>
        </a:blipFill>
        <a:blipFill>
          <a:blip xmlns:r="http://schemas.openxmlformats.org/officeDocument/2006/relationships" r:embed="rId1">
            <a:duotone>
              <a:schemeClr val="phClr">
                <a:shade val="22000"/>
                <a:satMod val="160000"/>
              </a:schemeClr>
              <a:schemeClr val="phClr">
                <a:shade val="45000"/>
                <a:satMod val="100000"/>
              </a:schemeClr>
            </a:duotone>
          </a:blip>
          <a:tile tx="0" ty="0" sx="65000" sy="65000" flip="none" algn="ctr"/>
        </a:blipFill>
      </a:fillStyleLst>
      <a:lnStyleLst>
        <a:ln w="9525" cap="flat" cmpd="sng" algn="ctr">
          <a:solidFill>
            <a:schemeClr val="phClr">
              <a:shade val="60000"/>
              <a:satMod val="11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50800" dir="5400000" algn="t" rotWithShape="0">
              <a:srgbClr val="000000">
                <a:alpha val="60000"/>
              </a:srgbClr>
            </a:outerShdw>
          </a:effectLst>
          <a:scene3d>
            <a:camera prst="isometricBottomUp" fov="0">
              <a:rot lat="0" lon="0" rev="0"/>
            </a:camera>
            <a:lightRig rig="soft" dir="b">
              <a:rot lat="0" lon="0" rev="9000000"/>
            </a:lightRig>
          </a:scene3d>
          <a:sp3d contourW="35000" prstMaterial="matte">
            <a:bevelT w="45000" h="38100" prst="convex"/>
            <a:contourClr>
              <a:schemeClr val="phClr">
                <a:tint val="1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Equity</Template>
  <TotalTime>0</TotalTime>
  <Words>4095</Words>
  <Application>WPS Presentation</Application>
  <PresentationFormat>On-screen Show (4:3)</PresentationFormat>
  <Paragraphs>307</Paragraphs>
  <Slides>31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31</vt:i4>
      </vt:variant>
    </vt:vector>
  </HeadingPairs>
  <TitlesOfParts>
    <vt:vector size="41" baseType="lpstr">
      <vt:lpstr>Arial</vt:lpstr>
      <vt:lpstr>SimSun</vt:lpstr>
      <vt:lpstr>Wingdings</vt:lpstr>
      <vt:lpstr>Wingdings 2</vt:lpstr>
      <vt:lpstr>Perpetua</vt:lpstr>
      <vt:lpstr>Franklin Gothic Book</vt:lpstr>
      <vt:lpstr>Microsoft YaHei</vt:lpstr>
      <vt:lpstr>Arial Unicode MS</vt:lpstr>
      <vt:lpstr>Calibri</vt:lpstr>
      <vt:lpstr>Equity</vt:lpstr>
      <vt:lpstr>Introduction to CCNA ( Cisco Certified Network Associate ) By Elysium Academy What is CCNA ? Entry - level networking certification Covers networking fundamentals Introduces routing , switching , security , and automation Industry - recognized networking foundation </vt:lpstr>
      <vt:lpstr>What is Networking  ?</vt:lpstr>
      <vt:lpstr>Types of Networks</vt:lpstr>
      <vt:lpstr>Network Components</vt:lpstr>
      <vt:lpstr>OSI Model Overview</vt:lpstr>
      <vt:lpstr>TCP/IP Model</vt:lpstr>
      <vt:lpstr>Data Encapsulation</vt:lpstr>
      <vt:lpstr>Network Topologies</vt:lpstr>
      <vt:lpstr>Ethernet Fundamentals</vt:lpstr>
      <vt:lpstr>MAC Address</vt:lpstr>
      <vt:lpstr>IP Addressing</vt:lpstr>
      <vt:lpstr>Subnetting Basics</vt:lpstr>
      <vt:lpstr>CIDR Notation</vt:lpstr>
      <vt:lpstr>Routing Fundamentals</vt:lpstr>
      <vt:lpstr>Static Routing</vt:lpstr>
      <vt:lpstr>Dynamic Routing</vt:lpstr>
      <vt:lpstr>OSPF Overview</vt:lpstr>
      <vt:lpstr>Switching Fundamentals</vt:lpstr>
      <vt:lpstr>VLAN Concepts</vt:lpstr>
      <vt:lpstr>Trunking</vt:lpstr>
      <vt:lpstr>Spanning Tree Protocol</vt:lpstr>
      <vt:lpstr>EtherChannel</vt:lpstr>
      <vt:lpstr>Wireless Networking</vt:lpstr>
      <vt:lpstr>DHCP</vt:lpstr>
      <vt:lpstr>DNS</vt:lpstr>
      <vt:lpstr>NAT</vt:lpstr>
      <vt:lpstr>Access Control Lists ( ACL s )</vt:lpstr>
      <vt:lpstr>Network Security Fundamentals</vt:lpstr>
      <vt:lpstr>Network Automation</vt:lpstr>
      <vt:lpstr>Summary &amp; Career Opportunities</vt:lpstr>
      <vt:lpstr>REFERENCES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ADMIN</dc:creator>
  <cp:lastModifiedBy>ADMIN</cp:lastModifiedBy>
  <cp:revision>137</cp:revision>
  <dcterms:created xsi:type="dcterms:W3CDTF">2026-06-10T12:32:00Z</dcterms:created>
  <dcterms:modified xsi:type="dcterms:W3CDTF">2026-06-11T05:00:48Z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D4E87F08AEAB49808DA2AB60F26A4528_12</vt:lpwstr>
  </property>
  <property fmtid="{D5CDD505-2E9C-101B-9397-08002B2CF9AE}" pid="3" name="KSOProductBuildVer">
    <vt:lpwstr>1033-12.1.0.26880</vt:lpwstr>
  </property>
</Properties>
</file>