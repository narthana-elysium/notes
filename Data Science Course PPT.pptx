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Learn More" id="{2CC34DB2-6590-42C0-AD4B-A04C6060184E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241" autoAdjust="0"/>
  </p:normalViewPr>
  <p:slideViewPr>
    <p:cSldViewPr snapToGrid="0">
      <p:cViewPr varScale="1">
        <p:scale>
          <a:sx n="84" d="100"/>
          <a:sy n="84" d="100"/>
        </p:scale>
        <p:origin x="96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DATA SCIENCE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chemeClr val="bg1"/>
                </a:solidFill>
              </a:rPr>
              <a:t>Transforming Data into Insights </a:t>
            </a:r>
          </a:p>
          <a:p>
            <a:pPr marL="0" indent="0">
              <a:buNone/>
            </a:pPr>
            <a:r>
              <a:rPr lang="en-IN" sz="3600" b="1" dirty="0">
                <a:solidFill>
                  <a:schemeClr val="bg1"/>
                </a:solidFill>
                <a:latin typeface="+mj-lt"/>
              </a:rPr>
              <a:t>By Elysium Academy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AutoShape 2" descr="Spotter short video">
            <a:extLst>
              <a:ext uri="{FF2B5EF4-FFF2-40B4-BE49-F238E27FC236}">
                <a16:creationId xmlns:a16="http://schemas.microsoft.com/office/drawing/2014/main" id="{14AB9FAF-162B-4E1A-B40B-31336C3BDD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37510" cy="293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Spotter short video">
            <a:extLst>
              <a:ext uri="{FF2B5EF4-FFF2-40B4-BE49-F238E27FC236}">
                <a16:creationId xmlns:a16="http://schemas.microsoft.com/office/drawing/2014/main" id="{7213046D-3330-4CFB-B842-AAA6F68B58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14D9FA-5C11-4D5D-B4A6-F70CB1AC1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842" y="1590675"/>
            <a:ext cx="53244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AGENDA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2853100" cy="3138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6AD1D-9B99-474D-BB0A-FCA0DDAA8912}"/>
              </a:ext>
            </a:extLst>
          </p:cNvPr>
          <p:cNvSpPr txBox="1"/>
          <p:nvPr/>
        </p:nvSpPr>
        <p:spPr>
          <a:xfrm>
            <a:off x="772667" y="2083144"/>
            <a:ext cx="26220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Topics Covered</a:t>
            </a:r>
          </a:p>
          <a:p>
            <a:r>
              <a:rPr lang="en-IN" dirty="0"/>
              <a:t>Introduction to Data Science</a:t>
            </a:r>
          </a:p>
          <a:p>
            <a:r>
              <a:rPr lang="en-IN" dirty="0"/>
              <a:t>Data Science Lifecycle</a:t>
            </a:r>
          </a:p>
          <a:p>
            <a:r>
              <a:rPr lang="en-IN" dirty="0"/>
              <a:t>Types of Data</a:t>
            </a:r>
          </a:p>
          <a:p>
            <a:r>
              <a:rPr lang="en-IN" dirty="0"/>
              <a:t>Data Collection</a:t>
            </a:r>
          </a:p>
          <a:p>
            <a:r>
              <a:rPr lang="en-IN" dirty="0"/>
              <a:t>Data Preparation</a:t>
            </a:r>
          </a:p>
          <a:p>
            <a:r>
              <a:rPr lang="en-IN" dirty="0"/>
              <a:t>Statistics</a:t>
            </a:r>
          </a:p>
          <a:p>
            <a:r>
              <a:rPr lang="en-IN" dirty="0"/>
              <a:t>Data Visualization</a:t>
            </a:r>
          </a:p>
          <a:p>
            <a:r>
              <a:rPr lang="en-IN" dirty="0"/>
              <a:t>Machine Learning</a:t>
            </a:r>
          </a:p>
          <a:p>
            <a:r>
              <a:rPr lang="en-IN" dirty="0"/>
              <a:t>Deep Learning</a:t>
            </a:r>
          </a:p>
          <a:p>
            <a:r>
              <a:rPr lang="en-IN" dirty="0"/>
              <a:t>Tools &amp; Applications</a:t>
            </a:r>
          </a:p>
          <a:p>
            <a:r>
              <a:rPr lang="en-IN" dirty="0"/>
              <a:t>Career Opportunities</a:t>
            </a:r>
          </a:p>
        </p:txBody>
      </p:sp>
      <p:pic>
        <p:nvPicPr>
          <p:cNvPr id="2050" name="Picture 2" descr="Ultimate Free Python For Data Science Roadmap In 2023 | by Youssef Hosni | Level Up Coding">
            <a:extLst>
              <a:ext uri="{FF2B5EF4-FFF2-40B4-BE49-F238E27FC236}">
                <a16:creationId xmlns:a16="http://schemas.microsoft.com/office/drawing/2014/main" id="{79F67217-6D3F-4147-9171-40B6C75E7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63" y="1851660"/>
            <a:ext cx="48672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SCIENCE 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17"/>
          <p:cNvSpPr txBox="1">
            <a:spLocks/>
          </p:cNvSpPr>
          <p:nvPr/>
        </p:nvSpPr>
        <p:spPr>
          <a:xfrm>
            <a:off x="1066039" y="131362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028C74-1360-4BE9-B222-7D53002034D1}"/>
              </a:ext>
            </a:extLst>
          </p:cNvPr>
          <p:cNvSpPr txBox="1"/>
          <p:nvPr/>
        </p:nvSpPr>
        <p:spPr>
          <a:xfrm>
            <a:off x="803823" y="1655954"/>
            <a:ext cx="45857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Definition</a:t>
            </a:r>
          </a:p>
          <a:p>
            <a:endParaRPr lang="en-IN" dirty="0"/>
          </a:p>
          <a:p>
            <a:r>
              <a:rPr lang="en-IN" dirty="0"/>
              <a:t>Data Science is an interdisciplinary field that combines:</a:t>
            </a:r>
          </a:p>
          <a:p>
            <a:endParaRPr lang="en-IN" dirty="0"/>
          </a:p>
          <a:p>
            <a:r>
              <a:rPr lang="en-IN" dirty="0"/>
              <a:t>Mathematics</a:t>
            </a:r>
          </a:p>
          <a:p>
            <a:r>
              <a:rPr lang="en-IN" dirty="0"/>
              <a:t>Statistics</a:t>
            </a:r>
          </a:p>
          <a:p>
            <a:r>
              <a:rPr lang="en-IN" dirty="0"/>
              <a:t>Programming</a:t>
            </a:r>
          </a:p>
          <a:p>
            <a:r>
              <a:rPr lang="en-IN" dirty="0"/>
              <a:t>Domain Knowledge</a:t>
            </a:r>
          </a:p>
          <a:p>
            <a:r>
              <a:rPr lang="en-IN" dirty="0"/>
              <a:t>Machine Learning</a:t>
            </a:r>
          </a:p>
          <a:p>
            <a:endParaRPr lang="en-IN" dirty="0"/>
          </a:p>
          <a:p>
            <a:r>
              <a:rPr lang="en-IN" dirty="0"/>
              <a:t>to extract meaningful insights from data and support decision-making.</a:t>
            </a:r>
          </a:p>
        </p:txBody>
      </p:sp>
      <p:pic>
        <p:nvPicPr>
          <p:cNvPr id="3074" name="Picture 2" descr="Data Analytics vs Data Science - Data Science PM">
            <a:extLst>
              <a:ext uri="{FF2B5EF4-FFF2-40B4-BE49-F238E27FC236}">
                <a16:creationId xmlns:a16="http://schemas.microsoft.com/office/drawing/2014/main" id="{61B9A03D-75E5-4E7E-9728-F641A368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84" y="1455491"/>
            <a:ext cx="4841646" cy="484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DATA SCIENCE 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Importance</a:t>
            </a:r>
          </a:p>
          <a:p>
            <a:r>
              <a:rPr lang="en-US" dirty="0"/>
              <a:t>Organizations use Data Science to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Improve decision-making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Predict future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Understand customer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Reduce costs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Increase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 innovative products</a:t>
            </a:r>
          </a:p>
        </p:txBody>
      </p:sp>
      <p:pic>
        <p:nvPicPr>
          <p:cNvPr id="4098" name="Picture 2" descr="Open Source Business Intelligence Tools You Should Know">
            <a:extLst>
              <a:ext uri="{FF2B5EF4-FFF2-40B4-BE49-F238E27FC236}">
                <a16:creationId xmlns:a16="http://schemas.microsoft.com/office/drawing/2014/main" id="{15D590C9-DCA7-40AF-8A2E-3589E809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040" y="1628775"/>
            <a:ext cx="502920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LIFECYCLE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FDE74B-A5FD-417B-BEB6-C069493E4C77}"/>
              </a:ext>
            </a:extLst>
          </p:cNvPr>
          <p:cNvSpPr txBox="1"/>
          <p:nvPr/>
        </p:nvSpPr>
        <p:spPr>
          <a:xfrm>
            <a:off x="713772" y="1840498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Stages</a:t>
            </a:r>
          </a:p>
          <a:p>
            <a:r>
              <a:rPr lang="en-IN" dirty="0"/>
              <a:t>Data Collection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Data Exploration</a:t>
            </a:r>
          </a:p>
          <a:p>
            <a:r>
              <a:rPr lang="en-IN" dirty="0"/>
              <a:t>Data Analysis</a:t>
            </a:r>
          </a:p>
          <a:p>
            <a:r>
              <a:rPr lang="en-IN" dirty="0"/>
              <a:t>Model Building</a:t>
            </a:r>
          </a:p>
          <a:p>
            <a:r>
              <a:rPr lang="en-IN" dirty="0"/>
              <a:t>Evaluation</a:t>
            </a:r>
          </a:p>
          <a:p>
            <a:r>
              <a:rPr lang="en-IN" dirty="0"/>
              <a:t>Deployment</a:t>
            </a:r>
          </a:p>
        </p:txBody>
      </p:sp>
      <p:pic>
        <p:nvPicPr>
          <p:cNvPr id="5124" name="Picture 4" descr="GitHub - manishkr1754/Structured_Thinking_in_Data_Science_Lifecycle: Case  Studies &amp; Problems based on Data Science Lifecycle Framework - Problem  Formulation, Hypothesis Building, Data Extraction and Cleaning, Data  Modeling and Post Modeling · GitHub">
            <a:extLst>
              <a:ext uri="{FF2B5EF4-FFF2-40B4-BE49-F238E27FC236}">
                <a16:creationId xmlns:a16="http://schemas.microsoft.com/office/drawing/2014/main" id="{5FAC3AFA-13F2-435C-8B6F-6C005F077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753" y="1840498"/>
            <a:ext cx="494347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WHAT IS DATA 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F7504-F821-45E9-9B07-6C2F9571793B}"/>
              </a:ext>
            </a:extLst>
          </p:cNvPr>
          <p:cNvSpPr txBox="1"/>
          <p:nvPr/>
        </p:nvSpPr>
        <p:spPr>
          <a:xfrm>
            <a:off x="521207" y="1723519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</a:t>
            </a:r>
          </a:p>
          <a:p>
            <a:endParaRPr lang="en-IN" dirty="0"/>
          </a:p>
          <a:p>
            <a:r>
              <a:rPr lang="en-IN" dirty="0"/>
              <a:t>Data refers to raw facts and figures collected for analysis .</a:t>
            </a:r>
          </a:p>
          <a:p>
            <a:endParaRPr lang="en-IN" dirty="0"/>
          </a:p>
          <a:p>
            <a:r>
              <a:rPr lang="en-IN" dirty="0"/>
              <a:t>Examples :</a:t>
            </a:r>
          </a:p>
          <a:p>
            <a:endParaRPr lang="en-IN" dirty="0"/>
          </a:p>
          <a:p>
            <a:r>
              <a:rPr lang="en-IN" dirty="0"/>
              <a:t>Student marks</a:t>
            </a:r>
          </a:p>
          <a:p>
            <a:r>
              <a:rPr lang="en-IN" dirty="0"/>
              <a:t>Sales records</a:t>
            </a:r>
          </a:p>
          <a:p>
            <a:r>
              <a:rPr lang="en-IN" dirty="0"/>
              <a:t>Website visits</a:t>
            </a:r>
          </a:p>
          <a:p>
            <a:r>
              <a:rPr lang="en-IN" dirty="0"/>
              <a:t>Temperature readings</a:t>
            </a:r>
          </a:p>
        </p:txBody>
      </p:sp>
      <p:pic>
        <p:nvPicPr>
          <p:cNvPr id="6146" name="Picture 2" descr="What is Raw Data? | Raw Data examples | Displayr.com">
            <a:extLst>
              <a:ext uri="{FF2B5EF4-FFF2-40B4-BE49-F238E27FC236}">
                <a16:creationId xmlns:a16="http://schemas.microsoft.com/office/drawing/2014/main" id="{BD809FFD-5243-4D09-9E91-A699BF755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703" y="1516380"/>
            <a:ext cx="3228975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DATA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C6333-F74D-4FE9-956C-B87BC30B95CE}"/>
              </a:ext>
            </a:extLst>
          </p:cNvPr>
          <p:cNvSpPr txBox="1"/>
          <p:nvPr/>
        </p:nvSpPr>
        <p:spPr>
          <a:xfrm>
            <a:off x="521207" y="1459290"/>
            <a:ext cx="60979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Structured Data</a:t>
            </a:r>
          </a:p>
          <a:p>
            <a:r>
              <a:rPr lang="en-IN" dirty="0"/>
              <a:t>Databases</a:t>
            </a:r>
          </a:p>
          <a:p>
            <a:r>
              <a:rPr lang="en-IN" dirty="0"/>
              <a:t>Excel Sheets</a:t>
            </a:r>
          </a:p>
          <a:p>
            <a:r>
              <a:rPr lang="en-IN" dirty="0"/>
              <a:t>Semi-Structured Data</a:t>
            </a:r>
          </a:p>
          <a:p>
            <a:r>
              <a:rPr lang="en-IN" dirty="0"/>
              <a:t>XML</a:t>
            </a:r>
          </a:p>
          <a:p>
            <a:r>
              <a:rPr lang="en-IN" dirty="0"/>
              <a:t>JSON</a:t>
            </a:r>
          </a:p>
          <a:p>
            <a:r>
              <a:rPr lang="en-IN" dirty="0"/>
              <a:t>Unstructured Data</a:t>
            </a:r>
          </a:p>
          <a:p>
            <a:r>
              <a:rPr lang="en-IN" dirty="0"/>
              <a:t>Images</a:t>
            </a:r>
          </a:p>
          <a:p>
            <a:r>
              <a:rPr lang="en-IN" dirty="0"/>
              <a:t>Videos</a:t>
            </a:r>
          </a:p>
          <a:p>
            <a:r>
              <a:rPr lang="en-IN" dirty="0"/>
              <a:t>Audio</a:t>
            </a:r>
          </a:p>
          <a:p>
            <a:r>
              <a:rPr lang="en-IN" dirty="0"/>
              <a:t>Social Media Posts</a:t>
            </a:r>
          </a:p>
        </p:txBody>
      </p:sp>
      <p:pic>
        <p:nvPicPr>
          <p:cNvPr id="7170" name="Picture 2" descr="Structured Vs. Unstructured Data – Best Thing You Need To Know">
            <a:extLst>
              <a:ext uri="{FF2B5EF4-FFF2-40B4-BE49-F238E27FC236}">
                <a16:creationId xmlns:a16="http://schemas.microsoft.com/office/drawing/2014/main" id="{2923B580-E423-460C-AE10-A5D58B85F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956" y="1783080"/>
            <a:ext cx="5920740" cy="296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9908D1-1985-42B7-924B-D4644CF27F1D}"/>
              </a:ext>
            </a:extLst>
          </p:cNvPr>
          <p:cNvSpPr txBox="1"/>
          <p:nvPr/>
        </p:nvSpPr>
        <p:spPr>
          <a:xfrm>
            <a:off x="1549907" y="2413337"/>
            <a:ext cx="35021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Sources of Data</a:t>
            </a:r>
          </a:p>
          <a:p>
            <a:r>
              <a:rPr lang="en-IN" dirty="0"/>
              <a:t>Surveys</a:t>
            </a:r>
          </a:p>
          <a:p>
            <a:r>
              <a:rPr lang="en-IN" dirty="0"/>
              <a:t>Websites</a:t>
            </a:r>
          </a:p>
          <a:p>
            <a:r>
              <a:rPr lang="en-IN" dirty="0"/>
              <a:t>Sensors</a:t>
            </a:r>
          </a:p>
          <a:p>
            <a:r>
              <a:rPr lang="en-IN" dirty="0"/>
              <a:t>Mobile Applications</a:t>
            </a:r>
          </a:p>
          <a:p>
            <a:r>
              <a:rPr lang="en-IN" dirty="0"/>
              <a:t>Social Media</a:t>
            </a:r>
          </a:p>
          <a:p>
            <a:r>
              <a:rPr lang="en-IN" dirty="0"/>
              <a:t>Databases</a:t>
            </a:r>
          </a:p>
        </p:txBody>
      </p:sp>
      <p:pic>
        <p:nvPicPr>
          <p:cNvPr id="8194" name="Picture 2" descr="4,600+ Open Source Data Stock Photos, Pictures &amp; Royalty-Free Images - iStock">
            <a:extLst>
              <a:ext uri="{FF2B5EF4-FFF2-40B4-BE49-F238E27FC236}">
                <a16:creationId xmlns:a16="http://schemas.microsoft.com/office/drawing/2014/main" id="{E4E46613-16B2-4D1F-B868-F07E616A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793" y="1780223"/>
            <a:ext cx="42576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ROLE OF PYTHON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2D4F8-9DBA-4F47-8EBE-0B908F4BF4D6}"/>
              </a:ext>
            </a:extLst>
          </p:cNvPr>
          <p:cNvSpPr txBox="1"/>
          <p:nvPr/>
        </p:nvSpPr>
        <p:spPr>
          <a:xfrm>
            <a:off x="625793" y="2612380"/>
            <a:ext cx="60979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Why Python?</a:t>
            </a:r>
          </a:p>
          <a:p>
            <a:r>
              <a:rPr lang="en-IN" dirty="0"/>
              <a:t>Easy to Learn</a:t>
            </a:r>
          </a:p>
          <a:p>
            <a:r>
              <a:rPr lang="en-IN" dirty="0"/>
              <a:t>Large Community Support</a:t>
            </a:r>
          </a:p>
          <a:p>
            <a:r>
              <a:rPr lang="en-IN" dirty="0"/>
              <a:t>Rich Libraries</a:t>
            </a:r>
          </a:p>
          <a:p>
            <a:r>
              <a:rPr lang="en-IN" dirty="0"/>
              <a:t>Widely Used in Data Science</a:t>
            </a:r>
          </a:p>
          <a:p>
            <a:endParaRPr lang="en-IN" dirty="0"/>
          </a:p>
          <a:p>
            <a:r>
              <a:rPr lang="en-IN" dirty="0"/>
              <a:t>Popular Libraries:</a:t>
            </a:r>
          </a:p>
          <a:p>
            <a:endParaRPr lang="en-IN" dirty="0"/>
          </a:p>
          <a:p>
            <a:r>
              <a:rPr lang="en-IN" dirty="0"/>
              <a:t>NumPy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Matplotlib</a:t>
            </a:r>
          </a:p>
          <a:p>
            <a:r>
              <a:rPr lang="en-IN" dirty="0"/>
              <a:t>Scikit-Learn</a:t>
            </a:r>
          </a:p>
        </p:txBody>
      </p:sp>
      <p:pic>
        <p:nvPicPr>
          <p:cNvPr id="9218" name="Picture 2" descr="Python Logo and symbol, meaning, history, PNG, brand">
            <a:extLst>
              <a:ext uri="{FF2B5EF4-FFF2-40B4-BE49-F238E27FC236}">
                <a16:creationId xmlns:a16="http://schemas.microsoft.com/office/drawing/2014/main" id="{F523CE6F-A0D0-4449-9D77-676D3F1F9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839" y="2612380"/>
            <a:ext cx="5466109" cy="34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188C-9352-4267-8753-86AC01B7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ROLE OF SQL Structured Query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DE502-62B5-44BA-850A-DBC09D9AEF09}"/>
              </a:ext>
            </a:extLst>
          </p:cNvPr>
          <p:cNvSpPr txBox="1"/>
          <p:nvPr/>
        </p:nvSpPr>
        <p:spPr>
          <a:xfrm>
            <a:off x="521208" y="2388870"/>
            <a:ext cx="43479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Why SQL ?</a:t>
            </a:r>
          </a:p>
          <a:p>
            <a:endParaRPr lang="en-IN" dirty="0"/>
          </a:p>
          <a:p>
            <a:r>
              <a:rPr lang="en-IN" dirty="0"/>
              <a:t>SQL helps :</a:t>
            </a:r>
          </a:p>
          <a:p>
            <a:endParaRPr lang="en-IN" dirty="0"/>
          </a:p>
          <a:p>
            <a:r>
              <a:rPr lang="en-IN" dirty="0"/>
              <a:t>Store Data</a:t>
            </a:r>
          </a:p>
          <a:p>
            <a:r>
              <a:rPr lang="en-IN" dirty="0"/>
              <a:t>Retrieve Data</a:t>
            </a:r>
          </a:p>
          <a:p>
            <a:r>
              <a:rPr lang="en-IN" dirty="0"/>
              <a:t>Filter Records</a:t>
            </a:r>
          </a:p>
          <a:p>
            <a:r>
              <a:rPr lang="en-IN" dirty="0" err="1"/>
              <a:t>Analyze</a:t>
            </a:r>
            <a:r>
              <a:rPr lang="en-IN" dirty="0"/>
              <a:t> Large Datasets</a:t>
            </a:r>
          </a:p>
          <a:p>
            <a:endParaRPr lang="en-IN" dirty="0"/>
          </a:p>
          <a:p>
            <a:r>
              <a:rPr lang="en-IN" dirty="0"/>
              <a:t>Common Operations:</a:t>
            </a:r>
          </a:p>
          <a:p>
            <a:endParaRPr lang="en-IN" dirty="0"/>
          </a:p>
          <a:p>
            <a:r>
              <a:rPr lang="en-IN" dirty="0"/>
              <a:t>SELECT</a:t>
            </a:r>
          </a:p>
          <a:p>
            <a:r>
              <a:rPr lang="en-IN" dirty="0"/>
              <a:t>WHERE</a:t>
            </a:r>
          </a:p>
          <a:p>
            <a:r>
              <a:rPr lang="en-IN" dirty="0"/>
              <a:t>JOIN</a:t>
            </a:r>
          </a:p>
          <a:p>
            <a:r>
              <a:rPr lang="en-IN" dirty="0"/>
              <a:t>GROUP BY</a:t>
            </a:r>
          </a:p>
        </p:txBody>
      </p:sp>
      <p:pic>
        <p:nvPicPr>
          <p:cNvPr id="10242" name="Picture 2" descr="Sql Queries Stock Illustrations – 2,994 Sql Queries Stock Illustrations,  Vectors &amp; Clipart - Dreamstime">
            <a:extLst>
              <a:ext uri="{FF2B5EF4-FFF2-40B4-BE49-F238E27FC236}">
                <a16:creationId xmlns:a16="http://schemas.microsoft.com/office/drawing/2014/main" id="{D9862BCC-E8FE-40D9-93B5-D794964F7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680" y="2701290"/>
            <a:ext cx="3573780" cy="357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29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8A51-45F7-4152-9CA2-76A10B88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0F15D-0AEE-4BC4-9579-44232B13F017}"/>
              </a:ext>
            </a:extLst>
          </p:cNvPr>
          <p:cNvSpPr txBox="1"/>
          <p:nvPr/>
        </p:nvSpPr>
        <p:spPr>
          <a:xfrm>
            <a:off x="682943" y="2740789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Importance</a:t>
            </a:r>
          </a:p>
          <a:p>
            <a:endParaRPr lang="en-IN" dirty="0"/>
          </a:p>
          <a:p>
            <a:r>
              <a:rPr lang="en-IN" dirty="0"/>
              <a:t>Raw data often contains:</a:t>
            </a:r>
          </a:p>
          <a:p>
            <a:endParaRPr lang="en-IN" dirty="0"/>
          </a:p>
          <a:p>
            <a:r>
              <a:rPr lang="en-IN" dirty="0"/>
              <a:t>Missing Values</a:t>
            </a:r>
          </a:p>
          <a:p>
            <a:r>
              <a:rPr lang="en-IN" dirty="0"/>
              <a:t>Duplicates</a:t>
            </a:r>
          </a:p>
          <a:p>
            <a:r>
              <a:rPr lang="en-IN" dirty="0"/>
              <a:t>Errors</a:t>
            </a:r>
          </a:p>
          <a:p>
            <a:r>
              <a:rPr lang="en-IN" dirty="0"/>
              <a:t>Inconsistencies</a:t>
            </a:r>
          </a:p>
          <a:p>
            <a:endParaRPr lang="en-IN" dirty="0"/>
          </a:p>
          <a:p>
            <a:r>
              <a:rPr lang="en-IN" dirty="0" err="1"/>
              <a:t>Preprocessing</a:t>
            </a:r>
            <a:r>
              <a:rPr lang="en-IN" dirty="0"/>
              <a:t> improves data quality.</a:t>
            </a:r>
          </a:p>
        </p:txBody>
      </p:sp>
      <p:pic>
        <p:nvPicPr>
          <p:cNvPr id="11266" name="Picture 2" descr="Data Cleaning: Significance and Stages of Data Cleansing in Data Analytics  | by Ahsan Ali | Medium">
            <a:extLst>
              <a:ext uri="{FF2B5EF4-FFF2-40B4-BE49-F238E27FC236}">
                <a16:creationId xmlns:a16="http://schemas.microsoft.com/office/drawing/2014/main" id="{FBA518A3-3F33-4C8C-B592-06FBDF94F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361" y="2628280"/>
            <a:ext cx="4387850" cy="342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45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D4AE-E64A-45B6-BF30-88F29D17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C0AE4-BC99-4255-954D-D9EE7F5EDF7B}"/>
              </a:ext>
            </a:extLst>
          </p:cNvPr>
          <p:cNvSpPr txBox="1"/>
          <p:nvPr/>
        </p:nvSpPr>
        <p:spPr>
          <a:xfrm>
            <a:off x="705803" y="2587466"/>
            <a:ext cx="25517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Activities</a:t>
            </a:r>
          </a:p>
          <a:p>
            <a:r>
              <a:rPr lang="en-IN" dirty="0"/>
              <a:t>Removing Duplicates</a:t>
            </a:r>
          </a:p>
          <a:p>
            <a:r>
              <a:rPr lang="en-IN" dirty="0"/>
              <a:t>Fixing Errors</a:t>
            </a:r>
          </a:p>
          <a:p>
            <a:r>
              <a:rPr lang="en-IN" dirty="0"/>
              <a:t>Handling Missing Values</a:t>
            </a:r>
          </a:p>
          <a:p>
            <a:r>
              <a:rPr lang="en-IN" dirty="0"/>
              <a:t>Standardizing Formats</a:t>
            </a:r>
          </a:p>
        </p:txBody>
      </p:sp>
      <p:pic>
        <p:nvPicPr>
          <p:cNvPr id="12290" name="Picture 2" descr="Data cleaning workflow. | Download Scientific Diagram">
            <a:extLst>
              <a:ext uri="{FF2B5EF4-FFF2-40B4-BE49-F238E27FC236}">
                <a16:creationId xmlns:a16="http://schemas.microsoft.com/office/drawing/2014/main" id="{CC132E6D-A83C-4F66-B0E2-726BDC51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919" y="2084544"/>
            <a:ext cx="2106931" cy="421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490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ADAF-2D0D-46BA-A91C-9223B8FE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MISSING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FFFE3-D611-4DCA-8E60-59A8EEBF3491}"/>
              </a:ext>
            </a:extLst>
          </p:cNvPr>
          <p:cNvSpPr txBox="1"/>
          <p:nvPr/>
        </p:nvSpPr>
        <p:spPr>
          <a:xfrm>
            <a:off x="1254443" y="2736056"/>
            <a:ext cx="22202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Techniques</a:t>
            </a:r>
          </a:p>
          <a:p>
            <a:r>
              <a:rPr lang="en-IN" dirty="0"/>
              <a:t>Remove Records</a:t>
            </a:r>
          </a:p>
          <a:p>
            <a:r>
              <a:rPr lang="en-IN" dirty="0"/>
              <a:t>Replace with Mean</a:t>
            </a:r>
          </a:p>
          <a:p>
            <a:r>
              <a:rPr lang="en-IN" dirty="0"/>
              <a:t>Replace with Median</a:t>
            </a:r>
          </a:p>
          <a:p>
            <a:r>
              <a:rPr lang="en-IN" dirty="0"/>
              <a:t>Predict Missing Values</a:t>
            </a:r>
          </a:p>
        </p:txBody>
      </p:sp>
      <p:pic>
        <p:nvPicPr>
          <p:cNvPr id="13314" name="Picture 2" descr="How To Handle Null/Missing Values In Machine Learning Datasets (5 Ways) |  Analytics India Magazine">
            <a:extLst>
              <a:ext uri="{FF2B5EF4-FFF2-40B4-BE49-F238E27FC236}">
                <a16:creationId xmlns:a16="http://schemas.microsoft.com/office/drawing/2014/main" id="{90CB1C79-35DA-410D-8B9A-C531D1FAB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948" y="2711958"/>
            <a:ext cx="7019925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01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319B-F9EA-4FB1-B151-532B0A86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8A056-3BC0-4F22-B64D-70143D9F198F}"/>
              </a:ext>
            </a:extLst>
          </p:cNvPr>
          <p:cNvSpPr txBox="1"/>
          <p:nvPr/>
        </p:nvSpPr>
        <p:spPr>
          <a:xfrm>
            <a:off x="637223" y="2695069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Feature Engineering ?</a:t>
            </a:r>
          </a:p>
          <a:p>
            <a:endParaRPr lang="en-IN" dirty="0"/>
          </a:p>
          <a:p>
            <a:r>
              <a:rPr lang="en-IN" dirty="0"/>
              <a:t>Creating new variables from existing data to improve model performance.</a:t>
            </a:r>
          </a:p>
          <a:p>
            <a:endParaRPr lang="en-IN" dirty="0"/>
          </a:p>
          <a:p>
            <a:r>
              <a:rPr lang="en-IN" dirty="0"/>
              <a:t>Examples:</a:t>
            </a:r>
          </a:p>
          <a:p>
            <a:endParaRPr lang="en-IN" dirty="0"/>
          </a:p>
          <a:p>
            <a:r>
              <a:rPr lang="en-IN" dirty="0"/>
              <a:t>Age Group</a:t>
            </a:r>
          </a:p>
          <a:p>
            <a:r>
              <a:rPr lang="en-IN" dirty="0"/>
              <a:t>Total Purchase Value</a:t>
            </a:r>
          </a:p>
          <a:p>
            <a:r>
              <a:rPr lang="en-IN" dirty="0"/>
              <a:t>Customer Score</a:t>
            </a:r>
          </a:p>
        </p:txBody>
      </p:sp>
      <p:pic>
        <p:nvPicPr>
          <p:cNvPr id="14338" name="Picture 2" descr="The Lifecycle of Feature Engineering: From Raw Data to Model-Ready Inputs -  KDnuggets">
            <a:extLst>
              <a:ext uri="{FF2B5EF4-FFF2-40B4-BE49-F238E27FC236}">
                <a16:creationId xmlns:a16="http://schemas.microsoft.com/office/drawing/2014/main" id="{84452F09-A181-4022-82CB-0EC34C4E6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470" y="2695069"/>
            <a:ext cx="4522470" cy="339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86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4AE8-5FCB-401B-9E08-E27667B8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2CA49-9347-4EB0-86F1-884D5A64C8E6}"/>
              </a:ext>
            </a:extLst>
          </p:cNvPr>
          <p:cNvSpPr txBox="1"/>
          <p:nvPr/>
        </p:nvSpPr>
        <p:spPr>
          <a:xfrm>
            <a:off x="682943" y="2683639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Purpose</a:t>
            </a:r>
          </a:p>
          <a:p>
            <a:endParaRPr lang="en-IN" dirty="0"/>
          </a:p>
          <a:p>
            <a:r>
              <a:rPr lang="en-IN" dirty="0"/>
              <a:t>Understanding data through :</a:t>
            </a:r>
          </a:p>
          <a:p>
            <a:endParaRPr lang="en-IN" dirty="0"/>
          </a:p>
          <a:p>
            <a:r>
              <a:rPr lang="en-IN" dirty="0"/>
              <a:t>Summaries</a:t>
            </a:r>
          </a:p>
          <a:p>
            <a:r>
              <a:rPr lang="en-IN" dirty="0"/>
              <a:t>Charts</a:t>
            </a:r>
          </a:p>
          <a:p>
            <a:r>
              <a:rPr lang="en-IN" dirty="0"/>
              <a:t>Patterns</a:t>
            </a:r>
          </a:p>
          <a:p>
            <a:r>
              <a:rPr lang="en-IN" dirty="0"/>
              <a:t>Trends</a:t>
            </a:r>
          </a:p>
          <a:p>
            <a:endParaRPr lang="en-IN" dirty="0"/>
          </a:p>
          <a:p>
            <a:r>
              <a:rPr lang="en-IN" dirty="0"/>
              <a:t>Before building models .</a:t>
            </a:r>
          </a:p>
        </p:txBody>
      </p:sp>
      <p:pic>
        <p:nvPicPr>
          <p:cNvPr id="15362" name="Picture 2" descr="CFO Financial Landscape Explorer EDA Dashboard Tutorial Part 1">
            <a:extLst>
              <a:ext uri="{FF2B5EF4-FFF2-40B4-BE49-F238E27FC236}">
                <a16:creationId xmlns:a16="http://schemas.microsoft.com/office/drawing/2014/main" id="{ECE876F7-B305-4A85-A757-F6326EE78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005" y="2573655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99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EEFD-89C1-4D74-9A26-8AEA5E19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STATISTICS IN DATA SCIENCE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FE69B-0774-45F7-8BD4-676A889A3BD2}"/>
              </a:ext>
            </a:extLst>
          </p:cNvPr>
          <p:cNvSpPr txBox="1"/>
          <p:nvPr/>
        </p:nvSpPr>
        <p:spPr>
          <a:xfrm>
            <a:off x="762953" y="3013484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Importance</a:t>
            </a:r>
          </a:p>
          <a:p>
            <a:endParaRPr lang="en-IN" dirty="0"/>
          </a:p>
          <a:p>
            <a:r>
              <a:rPr lang="en-IN" dirty="0"/>
              <a:t>Statistics helps :</a:t>
            </a:r>
          </a:p>
          <a:p>
            <a:endParaRPr lang="en-IN" dirty="0"/>
          </a:p>
          <a:p>
            <a:r>
              <a:rPr lang="en-IN" dirty="0"/>
              <a:t>Summarize Data</a:t>
            </a:r>
          </a:p>
          <a:p>
            <a:r>
              <a:rPr lang="en-IN" dirty="0"/>
              <a:t>Identify Trends</a:t>
            </a:r>
          </a:p>
          <a:p>
            <a:r>
              <a:rPr lang="en-IN" dirty="0"/>
              <a:t>Draw Conclusions</a:t>
            </a:r>
          </a:p>
          <a:p>
            <a:r>
              <a:rPr lang="en-IN" dirty="0"/>
              <a:t>Support Predictions</a:t>
            </a:r>
          </a:p>
        </p:txBody>
      </p:sp>
      <p:pic>
        <p:nvPicPr>
          <p:cNvPr id="16386" name="Picture 2" descr="The 21 Best Open-Source Data Visualization Tools">
            <a:extLst>
              <a:ext uri="{FF2B5EF4-FFF2-40B4-BE49-F238E27FC236}">
                <a16:creationId xmlns:a16="http://schemas.microsoft.com/office/drawing/2014/main" id="{124600E2-D824-44A2-AD86-B5AE8C6C3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085" y="2731769"/>
            <a:ext cx="5244465" cy="334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83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D5E4-C3CF-4FBB-BDC1-F53F7406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MEAN, MEDIAN,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CFD0-7260-41F7-8DEB-3EA070F47E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Measures of Central Tendency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Mean = Average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Median = Middle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Mode = Most Frequent Value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1324A-13A4-4496-857F-1DCBFBAA7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330" y="2560320"/>
            <a:ext cx="70485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0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991A-C566-48BF-805C-0E208C4D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VARIANCE &amp;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500E-551A-4853-93B6-5BD52F7FF0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3575304" cy="397764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Measure Data Spread</a:t>
            </a:r>
          </a:p>
          <a:p>
            <a:r>
              <a:rPr lang="en-US" dirty="0"/>
              <a:t>Low Value: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clustered closely </a:t>
            </a:r>
          </a:p>
          <a:p>
            <a:r>
              <a:rPr lang="en-US" dirty="0"/>
              <a:t>High Value: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spread widely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B1B1E-3D1E-4D1E-A55B-B3CF59058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9" y="2710815"/>
            <a:ext cx="67151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39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95EC-409D-4D69-8339-3FDA953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80F1-8A94-4660-B7B3-72763532ABC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Relationship Between Variables</a:t>
            </a:r>
          </a:p>
          <a:p>
            <a:r>
              <a:rPr lang="en-IN" dirty="0"/>
              <a:t>Positive Correlation ↑↑</a:t>
            </a:r>
          </a:p>
          <a:p>
            <a:r>
              <a:rPr lang="en-IN" dirty="0"/>
              <a:t>Negative Correlation ↑↓</a:t>
            </a:r>
          </a:p>
          <a:p>
            <a:r>
              <a:rPr lang="en-IN" dirty="0"/>
              <a:t>No Correlation</a:t>
            </a:r>
          </a:p>
          <a:p>
            <a:r>
              <a:rPr lang="en-IN" dirty="0"/>
              <a:t>Correlation ≠ Causation</a:t>
            </a:r>
          </a:p>
          <a:p>
            <a:endParaRPr lang="en-IN" dirty="0"/>
          </a:p>
        </p:txBody>
      </p:sp>
      <p:pic>
        <p:nvPicPr>
          <p:cNvPr id="19458" name="Picture 2" descr="Chapter 7: Correlation and Simple Linear Regression | Natural Resources  Biometrics">
            <a:extLst>
              <a:ext uri="{FF2B5EF4-FFF2-40B4-BE49-F238E27FC236}">
                <a16:creationId xmlns:a16="http://schemas.microsoft.com/office/drawing/2014/main" id="{983E1313-286C-498E-8F38-9A503E08D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040" y="2674620"/>
            <a:ext cx="529590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156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B749-5629-4F99-8551-106B03D8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37505-E4EB-47A0-8216-1048F9EF69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3506724" cy="3977640"/>
          </a:xfrm>
        </p:spPr>
        <p:txBody>
          <a:bodyPr/>
          <a:lstStyle/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Easy Interpretation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Pattern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Better Decision-Making </a:t>
            </a:r>
          </a:p>
          <a:p>
            <a:endParaRPr lang="en-IN" dirty="0"/>
          </a:p>
        </p:txBody>
      </p:sp>
      <p:pic>
        <p:nvPicPr>
          <p:cNvPr id="20482" name="Picture 2" descr="The Best 9 Free and Open Source Dashboard Software">
            <a:extLst>
              <a:ext uri="{FF2B5EF4-FFF2-40B4-BE49-F238E27FC236}">
                <a16:creationId xmlns:a16="http://schemas.microsoft.com/office/drawing/2014/main" id="{9190B565-49DC-4E2F-AE75-906FB0850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3" y="2560320"/>
            <a:ext cx="50958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599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C7D0-FE66-4AE9-A79F-DA0B9955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5359-0839-44A9-A200-E8D30C8D7D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2798064" cy="397764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Common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Line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Pie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Scatter 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Histogram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66D56-B58A-4D76-B38D-1563C6A3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708" y="3323272"/>
            <a:ext cx="57435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32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71FA-FA4A-41CF-B38E-1DB3195D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098C-1CD1-48AD-99E5-5D443D8048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4512564" cy="3977640"/>
          </a:xfrm>
        </p:spPr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Machine Learning enables systems to learn from data and improve performance automatically.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3F87A-A08A-4BF3-9979-946BCA97B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864167"/>
            <a:ext cx="51054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5511-FE16-4593-965A-39A466E9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E49FA-FD2D-4DEE-92A8-D5616AAD10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2946654" cy="397764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Supervised Learning</a:t>
            </a:r>
          </a:p>
          <a:p>
            <a:r>
              <a:rPr lang="en-US" dirty="0"/>
              <a:t>Uses labeled data.</a:t>
            </a:r>
          </a:p>
          <a:p>
            <a:r>
              <a:rPr lang="en-US" b="1" dirty="0"/>
              <a:t>Unsupervised Learning</a:t>
            </a:r>
          </a:p>
          <a:p>
            <a:r>
              <a:rPr lang="en-US" dirty="0"/>
              <a:t>Uses unlabeled data.</a:t>
            </a:r>
          </a:p>
          <a:p>
            <a:r>
              <a:rPr lang="en-US" b="1" dirty="0"/>
              <a:t>Reinforcement Learning</a:t>
            </a:r>
          </a:p>
          <a:p>
            <a:r>
              <a:rPr lang="en-US" dirty="0"/>
              <a:t>Learns through rewards.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656B3-AF80-4A8C-B46C-4529BD608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327" y="2791256"/>
            <a:ext cx="6510338" cy="275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67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4F88-3361-4AF4-A477-2D9382C3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D4F95-A47C-42BC-93F6-628B3CDB65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4055364" cy="3977640"/>
          </a:xfrm>
        </p:spPr>
        <p:txBody>
          <a:bodyPr/>
          <a:lstStyle/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Predicting House Prices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Email Spam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Student Performance Prediction</a:t>
            </a:r>
          </a:p>
          <a:p>
            <a:endParaRPr lang="en-IN" dirty="0"/>
          </a:p>
        </p:txBody>
      </p:sp>
      <p:pic>
        <p:nvPicPr>
          <p:cNvPr id="23554" name="Picture 2" descr="An Overview of Supervised Learning">
            <a:extLst>
              <a:ext uri="{FF2B5EF4-FFF2-40B4-BE49-F238E27FC236}">
                <a16:creationId xmlns:a16="http://schemas.microsoft.com/office/drawing/2014/main" id="{74D27F86-D7D6-4ACF-BB9A-9715787E0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708910"/>
            <a:ext cx="5814062" cy="30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6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2506-0B05-4335-9B28-DE1299BF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F635-BF42-4E9D-85BF-3F45DB7F4A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3461004" cy="3977640"/>
          </a:xfrm>
        </p:spPr>
        <p:txBody>
          <a:bodyPr/>
          <a:lstStyle/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Customer 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Market Basket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Clustering</a:t>
            </a:r>
          </a:p>
          <a:p>
            <a:endParaRPr lang="en-IN" dirty="0"/>
          </a:p>
        </p:txBody>
      </p:sp>
      <p:pic>
        <p:nvPicPr>
          <p:cNvPr id="24578" name="Picture 2" descr="Top 15 Open Source Data Visualization Tools for 2025 – Kanaries">
            <a:extLst>
              <a:ext uri="{FF2B5EF4-FFF2-40B4-BE49-F238E27FC236}">
                <a16:creationId xmlns:a16="http://schemas.microsoft.com/office/drawing/2014/main" id="{47A6DBA2-3F37-4499-9734-8FF51763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442" y="2841050"/>
            <a:ext cx="6186107" cy="313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950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C630-E246-4202-84FB-7763C1B1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99DF-9481-44E7-9ABF-BCF80F293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5849874" cy="397764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is Deep Learning?</a:t>
            </a:r>
          </a:p>
          <a:p>
            <a:r>
              <a:rPr lang="en-US" dirty="0"/>
              <a:t>A subset of Machine Learning using Artificial Neural Networks .</a:t>
            </a:r>
          </a:p>
          <a:p>
            <a:r>
              <a:rPr lang="en-US" dirty="0"/>
              <a:t>Applications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Image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Speech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Language Processing</a:t>
            </a:r>
          </a:p>
          <a:p>
            <a:endParaRPr lang="en-IN" dirty="0"/>
          </a:p>
        </p:txBody>
      </p:sp>
      <p:pic>
        <p:nvPicPr>
          <p:cNvPr id="25602" name="Picture 2" descr="Neural network – TeXample.net">
            <a:extLst>
              <a:ext uri="{FF2B5EF4-FFF2-40B4-BE49-F238E27FC236}">
                <a16:creationId xmlns:a16="http://schemas.microsoft.com/office/drawing/2014/main" id="{C8E5455C-2918-418D-BA70-7526C5D36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3040380"/>
            <a:ext cx="476250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901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8248-DDE3-4DB0-B541-B2C61708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- 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2C5B8-769A-4B88-9AC2-29631185D1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2935224" cy="397764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Industries Using Data 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Healthcare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Retail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Manufacturing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Education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Transportation</a:t>
            </a:r>
          </a:p>
          <a:p>
            <a:endParaRPr lang="en-IN" dirty="0"/>
          </a:p>
        </p:txBody>
      </p:sp>
      <p:pic>
        <p:nvPicPr>
          <p:cNvPr id="26626" name="Picture 2" descr="10 Key Applications of Data Science in Business">
            <a:extLst>
              <a:ext uri="{FF2B5EF4-FFF2-40B4-BE49-F238E27FC236}">
                <a16:creationId xmlns:a16="http://schemas.microsoft.com/office/drawing/2014/main" id="{908DCC64-B8B1-4DFA-8DA6-0F3BDF146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71750"/>
            <a:ext cx="25146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043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819E-74B7-47B7-AC9C-E5F50593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7DF77-C076-469D-907D-680CD7D7DC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3575304" cy="397764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Scientist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Analyst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Business Analyst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Machine Learning Engineer</a:t>
            </a:r>
          </a:p>
          <a:p>
            <a:endParaRPr lang="en-IN" dirty="0"/>
          </a:p>
        </p:txBody>
      </p:sp>
      <p:pic>
        <p:nvPicPr>
          <p:cNvPr id="27650" name="Picture 2" descr="Career Path Templates | EdrawMax Free Editable">
            <a:extLst>
              <a:ext uri="{FF2B5EF4-FFF2-40B4-BE49-F238E27FC236}">
                <a16:creationId xmlns:a16="http://schemas.microsoft.com/office/drawing/2014/main" id="{A677C9E5-3E2B-4E0A-98E7-084146D68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246" y="2892933"/>
            <a:ext cx="4074414" cy="30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105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22BE-6EEF-4336-BA52-352A6D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050D-516A-42B5-9479-9ADAD55F37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10227564" cy="24003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dirty="0"/>
              <a:t>Technical Skills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Python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SQL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Statistics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Machine Learning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Data Visualization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Soft Skills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Communication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Problem Solving</a:t>
            </a:r>
          </a:p>
          <a:p>
            <a:pPr>
              <a:lnSpc>
                <a:spcPct val="100000"/>
              </a:lnSpc>
            </a:pPr>
            <a:r>
              <a:rPr lang="en-US" sz="900" dirty="0"/>
              <a:t>Critical Thinking</a:t>
            </a:r>
            <a:endParaRPr lang="en-IN" sz="900" dirty="0"/>
          </a:p>
        </p:txBody>
      </p:sp>
      <p:pic>
        <p:nvPicPr>
          <p:cNvPr id="28674" name="Picture 2" descr="Skills Matrix for IT teams – upleashed">
            <a:extLst>
              <a:ext uri="{FF2B5EF4-FFF2-40B4-BE49-F238E27FC236}">
                <a16:creationId xmlns:a16="http://schemas.microsoft.com/office/drawing/2014/main" id="{03EB367F-E85F-4653-A765-A4FD119A1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352" y="2857500"/>
            <a:ext cx="5872480" cy="330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241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623C-95C5-4FB5-B4A2-185193E2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E41F-A774-4BB9-90B0-443CF9856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6729984" cy="3977640"/>
          </a:xfrm>
        </p:spPr>
        <p:txBody>
          <a:bodyPr/>
          <a:lstStyle/>
          <a:p>
            <a:r>
              <a:rPr lang="en-IN" b="1" dirty="0"/>
              <a:t>Key Takeaways</a:t>
            </a:r>
          </a:p>
          <a:p>
            <a:r>
              <a:rPr lang="en-IN" dirty="0"/>
              <a:t>✓ Data or and information is valuable</a:t>
            </a:r>
            <a:br>
              <a:rPr lang="en-IN" dirty="0"/>
            </a:br>
            <a:r>
              <a:rPr lang="en-IN" dirty="0"/>
              <a:t>✓ Data Science converts data into insights</a:t>
            </a:r>
            <a:br>
              <a:rPr lang="en-IN" dirty="0"/>
            </a:br>
            <a:r>
              <a:rPr lang="en-IN" dirty="0"/>
              <a:t>✓ Statistics and Programming are essential</a:t>
            </a:r>
            <a:br>
              <a:rPr lang="en-IN" dirty="0"/>
            </a:br>
            <a:r>
              <a:rPr lang="en-IN" dirty="0"/>
              <a:t>✓ Machine Learning drives intelligent systems</a:t>
            </a:r>
            <a:br>
              <a:rPr lang="en-IN" dirty="0"/>
            </a:br>
            <a:r>
              <a:rPr lang="en-IN" dirty="0"/>
              <a:t>✓ Data Science offers exciting career opportunities</a:t>
            </a:r>
          </a:p>
          <a:p>
            <a:endParaRPr lang="en-IN" dirty="0"/>
          </a:p>
        </p:txBody>
      </p:sp>
      <p:pic>
        <p:nvPicPr>
          <p:cNvPr id="29698" name="Picture 2" descr="The Future of Data Science: Revolution of AI | Blog | CDMI">
            <a:extLst>
              <a:ext uri="{FF2B5EF4-FFF2-40B4-BE49-F238E27FC236}">
                <a16:creationId xmlns:a16="http://schemas.microsoft.com/office/drawing/2014/main" id="{A3EFE103-6A9B-459E-8D02-F8A53D741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496" y="3007151"/>
            <a:ext cx="3841690" cy="258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836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5E7F-20D3-4B82-95AF-8C11A426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8B93-E083-42BD-BB14-0575D5FBF8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8924544" cy="316611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ttps://www.google.com/search?q=data+science+tutorial&amp;oq=D&amp;gs_lcrp=EgZjaHJvbWUqDggAEEUYJxg7GIAEGIoFMg4IABBFGCcYOxiABBiKBTIGCAEQRRg7MggIAhBFGCcYOzIGCAMQRRg5Mg0IBBAAGJECGIAEGIoFMg0IBRAAGJECGIAEGIoFMgwIBhAAGEMYgAQYigUyDAgHEAAYQxiABBiKBTIMCAgQABhDGIAEGIoFMgwICRAAGEMYgAQYigXSAQkyOTc0ajFqMTWoAgiwAgHxBYG0IkaS_Jm-&amp;sourceid=chrome&amp;ie=UTF-8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- https://github.com/Narthana-Elysium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2974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{6568A8C3-6733-4136-9294-F08BC03C5380}TF2989475c-5427-4edb-9ec1-00f4ce72165b77c8433f_win32-c33c42577f73</Template>
  <TotalTime>59</TotalTime>
  <Words>678</Words>
  <Application>Microsoft Office PowerPoint</Application>
  <PresentationFormat>Widescreen</PresentationFormat>
  <Paragraphs>252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Segoe UI</vt:lpstr>
      <vt:lpstr>Segoe UI Light</vt:lpstr>
      <vt:lpstr>Wingdings</vt:lpstr>
      <vt:lpstr>Custom</vt:lpstr>
      <vt:lpstr>DATA SCIENCE</vt:lpstr>
      <vt:lpstr>AGENDA</vt:lpstr>
      <vt:lpstr>WHAT IS DATA SCIENCE ?</vt:lpstr>
      <vt:lpstr>WHY DATA SCIENCE ?</vt:lpstr>
      <vt:lpstr>DATA SCIENCE LIFECYCLE</vt:lpstr>
      <vt:lpstr>WHAT IS DATA ?</vt:lpstr>
      <vt:lpstr>TYPES OF DATA</vt:lpstr>
      <vt:lpstr>DATA COLLECTION</vt:lpstr>
      <vt:lpstr>ROLE OF PYTHON</vt:lpstr>
      <vt:lpstr>ROLE OF SQL Structured Query Language</vt:lpstr>
      <vt:lpstr>DATA PREPROCESSING</vt:lpstr>
      <vt:lpstr>DATA CLEANING</vt:lpstr>
      <vt:lpstr>HANDLING MISSING DATA</vt:lpstr>
      <vt:lpstr>FEATURE ENGINEERING</vt:lpstr>
      <vt:lpstr>EXPLORATORY DATA ANALYSIS</vt:lpstr>
      <vt:lpstr>STATISTICS IN DATA SCIENCE</vt:lpstr>
      <vt:lpstr>MEAN, MEDIAN, MODE</vt:lpstr>
      <vt:lpstr>VARIANCE &amp; STANDARD DEVIATION</vt:lpstr>
      <vt:lpstr>CORRELATION</vt:lpstr>
      <vt:lpstr>DATA VISUALIZATION</vt:lpstr>
      <vt:lpstr>TYPES OF CHARTS</vt:lpstr>
      <vt:lpstr>MACHINE LEARNING</vt:lpstr>
      <vt:lpstr>TYPES OF MACHINE LEARNING</vt:lpstr>
      <vt:lpstr>SUPERVISED LEARNING</vt:lpstr>
      <vt:lpstr>UNSUPERVISED LEARNING</vt:lpstr>
      <vt:lpstr>DEEP LEARNING</vt:lpstr>
      <vt:lpstr>REAL - WORLD APPLICATIONS</vt:lpstr>
      <vt:lpstr>CAREER OPPORTUNITIES</vt:lpstr>
      <vt:lpstr>SKILLS REQUIRED</vt:lpstr>
      <vt:lpstr>THANK YOU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ADMIN</dc:creator>
  <cp:keywords/>
  <cp:lastModifiedBy>ADMIN</cp:lastModifiedBy>
  <cp:revision>137</cp:revision>
  <dcterms:created xsi:type="dcterms:W3CDTF">2026-06-10T06:49:29Z</dcterms:created>
  <dcterms:modified xsi:type="dcterms:W3CDTF">2026-06-10T07:48:56Z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