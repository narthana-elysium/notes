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809B-F1CE-46FC-92DD-33D65640EBE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34AACA8-B3EC-43B9-9446-B1942DA37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721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809B-F1CE-46FC-92DD-33D65640EBE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ACA8-B3EC-43B9-9446-B1942DA37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139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809B-F1CE-46FC-92DD-33D65640EBE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34AACA8-B3EC-43B9-9446-B1942DA37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503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809B-F1CE-46FC-92DD-33D65640EBE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34AACA8-B3EC-43B9-9446-B1942DA37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455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809B-F1CE-46FC-92DD-33D65640EBE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34AACA8-B3EC-43B9-9446-B1942DA37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362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809B-F1CE-46FC-92DD-33D65640EBE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ACA8-B3EC-43B9-9446-B1942DA37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946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809B-F1CE-46FC-92DD-33D65640EBE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ACA8-B3EC-43B9-9446-B1942DA37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052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809B-F1CE-46FC-92DD-33D65640EBE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ACA8-B3EC-43B9-9446-B1942DA37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51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809B-F1CE-46FC-92DD-33D65640EBE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4AACA8-B3EC-43B9-9446-B1942DA37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709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809B-F1CE-46FC-92DD-33D65640EBE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34AACA8-B3EC-43B9-9446-B1942DA37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991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809B-F1CE-46FC-92DD-33D65640EBE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34AACA8-B3EC-43B9-9446-B1942DA372D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2092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809B-F1CE-46FC-92DD-33D65640EBE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4AACA8-B3EC-43B9-9446-B1942DA37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649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809B-F1CE-46FC-92DD-33D65640EBE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4AACA8-B3EC-43B9-9446-B1942DA372D6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62348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809B-F1CE-46FC-92DD-33D65640EBE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4AACA8-B3EC-43B9-9446-B1942DA37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1916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809B-F1CE-46FC-92DD-33D65640EBE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ACA8-B3EC-43B9-9446-B1942DA37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1863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809B-F1CE-46FC-92DD-33D65640EBE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ACA8-B3EC-43B9-9446-B1942DA37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66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0000">
              <a:srgbClr val="EF7462"/>
            </a:gs>
            <a:gs pos="0">
              <a:srgbClr val="FF0000"/>
            </a:gs>
            <a:gs pos="100000">
              <a:schemeClr val="bg1"/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B809B-F1CE-46FC-92DD-33D65640EBE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34AACA8-B3EC-43B9-9446-B1942DA37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274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rthana-Elysiu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84C7E-5512-4519-B598-6F6A844263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 ANALYSIS BY ELYSIUM ACADEMY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6AAC3B-FC7F-4BF9-8F9C-98AA2747B47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589213" y="4878855"/>
            <a:ext cx="522771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Understanding Data for Better Decision-Making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Concepts, Tools, Techniques &amp; Applications </a:t>
            </a:r>
          </a:p>
        </p:txBody>
      </p:sp>
    </p:spTree>
    <p:extLst>
      <p:ext uri="{BB962C8B-B14F-4D97-AF65-F5344CB8AC3E}">
        <p14:creationId xmlns:p14="http://schemas.microsoft.com/office/powerpoint/2010/main" val="1903252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FEDAB-9669-4922-AA40-E719A5A9F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Data Analysis 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280D20-BFED-44BB-B749-D38382F025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73124" y="1680725"/>
            <a:ext cx="617669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Process of examining data to discover useful information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Helps identify patterns and trends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Supports business and organizational decisions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Converts raw data into actionable insights </a:t>
            </a: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855F39F7-94C7-4A04-810C-A8CB21EB9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925" y="3434522"/>
            <a:ext cx="4195813" cy="2799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3227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8CA57-5667-4CE7-9AFD-013BAB259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Data Analysis Matters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39CB15-E752-40B6-AEDE-AA5845AB7C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1527919"/>
            <a:ext cx="412767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Better decision - making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Increased efficiency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Risk reduction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Business growth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Customer understanding </a:t>
            </a: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89ADF0A4-79AB-42AA-915A-22C14CD73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149" y="3564249"/>
            <a:ext cx="3871207" cy="2584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7667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36A6D-0F27-42AE-8389-2C45B345E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5592" y="398332"/>
            <a:ext cx="8911687" cy="1280890"/>
          </a:xfrm>
        </p:spPr>
        <p:txBody>
          <a:bodyPr/>
          <a:lstStyle/>
          <a:p>
            <a:r>
              <a:rPr lang="en-IN" dirty="0"/>
              <a:t>Data Analysis Lifecycle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379D19-5D76-42EF-9FE3-0E2202CE58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28194" y="714476"/>
            <a:ext cx="341276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Collection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Cleaning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Transformation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Exploration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Visualization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Interpretation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Decision Making </a:t>
            </a:r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1B70A5ED-4DD4-4F59-9214-BF338B2AB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7769" y="3067956"/>
            <a:ext cx="4293297" cy="3584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1288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C6B63-49DB-4341-8FFE-C4740E9F6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2DD83-3B6F-43FD-8E57-1A7B88B14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9568" y="1659467"/>
            <a:ext cx="2502077" cy="3777622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Structured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Databases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Spreadsheets </a:t>
            </a:r>
          </a:p>
          <a:p>
            <a:r>
              <a:rPr lang="en-IN" b="1" dirty="0"/>
              <a:t>Unstructured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Videos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Images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Social Media Posts </a:t>
            </a:r>
          </a:p>
          <a:p>
            <a:r>
              <a:rPr lang="en-IN" b="1" dirty="0"/>
              <a:t>Semi-Structured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XML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JSON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3D3D4E2-2040-4018-B8B1-E2C72BECC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002" y="1721556"/>
            <a:ext cx="5589255" cy="3143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7754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16D5A-C74B-42C9-A1AD-76CD2A604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A70E5-D7EB-458E-9428-2AA9B7E8D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Descriptive Analytics</a:t>
            </a:r>
          </a:p>
          <a:p>
            <a:r>
              <a:rPr lang="en-US" dirty="0"/>
              <a:t>"What happened ?"</a:t>
            </a:r>
          </a:p>
          <a:p>
            <a:r>
              <a:rPr lang="en-US" b="1" dirty="0"/>
              <a:t>Diagnostic Analytics</a:t>
            </a:r>
          </a:p>
          <a:p>
            <a:r>
              <a:rPr lang="en-US" dirty="0"/>
              <a:t>"Why did it happen ?"</a:t>
            </a:r>
          </a:p>
          <a:p>
            <a:r>
              <a:rPr lang="en-US" b="1" dirty="0"/>
              <a:t>Predictive Analytics</a:t>
            </a:r>
          </a:p>
          <a:p>
            <a:r>
              <a:rPr lang="en-US" dirty="0"/>
              <a:t>"What may or will happen ?"</a:t>
            </a:r>
          </a:p>
          <a:p>
            <a:r>
              <a:rPr lang="en-US" b="1" dirty="0"/>
              <a:t>Prescriptive Analytics</a:t>
            </a:r>
          </a:p>
          <a:p>
            <a:r>
              <a:rPr lang="en-US" dirty="0"/>
              <a:t>"What should be done ?"</a:t>
            </a:r>
          </a:p>
        </p:txBody>
      </p:sp>
    </p:spTree>
    <p:extLst>
      <p:ext uri="{BB962C8B-B14F-4D97-AF65-F5344CB8AC3E}">
        <p14:creationId xmlns:p14="http://schemas.microsoft.com/office/powerpoint/2010/main" val="2092746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E2C32-CB5A-4148-BB30-2CC985E84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Analysis vs Data Science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E2602E-DAF3-4DEB-B04D-7F2C5954A3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0967" y="2469443"/>
            <a:ext cx="6866421" cy="2260600"/>
          </a:xfr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D963399A-2294-42B7-B9E9-3C876E846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4189" y="2272828"/>
            <a:ext cx="3980744" cy="2653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9158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25346-473B-47EF-9518-385A8BDD6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Sources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26CDF6-9D8F-4509-9F92-B33A8BF109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61745" y="2413337"/>
            <a:ext cx="262450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Databases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Websites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Surveys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IoT Devices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Social Media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Business Applications </a:t>
            </a:r>
          </a:p>
        </p:txBody>
      </p:sp>
    </p:spTree>
    <p:extLst>
      <p:ext uri="{BB962C8B-B14F-4D97-AF65-F5344CB8AC3E}">
        <p14:creationId xmlns:p14="http://schemas.microsoft.com/office/powerpoint/2010/main" val="125517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8F711-EE98-49C2-81CD-1F4255258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Spreadsheet Tools in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15E7B-4BCC-4596-8A38-05B17D700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Entry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Calculations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Sorting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Filtering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Reporting</a:t>
            </a:r>
          </a:p>
        </p:txBody>
      </p:sp>
    </p:spTree>
    <p:extLst>
      <p:ext uri="{BB962C8B-B14F-4D97-AF65-F5344CB8AC3E}">
        <p14:creationId xmlns:p14="http://schemas.microsoft.com/office/powerpoint/2010/main" val="2404878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07F1C-EC5A-465E-9BA5-568BCA981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Essential Spreadsheet Functions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8BF753-E883-470D-8E58-0D6687C13D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9212" y="3006748"/>
            <a:ext cx="163275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SUM()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AVERAGE()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COUNT()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MAX()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MIN() </a:t>
            </a:r>
          </a:p>
        </p:txBody>
      </p:sp>
    </p:spTree>
    <p:extLst>
      <p:ext uri="{BB962C8B-B14F-4D97-AF65-F5344CB8AC3E}">
        <p14:creationId xmlns:p14="http://schemas.microsoft.com/office/powerpoint/2010/main" val="3041421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ED54D-D3CA-4912-B824-AC7DCE243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Sorting and Filtering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6CB96-C1D5-4A9E-9D78-A8A410802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Sorting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Ascending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Descending </a:t>
            </a:r>
          </a:p>
          <a:p>
            <a:r>
              <a:rPr lang="en-US" b="1" dirty="0"/>
              <a:t>Filtering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 specific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 on relevant information</a:t>
            </a:r>
          </a:p>
        </p:txBody>
      </p:sp>
    </p:spTree>
    <p:extLst>
      <p:ext uri="{BB962C8B-B14F-4D97-AF65-F5344CB8AC3E}">
        <p14:creationId xmlns:p14="http://schemas.microsoft.com/office/powerpoint/2010/main" val="1785354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D323C-9473-4CC0-9E0E-9BC20226C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Validation &amp; Formatting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D9E5AF-78F6-4ED4-BFBF-DA73E09143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01139" y="2690336"/>
            <a:ext cx="304762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validation rules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Prevent incorrect entries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Conditional formatting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Highlight important values </a:t>
            </a:r>
          </a:p>
        </p:txBody>
      </p:sp>
    </p:spTree>
    <p:extLst>
      <p:ext uri="{BB962C8B-B14F-4D97-AF65-F5344CB8AC3E}">
        <p14:creationId xmlns:p14="http://schemas.microsoft.com/office/powerpoint/2010/main" val="3717871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A3785-028B-4F48-81B2-2D2A310EF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Pivot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9CF8E-140C-4700-8BE1-137E9546D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Benefits: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Summarize large datasets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Group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Calculate totals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Generate quick reports</a:t>
            </a:r>
          </a:p>
        </p:txBody>
      </p:sp>
    </p:spTree>
    <p:extLst>
      <p:ext uri="{BB962C8B-B14F-4D97-AF65-F5344CB8AC3E}">
        <p14:creationId xmlns:p14="http://schemas.microsoft.com/office/powerpoint/2010/main" val="3938427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C4D53-77FA-4C87-8E8D-E823DC4A1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B8EDA-A210-4CAE-A2F5-DAAED2DFE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6190" y="1377244"/>
            <a:ext cx="5092832" cy="2517422"/>
          </a:xfrm>
        </p:spPr>
        <p:txBody>
          <a:bodyPr>
            <a:normAutofit/>
          </a:bodyPr>
          <a:lstStyle/>
          <a:p>
            <a:r>
              <a:rPr lang="en-US" dirty="0"/>
              <a:t>Why Python Programming Language 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syntax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Open-source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 community support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Widely used in analytics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FEA4AC3E-F4E3-463C-BF7A-ED9499465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044" y="3429000"/>
            <a:ext cx="4102724" cy="2735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7245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0D54C-F6EA-4ADF-8E10-795B7349B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Python Fundamentals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95185B-0CA2-4D8A-A916-397A2E4318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71256" y="1993782"/>
            <a:ext cx="155593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Variables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Types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Operators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Loops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Functions </a:t>
            </a:r>
          </a:p>
        </p:txBody>
      </p:sp>
    </p:spTree>
    <p:extLst>
      <p:ext uri="{BB962C8B-B14F-4D97-AF65-F5344CB8AC3E}">
        <p14:creationId xmlns:p14="http://schemas.microsoft.com/office/powerpoint/2010/main" val="1518962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6C692-6067-4CF8-9CCE-E65EDFF9F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Python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4D08A-16CB-47D2-AC14-FB21FE645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Pandas</a:t>
            </a:r>
          </a:p>
          <a:p>
            <a:r>
              <a:rPr lang="en-IN" dirty="0"/>
              <a:t>Data manipulation</a:t>
            </a:r>
          </a:p>
          <a:p>
            <a:r>
              <a:rPr lang="en-IN" b="1" dirty="0"/>
              <a:t>NumPy</a:t>
            </a:r>
          </a:p>
          <a:p>
            <a:r>
              <a:rPr lang="en-IN" dirty="0"/>
              <a:t>Numerical computing</a:t>
            </a:r>
          </a:p>
          <a:p>
            <a:r>
              <a:rPr lang="en-IN" b="1" dirty="0"/>
              <a:t>Matplotlib</a:t>
            </a:r>
          </a:p>
          <a:p>
            <a:r>
              <a:rPr lang="en-IN" dirty="0"/>
              <a:t>Visualization</a:t>
            </a:r>
          </a:p>
          <a:p>
            <a:r>
              <a:rPr lang="en-IN" b="1" dirty="0"/>
              <a:t>Seaborn</a:t>
            </a:r>
          </a:p>
          <a:p>
            <a:r>
              <a:rPr lang="en-IN" dirty="0"/>
              <a:t>Statistical graphics</a:t>
            </a:r>
          </a:p>
        </p:txBody>
      </p:sp>
    </p:spTree>
    <p:extLst>
      <p:ext uri="{BB962C8B-B14F-4D97-AF65-F5344CB8AC3E}">
        <p14:creationId xmlns:p14="http://schemas.microsoft.com/office/powerpoint/2010/main" val="3999325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3A8DF-8FD1-4441-A53F-1051B00F9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Reading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3A24A-4C21-4A7E-B78C-C51D254E0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Common Formats: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CSV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Excel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JSON </a:t>
            </a:r>
          </a:p>
          <a:p>
            <a:r>
              <a:rPr lang="en-IN" dirty="0"/>
              <a:t>Activities: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Import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Export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Store</a:t>
            </a:r>
          </a:p>
        </p:txBody>
      </p:sp>
    </p:spTree>
    <p:extLst>
      <p:ext uri="{BB962C8B-B14F-4D97-AF65-F5344CB8AC3E}">
        <p14:creationId xmlns:p14="http://schemas.microsoft.com/office/powerpoint/2010/main" val="983584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119FA-A596-42A4-8960-546F80585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</a:t>
            </a:r>
            <a:r>
              <a:rPr lang="en-IN" dirty="0" err="1"/>
              <a:t>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45BF6-0D21-4F2D-BDCC-5F1CCD111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Purpose: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 data quality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Prepare data for analysis </a:t>
            </a:r>
          </a:p>
          <a:p>
            <a:r>
              <a:rPr lang="en-US" dirty="0"/>
              <a:t>Tasks: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Transformation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Formatting</a:t>
            </a:r>
          </a:p>
        </p:txBody>
      </p:sp>
    </p:spTree>
    <p:extLst>
      <p:ext uri="{BB962C8B-B14F-4D97-AF65-F5344CB8AC3E}">
        <p14:creationId xmlns:p14="http://schemas.microsoft.com/office/powerpoint/2010/main" val="2767287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F122D-3033-4625-8B4E-5822425F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Handling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5C846-99FE-4B6F-9C58-7EA2FF258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Methods: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Remove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Replace with average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Replace with median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Predict missing values</a:t>
            </a:r>
          </a:p>
        </p:txBody>
      </p:sp>
    </p:spTree>
    <p:extLst>
      <p:ext uri="{BB962C8B-B14F-4D97-AF65-F5344CB8AC3E}">
        <p14:creationId xmlns:p14="http://schemas.microsoft.com/office/powerpoint/2010/main" val="401737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E7E5D-FB9D-4CC7-83DF-17C5D9DA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Outlier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1E96A-6D38-4525-A4AE-AD2B8F84D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32468"/>
            <a:ext cx="5403321" cy="2291644"/>
          </a:xfrm>
        </p:spPr>
        <p:txBody>
          <a:bodyPr/>
          <a:lstStyle/>
          <a:p>
            <a:r>
              <a:rPr lang="en-US" dirty="0"/>
              <a:t>What are Outliers?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Unusual values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Extreme observations </a:t>
            </a:r>
          </a:p>
          <a:p>
            <a:r>
              <a:rPr lang="en-US" dirty="0"/>
              <a:t>Importance: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 misleading results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3314" name="Picture 2" descr="Box Plot outliers at Percentile Level rather than 1.5 x IQR">
            <a:extLst>
              <a:ext uri="{FF2B5EF4-FFF2-40B4-BE49-F238E27FC236}">
                <a16:creationId xmlns:a16="http://schemas.microsoft.com/office/drawing/2014/main" id="{7B7EEF26-8D1D-4786-A597-2503AB1D5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8392" y="3633115"/>
            <a:ext cx="3449108" cy="2820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1221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71C4-3DBF-4B62-B211-C30ECAD01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7FF97-9DD9-41D3-B585-A228976BD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Techniques: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Scaling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Normalization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Encoding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Aggregation</a:t>
            </a:r>
          </a:p>
        </p:txBody>
      </p:sp>
    </p:spTree>
    <p:extLst>
      <p:ext uri="{BB962C8B-B14F-4D97-AF65-F5344CB8AC3E}">
        <p14:creationId xmlns:p14="http://schemas.microsoft.com/office/powerpoint/2010/main" val="507904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94F95-6E21-45C0-BDDC-52D941AE3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F78B3-A6E2-466D-9F2E-82308145B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Benefits: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Easier understanding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Pattern discovery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Effective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0231454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B0D5F-5CA6-4C2E-B55A-4ED08B251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Charts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53ECD7-DF69-4F45-8CB8-E00F6E86B5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10012" y="2208270"/>
            <a:ext cx="158569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Bar Chart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Line Chart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Pie Chart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Scatter Plot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Histogram </a:t>
            </a:r>
          </a:p>
        </p:txBody>
      </p:sp>
    </p:spTree>
    <p:extLst>
      <p:ext uri="{BB962C8B-B14F-4D97-AF65-F5344CB8AC3E}">
        <p14:creationId xmlns:p14="http://schemas.microsoft.com/office/powerpoint/2010/main" val="1688705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59274-1AD2-4132-A676-EABF976CE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CE4B5-B18C-43E9-B83A-422FA2F6A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2101" y="1490133"/>
            <a:ext cx="3856744" cy="2269067"/>
          </a:xfrm>
        </p:spPr>
        <p:txBody>
          <a:bodyPr/>
          <a:lstStyle/>
          <a:p>
            <a:r>
              <a:rPr lang="en-US" dirty="0"/>
              <a:t>SQL Structured Query Language helps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Retrieve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Analyze information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5362" name="Picture 2" descr="Database Vectors - Download Free High-Quality Vectors | Magnific (formerly  Freepik)">
            <a:extLst>
              <a:ext uri="{FF2B5EF4-FFF2-40B4-BE49-F238E27FC236}">
                <a16:creationId xmlns:a16="http://schemas.microsoft.com/office/drawing/2014/main" id="{F9407AC6-5A31-4901-8436-6ADBF586C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223" y="3911201"/>
            <a:ext cx="2672644" cy="2672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4075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B0FE9-9489-460C-BEB7-C598AD096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SQL Operations for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857E0C-CB73-41CE-AAC4-C122239357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93834" y="2005071"/>
            <a:ext cx="160300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SELECT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GROUP BY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ORDER BY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JOIN </a:t>
            </a:r>
          </a:p>
        </p:txBody>
      </p:sp>
    </p:spTree>
    <p:extLst>
      <p:ext uri="{BB962C8B-B14F-4D97-AF65-F5344CB8AC3E}">
        <p14:creationId xmlns:p14="http://schemas.microsoft.com/office/powerpoint/2010/main" val="12815246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5DA03-4D8B-43AF-8433-FEBD29991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Statistics in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29ED3-B405-4F84-97B1-21B70BAF4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Measures: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Median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Variance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Standard Deviation</a:t>
            </a:r>
          </a:p>
        </p:txBody>
      </p:sp>
    </p:spTree>
    <p:extLst>
      <p:ext uri="{BB962C8B-B14F-4D97-AF65-F5344CB8AC3E}">
        <p14:creationId xmlns:p14="http://schemas.microsoft.com/office/powerpoint/2010/main" val="20448461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74328-C9AD-4C5B-A8E1-A811D7208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Probability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9F643-9105-4F19-866E-2973F54E7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Sample Space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Probability Rules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Conditional Probability </a:t>
            </a:r>
          </a:p>
          <a:p>
            <a:r>
              <a:rPr lang="en-US" dirty="0"/>
              <a:t>Applications: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Forecasting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Risk Analysis</a:t>
            </a:r>
          </a:p>
        </p:txBody>
      </p:sp>
    </p:spTree>
    <p:extLst>
      <p:ext uri="{BB962C8B-B14F-4D97-AF65-F5344CB8AC3E}">
        <p14:creationId xmlns:p14="http://schemas.microsoft.com/office/powerpoint/2010/main" val="31074643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622F2-88F0-4783-948E-5134DAC5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 ( EDA 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48A417-9D6E-47E2-AAE9-F808CEA2DF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11885" y="2690336"/>
            <a:ext cx="336823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Understand dataset structure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 trends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 anomalies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Find relationships </a:t>
            </a:r>
          </a:p>
        </p:txBody>
      </p:sp>
    </p:spTree>
    <p:extLst>
      <p:ext uri="{BB962C8B-B14F-4D97-AF65-F5344CB8AC3E}">
        <p14:creationId xmlns:p14="http://schemas.microsoft.com/office/powerpoint/2010/main" val="20799045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E3F4C-C463-4251-BBC1-3E1DC46F2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Intelligence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CD4C6-DEDC-4616-AD72-B4E510387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608666"/>
            <a:ext cx="4895321" cy="207715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Power BI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Dashboards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Reports </a:t>
            </a:r>
          </a:p>
          <a:p>
            <a:r>
              <a:rPr lang="en-US" b="1" dirty="0"/>
              <a:t>Tableau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Interactive visualizations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Storytelling with data</a:t>
            </a:r>
          </a:p>
          <a:p>
            <a:endParaRPr lang="en-IN" dirty="0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30C2ADAC-4D20-4F98-AF2B-3BEA6C3E6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544" y="3782855"/>
            <a:ext cx="3080278" cy="2571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36113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62EC5-876E-4E9F-9A6B-DAD487D1C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 - World Applications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F4261-1971-4EE4-97B7-85B8EFF97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Applications: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Healthcare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Marketing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Education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E-commerce </a:t>
            </a:r>
          </a:p>
          <a:p>
            <a:r>
              <a:rPr lang="en-US" b="1" dirty="0"/>
              <a:t>Key Takeaways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drives decisions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Quality data improves results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Visualization enhances understanding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Analytics creates business value</a:t>
            </a:r>
          </a:p>
        </p:txBody>
      </p:sp>
    </p:spTree>
    <p:extLst>
      <p:ext uri="{BB962C8B-B14F-4D97-AF65-F5344CB8AC3E}">
        <p14:creationId xmlns:p14="http://schemas.microsoft.com/office/powerpoint/2010/main" val="17861762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A2425-17C1-4BA8-A83A-27371D84A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509FD-21CD-4574-8515-BC65ABCB6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notes </a:t>
            </a:r>
            <a:r>
              <a:rPr lang="en-IN" dirty="0" err="1">
                <a:solidFill>
                  <a:schemeClr val="bg1"/>
                </a:solidFill>
              </a:rPr>
              <a:t>Notes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NOTES</a:t>
            </a:r>
            <a:r>
              <a:rPr lang="en-IN" dirty="0">
                <a:solidFill>
                  <a:schemeClr val="bg1"/>
                </a:solidFill>
              </a:rPr>
              <a:t> ( Notes 1 To Notes 6 ) - </a:t>
            </a:r>
            <a:r>
              <a:rPr lang="en-IN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https://github.com/Narthana-Elysium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notes </a:t>
            </a:r>
            <a:r>
              <a:rPr lang="en-IN" dirty="0" err="1">
                <a:solidFill>
                  <a:schemeClr val="bg1"/>
                </a:solidFill>
              </a:rPr>
              <a:t>Notes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NOTES</a:t>
            </a:r>
            <a:r>
              <a:rPr lang="en-IN" dirty="0">
                <a:solidFill>
                  <a:schemeClr val="bg1"/>
                </a:solidFill>
              </a:rPr>
              <a:t> ( Notes 1 To Notes 6 ) - </a:t>
            </a:r>
            <a:r>
              <a:rPr lang="en-IN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https://github.com/Narthana-Elysium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>
                <a:solidFill>
                  <a:schemeClr val="bg1"/>
                </a:solidFill>
              </a:rPr>
              <a:t>https://www.google.com/search?q=data+analysis+tutorial&amp;oq=data+analysis+&amp;gs_lcrp=EgZjaHJvbWUqBggAEEUYOzIGCAAQRRg7Mg0IARAAGJECGIAEGIoFMg0IAhAAGJECGIAEGIoFMg0IAxAAGJECGIAEGIoFMgwIBBAAGBQYhwIYgAQyBggFEEUYOTIKCAYQABixAxiABDIKCAcQABixAxiABDIHCAgQABiABDIHCAkQABiABNIBCTYzMjdqMGoxNagCCLACAfEFogwGbOz1s-A&amp;sourceid=chrome&amp;ie=UTF-8</a:t>
            </a:r>
          </a:p>
          <a:p>
            <a:pPr marL="0" indent="0">
              <a:buNone/>
            </a:pP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65418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</TotalTime>
  <Words>585</Words>
  <Application>Microsoft Office PowerPoint</Application>
  <PresentationFormat>Widescreen</PresentationFormat>
  <Paragraphs>218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Century Gothic</vt:lpstr>
      <vt:lpstr>Wingdings 3</vt:lpstr>
      <vt:lpstr>Wisp</vt:lpstr>
      <vt:lpstr>DATA ANALYSIS BY ELYSIUM ACADEMY</vt:lpstr>
      <vt:lpstr>What is Data Analysis ?</vt:lpstr>
      <vt:lpstr>Why Data Analysis Matters</vt:lpstr>
      <vt:lpstr>Data Analysis Lifecycle</vt:lpstr>
      <vt:lpstr>Types of Data</vt:lpstr>
      <vt:lpstr>Types of Analytics</vt:lpstr>
      <vt:lpstr>Data Analysis vs Data Science</vt:lpstr>
      <vt:lpstr>Data Sources</vt:lpstr>
      <vt:lpstr>Spreadsheet Tools in Analysis</vt:lpstr>
      <vt:lpstr>Essential Spreadsheet Functions</vt:lpstr>
      <vt:lpstr>Sorting and Filtering Data</vt:lpstr>
      <vt:lpstr>Data Validation &amp; Formatting</vt:lpstr>
      <vt:lpstr>Pivot Tables</vt:lpstr>
      <vt:lpstr>Introduction to Python</vt:lpstr>
      <vt:lpstr>Python Fundamentals </vt:lpstr>
      <vt:lpstr>Important Python Libraries</vt:lpstr>
      <vt:lpstr>Reading Datasets</vt:lpstr>
      <vt:lpstr>Data Preprocessing</vt:lpstr>
      <vt:lpstr>Handling Missing Values</vt:lpstr>
      <vt:lpstr>Outlier Detection</vt:lpstr>
      <vt:lpstr>Data Transformation</vt:lpstr>
      <vt:lpstr>Data Visualization</vt:lpstr>
      <vt:lpstr>Common Charts</vt:lpstr>
      <vt:lpstr>Introduction to SQL</vt:lpstr>
      <vt:lpstr>SQL Operations for Analysis</vt:lpstr>
      <vt:lpstr>Statistics in Data Analysis</vt:lpstr>
      <vt:lpstr>Probability Concepts</vt:lpstr>
      <vt:lpstr>Exploratory Data Analysis ( EDA )</vt:lpstr>
      <vt:lpstr>Business Intelligence Tools</vt:lpstr>
      <vt:lpstr>Real - World Applications &amp; 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BY ELYSIUM ACADEMY</dc:title>
  <dc:creator>ADMIN</dc:creator>
  <cp:lastModifiedBy>ADMIN</cp:lastModifiedBy>
  <cp:revision>103</cp:revision>
  <dcterms:created xsi:type="dcterms:W3CDTF">2026-06-10T10:13:50Z</dcterms:created>
  <dcterms:modified xsi:type="dcterms:W3CDTF">2026-06-10T10:40:20Z</dcterms:modified>
</cp:coreProperties>
</file>