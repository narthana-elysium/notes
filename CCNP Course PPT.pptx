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912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31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315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81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725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970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414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43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098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489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22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E976A-C0F8-4235-9021-60148073EE2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6D24B-AD35-407D-81BD-78341CB42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049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51B92-00FB-49A4-8574-5F525B57E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711" y="622187"/>
            <a:ext cx="9144000" cy="2387600"/>
          </a:xfrm>
        </p:spPr>
        <p:txBody>
          <a:bodyPr/>
          <a:lstStyle/>
          <a:p>
            <a:r>
              <a:rPr lang="en-IN" dirty="0"/>
              <a:t>CCNP Enterprise Networking BY ELYSIUM ACADEMY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9FCEA-57B2-423B-9484-E978EE057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276600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Cisco Certified Network Professional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Advanced Enterprise Networking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Routing, Switching, Security &amp; Automation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Industry-Oriented Networking Skills</a:t>
            </a:r>
          </a:p>
          <a:p>
            <a:endParaRPr lang="en-IN" dirty="0"/>
          </a:p>
        </p:txBody>
      </p:sp>
      <p:sp>
        <p:nvSpPr>
          <p:cNvPr id="4" name="AutoShape 2" descr="Enterprise Networking Explained: Types, Benefits and Trends- Jelvix">
            <a:extLst>
              <a:ext uri="{FF2B5EF4-FFF2-40B4-BE49-F238E27FC236}">
                <a16:creationId xmlns:a16="http://schemas.microsoft.com/office/drawing/2014/main" id="{80DD155D-6E7E-4F47-8BD9-D396FDCC19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Enterprise Networking Explained: Types, Benefits and Trends- Jelvix">
            <a:extLst>
              <a:ext uri="{FF2B5EF4-FFF2-40B4-BE49-F238E27FC236}">
                <a16:creationId xmlns:a16="http://schemas.microsoft.com/office/drawing/2014/main" id="{976496AE-4516-40CA-B1A1-867EEEE97E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2BD653-ACBF-46D6-86BF-EA88EFEC1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131" y="3009787"/>
            <a:ext cx="3795624" cy="307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3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1B9E-754E-471A-BD0C-8B20CA68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CCNP 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B84507-295A-4B21-BACC-BE2070F2E4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6600" y="1690688"/>
            <a:ext cx="599715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Professional-level networking certification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Focuses on enterprise network technologies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Covers implementation, operation, and troubleshooting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Widely recognized in networking careers </a:t>
            </a:r>
          </a:p>
        </p:txBody>
      </p:sp>
      <p:pic>
        <p:nvPicPr>
          <p:cNvPr id="2051" name="Picture 3" descr="Understanding Data Center Networking: The Backbone of Modern IT  Infrastructure">
            <a:extLst>
              <a:ext uri="{FF2B5EF4-FFF2-40B4-BE49-F238E27FC236}">
                <a16:creationId xmlns:a16="http://schemas.microsoft.com/office/drawing/2014/main" id="{77A74081-7853-4E2A-BC08-CCDDA19B0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072" y="3429000"/>
            <a:ext cx="4298950" cy="2419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801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D8E1-B998-4F99-9016-849739D5A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88333-FDF1-4ADD-A946-099AD3290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15933" cy="4351338"/>
          </a:xfrm>
        </p:spPr>
        <p:txBody>
          <a:bodyPr/>
          <a:lstStyle/>
          <a:p>
            <a:r>
              <a:rPr lang="en-US" b="1" dirty="0"/>
              <a:t>LAN</a:t>
            </a:r>
          </a:p>
          <a:p>
            <a:r>
              <a:rPr lang="en-US" dirty="0"/>
              <a:t>Local Area Network</a:t>
            </a:r>
          </a:p>
          <a:p>
            <a:r>
              <a:rPr lang="en-US" b="1" dirty="0"/>
              <a:t>WAN</a:t>
            </a:r>
          </a:p>
          <a:p>
            <a:r>
              <a:rPr lang="en-US" dirty="0"/>
              <a:t>Wide Area Network</a:t>
            </a:r>
          </a:p>
          <a:p>
            <a:r>
              <a:rPr lang="en-US" b="1" dirty="0"/>
              <a:t>MAN</a:t>
            </a:r>
          </a:p>
          <a:p>
            <a:r>
              <a:rPr lang="en-US" dirty="0"/>
              <a:t>Metropolitan Area Network</a:t>
            </a:r>
          </a:p>
          <a:p>
            <a:r>
              <a:rPr lang="en-US" b="1" dirty="0"/>
              <a:t>WLAN</a:t>
            </a:r>
          </a:p>
          <a:p>
            <a:r>
              <a:rPr lang="en-US" dirty="0"/>
              <a:t>Wireless Local Area Network</a:t>
            </a:r>
          </a:p>
          <a:p>
            <a:endParaRPr lang="en-IN" dirty="0"/>
          </a:p>
        </p:txBody>
      </p:sp>
      <p:pic>
        <p:nvPicPr>
          <p:cNvPr id="3074" name="Picture 2" descr="Difference Between LAN and WAN Networks - Compared and Explained">
            <a:extLst>
              <a:ext uri="{FF2B5EF4-FFF2-40B4-BE49-F238E27FC236}">
                <a16:creationId xmlns:a16="http://schemas.microsoft.com/office/drawing/2014/main" id="{E8FD6C42-9F07-4098-9D62-CEB611463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133" y="2288999"/>
            <a:ext cx="5536846" cy="2768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649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9D5F-FB39-49EA-916D-37A1A2330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2E116-E0BC-4A50-82A8-F5B9C1144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Switch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Firewall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Point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End Devices </a:t>
            </a:r>
          </a:p>
          <a:p>
            <a:r>
              <a:rPr lang="en-US" b="1" dirty="0"/>
              <a:t>Purpose</a:t>
            </a:r>
          </a:p>
          <a:p>
            <a:r>
              <a:rPr lang="en-US" dirty="0"/>
              <a:t>Enable communication between network devices.</a:t>
            </a:r>
          </a:p>
          <a:p>
            <a:endParaRPr lang="en-IN" dirty="0"/>
          </a:p>
        </p:txBody>
      </p:sp>
      <p:pic>
        <p:nvPicPr>
          <p:cNvPr id="4098" name="Picture 2" descr="Day 31. Network Devices, Components, and Applications">
            <a:extLst>
              <a:ext uri="{FF2B5EF4-FFF2-40B4-BE49-F238E27FC236}">
                <a16:creationId xmlns:a16="http://schemas.microsoft.com/office/drawing/2014/main" id="{658BB848-656E-428D-9634-752385EA7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445" y="714375"/>
            <a:ext cx="4267200" cy="542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341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7B29F-308B-4211-AA2A-3C60D93F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OSI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B9D0E-E40B-4799-9691-B4D2D5C7F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96822" cy="4351338"/>
          </a:xfrm>
        </p:spPr>
        <p:txBody>
          <a:bodyPr/>
          <a:lstStyle/>
          <a:p>
            <a:r>
              <a:rPr lang="en-US" b="1" dirty="0"/>
              <a:t>Seven Layers</a:t>
            </a:r>
          </a:p>
          <a:p>
            <a:pPr>
              <a:buFont typeface="+mj-lt"/>
              <a:buAutoNum type="arabicPeriod"/>
            </a:pPr>
            <a:r>
              <a:rPr lang="en-US" dirty="0"/>
              <a:t>Physical </a:t>
            </a:r>
          </a:p>
          <a:p>
            <a:pPr>
              <a:buFont typeface="+mj-lt"/>
              <a:buAutoNum type="arabicPeriod"/>
            </a:pPr>
            <a:r>
              <a:rPr lang="en-US" dirty="0"/>
              <a:t>Data Link </a:t>
            </a:r>
          </a:p>
          <a:p>
            <a:pPr>
              <a:buFont typeface="+mj-lt"/>
              <a:buAutoNum type="arabicPeriod"/>
            </a:pPr>
            <a:r>
              <a:rPr lang="en-US" dirty="0"/>
              <a:t>Network </a:t>
            </a:r>
          </a:p>
          <a:p>
            <a:pPr>
              <a:buFont typeface="+mj-lt"/>
              <a:buAutoNum type="arabicPeriod"/>
            </a:pPr>
            <a:r>
              <a:rPr lang="en-US" dirty="0"/>
              <a:t>Transport </a:t>
            </a:r>
          </a:p>
          <a:p>
            <a:pPr>
              <a:buFont typeface="+mj-lt"/>
              <a:buAutoNum type="arabicPeriod"/>
            </a:pPr>
            <a:r>
              <a:rPr lang="en-US" dirty="0"/>
              <a:t>Session </a:t>
            </a:r>
          </a:p>
          <a:p>
            <a:pPr>
              <a:buFont typeface="+mj-lt"/>
              <a:buAutoNum type="arabicPeriod"/>
            </a:pPr>
            <a:r>
              <a:rPr lang="en-US" dirty="0"/>
              <a:t>Presentation 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Application</a:t>
            </a:r>
          </a:p>
          <a:p>
            <a:endParaRPr lang="en-IN" dirty="0"/>
          </a:p>
        </p:txBody>
      </p:sp>
      <p:pic>
        <p:nvPicPr>
          <p:cNvPr id="5122" name="Picture 2" descr="The OSI Model: A Guide to Understanding Data Transfer Across Networks | by  nishanthan-k | Medium">
            <a:extLst>
              <a:ext uri="{FF2B5EF4-FFF2-40B4-BE49-F238E27FC236}">
                <a16:creationId xmlns:a16="http://schemas.microsoft.com/office/drawing/2014/main" id="{FFA84C5D-4E30-43C2-9589-20D3B5795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231" y="1482725"/>
            <a:ext cx="443865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30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0416-222F-4B5A-AF97-6FE3FDD7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TCP / IP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9293C-15E0-4C5D-8881-E44A44130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09622" cy="4351338"/>
          </a:xfrm>
        </p:spPr>
        <p:txBody>
          <a:bodyPr/>
          <a:lstStyle/>
          <a:p>
            <a:r>
              <a:rPr lang="en-IN" b="1" dirty="0"/>
              <a:t>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Network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Internet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Application </a:t>
            </a:r>
          </a:p>
          <a:p>
            <a:r>
              <a:rPr lang="en-IN" b="1" dirty="0"/>
              <a:t>Importance</a:t>
            </a:r>
          </a:p>
          <a:p>
            <a:r>
              <a:rPr lang="en-IN" dirty="0"/>
              <a:t>Foundation of Internet communication.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229F8-1FAB-4319-8CB3-27CB11A56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088" y="1588557"/>
            <a:ext cx="3404305" cy="419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569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CB93E-5E7A-4E2E-AF72-F1A833C63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8FBB-DB64-48D6-B290-22256EA23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75578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Segment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Packet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Bits </a:t>
            </a:r>
          </a:p>
          <a:p>
            <a:r>
              <a:rPr lang="en-US" b="1" dirty="0"/>
              <a:t>Purpose</a:t>
            </a:r>
          </a:p>
          <a:p>
            <a:r>
              <a:rPr lang="en-US" dirty="0"/>
              <a:t>Allows data transmission across networks.</a:t>
            </a:r>
          </a:p>
          <a:p>
            <a:endParaRPr lang="en-IN" dirty="0"/>
          </a:p>
        </p:txBody>
      </p:sp>
      <p:pic>
        <p:nvPicPr>
          <p:cNvPr id="7170" name="Picture 2" descr="What are encapsulation and de-encapsulation in networking?">
            <a:extLst>
              <a:ext uri="{FF2B5EF4-FFF2-40B4-BE49-F238E27FC236}">
                <a16:creationId xmlns:a16="http://schemas.microsoft.com/office/drawing/2014/main" id="{6C3B9121-97C5-4F24-9BE5-5CBCC0F5C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791" y="1933575"/>
            <a:ext cx="6048375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69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9FCAA-EAFF-4043-A00D-C25B13971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AA0C8-2972-4522-91C1-25784176F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48200" cy="435133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Mesh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Hybrid </a:t>
            </a:r>
          </a:p>
          <a:p>
            <a:r>
              <a:rPr lang="en-US" b="1" dirty="0"/>
              <a:t>Comparison</a:t>
            </a:r>
          </a:p>
          <a:p>
            <a:r>
              <a:rPr lang="en-US" dirty="0"/>
              <a:t>Advantages and disadvantages of each topology.</a:t>
            </a:r>
          </a:p>
          <a:p>
            <a:endParaRPr lang="en-IN" dirty="0"/>
          </a:p>
        </p:txBody>
      </p:sp>
      <p:pic>
        <p:nvPicPr>
          <p:cNvPr id="8194" name="Picture 2" descr="An Introduction to Network topology - Cablify">
            <a:extLst>
              <a:ext uri="{FF2B5EF4-FFF2-40B4-BE49-F238E27FC236}">
                <a16:creationId xmlns:a16="http://schemas.microsoft.com/office/drawing/2014/main" id="{F6FD2541-4278-4E4D-8BBD-F7A0F34FA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528139"/>
            <a:ext cx="5712178" cy="381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80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EBAF-506D-4AA2-A9FD-706EC142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Ethernet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8D383-83CF-4DC3-980B-603B5503B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82244" cy="4351338"/>
          </a:xfrm>
        </p:spPr>
        <p:txBody>
          <a:bodyPr/>
          <a:lstStyle/>
          <a:p>
            <a:r>
              <a:rPr lang="en-US" b="1" dirty="0"/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common LAN technology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MAC addresses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high-speed communication</a:t>
            </a:r>
          </a:p>
          <a:p>
            <a:endParaRPr lang="en-IN" dirty="0"/>
          </a:p>
        </p:txBody>
      </p:sp>
      <p:pic>
        <p:nvPicPr>
          <p:cNvPr id="9218" name="Picture 2" descr="Ethernet Tutorial - Part I: Networking Basics | Lantronix">
            <a:extLst>
              <a:ext uri="{FF2B5EF4-FFF2-40B4-BE49-F238E27FC236}">
                <a16:creationId xmlns:a16="http://schemas.microsoft.com/office/drawing/2014/main" id="{E7314FAE-10DB-4E96-976E-74708E727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1347788"/>
            <a:ext cx="2771775" cy="482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858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97B5-7714-4301-82D5-E7F56AB6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91F11-FF12-43EC-86DA-2A7E276CD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12911" cy="4351338"/>
          </a:xfrm>
        </p:spPr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Unique hardware address assigned to network interfaces.</a:t>
            </a:r>
          </a:p>
          <a:p>
            <a:r>
              <a:rPr lang="en-US" b="1" dirty="0"/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Device Identification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Frame Forwarding</a:t>
            </a:r>
          </a:p>
          <a:p>
            <a:endParaRPr lang="en-IN" dirty="0"/>
          </a:p>
        </p:txBody>
      </p:sp>
      <p:pic>
        <p:nvPicPr>
          <p:cNvPr id="10242" name="Picture 2" descr="What is a mac address?">
            <a:extLst>
              <a:ext uri="{FF2B5EF4-FFF2-40B4-BE49-F238E27FC236}">
                <a16:creationId xmlns:a16="http://schemas.microsoft.com/office/drawing/2014/main" id="{4140ED99-FFC1-4CDF-B166-7986471A5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163" y="1300162"/>
            <a:ext cx="4257675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36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56A7-EAB7-4EC0-9F78-6F0F31920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EEB39-595D-4AD0-A48E-909513EF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32289" cy="4351338"/>
          </a:xfrm>
        </p:spPr>
        <p:txBody>
          <a:bodyPr/>
          <a:lstStyle/>
          <a:p>
            <a:r>
              <a:rPr lang="en-US" b="1" dirty="0"/>
              <a:t>IPv4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32-bit address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192.168.1.1 </a:t>
            </a:r>
          </a:p>
          <a:p>
            <a:r>
              <a:rPr lang="en-US" b="1" dirty="0"/>
              <a:t>IPv6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128-bit address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larger address space</a:t>
            </a:r>
          </a:p>
          <a:p>
            <a:endParaRPr lang="en-IN" dirty="0"/>
          </a:p>
        </p:txBody>
      </p:sp>
      <p:pic>
        <p:nvPicPr>
          <p:cNvPr id="11266" name="Picture 2" descr="IPv4 vs. IPv6: What's the Difference?">
            <a:extLst>
              <a:ext uri="{FF2B5EF4-FFF2-40B4-BE49-F238E27FC236}">
                <a16:creationId xmlns:a16="http://schemas.microsoft.com/office/drawing/2014/main" id="{5EF3BA91-DA0F-4E85-B56B-ACD1C0040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933" y="1887287"/>
            <a:ext cx="6783359" cy="308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467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B882-B65C-4E26-A5DD-BEF3B238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Subnetting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B0A21-29DD-4D7A-8CED-FB76512BA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11222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Purpose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IP allocation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broadcast traffic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security </a:t>
            </a:r>
          </a:p>
          <a:p>
            <a:r>
              <a:rPr lang="en-US" b="1" dirty="0"/>
              <a:t>Key Terms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Host 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Subnet Mask</a:t>
            </a:r>
          </a:p>
          <a:p>
            <a:endParaRPr lang="en-IN" dirty="0"/>
          </a:p>
        </p:txBody>
      </p:sp>
      <p:pic>
        <p:nvPicPr>
          <p:cNvPr id="12290" name="Picture 2" descr="Subnetting Explained">
            <a:extLst>
              <a:ext uri="{FF2B5EF4-FFF2-40B4-BE49-F238E27FC236}">
                <a16:creationId xmlns:a16="http://schemas.microsoft.com/office/drawing/2014/main" id="{98BDC339-009D-49EA-8ACF-C1BDF95A7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566" y="561420"/>
            <a:ext cx="4014611" cy="573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549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7380-CEFE-4A88-9F66-4F91AB5D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CIDR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D25B-2F1B-4C96-B79F-E75BB79AE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72556" cy="4351338"/>
          </a:xfrm>
        </p:spPr>
        <p:txBody>
          <a:bodyPr/>
          <a:lstStyle/>
          <a:p>
            <a:r>
              <a:rPr lang="en-US" b="1" dirty="0" err="1"/>
              <a:t>xamples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/24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/16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/30 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Flexible IP allocation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 summarization</a:t>
            </a:r>
          </a:p>
          <a:p>
            <a:endParaRPr lang="en-IN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3DE9F21-6458-4CF9-BC35-CA6FD5600F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4EFA2C20-D591-4632-9194-09BC6C76E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934" y="431008"/>
            <a:ext cx="3781424" cy="574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984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B220-087F-475F-A636-A9592BE7D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Routing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2DB00-17BF-4D74-9742-E90C2DC14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59667" cy="4351338"/>
          </a:xfrm>
        </p:spPr>
        <p:txBody>
          <a:bodyPr/>
          <a:lstStyle/>
          <a:p>
            <a:r>
              <a:rPr lang="en-US" b="1" dirty="0"/>
              <a:t>Router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Forward packets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Determine best path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Connect multiple networks</a:t>
            </a:r>
          </a:p>
          <a:p>
            <a:endParaRPr lang="en-IN" dirty="0"/>
          </a:p>
        </p:txBody>
      </p:sp>
      <p:pic>
        <p:nvPicPr>
          <p:cNvPr id="14338" name="Picture 2" descr="Port Forward, NAT for your services - Homenet Howto">
            <a:extLst>
              <a:ext uri="{FF2B5EF4-FFF2-40B4-BE49-F238E27FC236}">
                <a16:creationId xmlns:a16="http://schemas.microsoft.com/office/drawing/2014/main" id="{A9776702-52B0-4280-9C57-D6306BB32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386" y="490537"/>
            <a:ext cx="4733925" cy="587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064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F2F1-DB09-42EC-B065-AFF72941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E6E0D-6473-44DF-931A-56D7AD2CA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95133" cy="4351338"/>
          </a:xfrm>
        </p:spPr>
        <p:txBody>
          <a:bodyPr/>
          <a:lstStyle/>
          <a:p>
            <a:r>
              <a:rPr lang="en-US" b="1" dirty="0"/>
              <a:t>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Manually configured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Predictable routing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for small networks</a:t>
            </a:r>
          </a:p>
          <a:p>
            <a:endParaRPr lang="en-IN" dirty="0"/>
          </a:p>
        </p:txBody>
      </p:sp>
      <p:pic>
        <p:nvPicPr>
          <p:cNvPr id="15362" name="Picture 2" descr="What is Static Routing?">
            <a:extLst>
              <a:ext uri="{FF2B5EF4-FFF2-40B4-BE49-F238E27FC236}">
                <a16:creationId xmlns:a16="http://schemas.microsoft.com/office/drawing/2014/main" id="{D216EB2D-8575-4F14-985C-937B4BBEC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266" y="1442597"/>
            <a:ext cx="5441244" cy="291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657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C82D-9C60-4980-A73C-126E6C5C6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064AD-9549-499D-8E02-E0DDCE0B5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64467" cy="435133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 route updates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path selection </a:t>
            </a:r>
          </a:p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OSPF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EIGRP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BB4E3-6ECB-4535-8CD0-DF796B369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297" y="2507897"/>
            <a:ext cx="517207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47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0BBC-2133-475D-AAC8-20983777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OSPF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5DFCD-4609-4536-8F05-DFA17FBAE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93444" cy="4351338"/>
          </a:xfrm>
        </p:spPr>
        <p:txBody>
          <a:bodyPr/>
          <a:lstStyle/>
          <a:p>
            <a:r>
              <a:rPr lang="en-US" b="1" dirty="0"/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Link-state protocol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convergence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Widely used in enterprises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499CF-CE76-46D5-91B4-5B970FD31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644" y="2220206"/>
            <a:ext cx="612457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8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0C6E-A0FB-4BED-8DEB-A53172E1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Switching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11570-29E8-4F8A-ABE6-8B84F0042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09711" cy="4351338"/>
          </a:xfrm>
        </p:spPr>
        <p:txBody>
          <a:bodyPr/>
          <a:lstStyle/>
          <a:p>
            <a:r>
              <a:rPr lang="en-US" b="1" dirty="0"/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 MAC addresses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Forward frames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collisions</a:t>
            </a:r>
          </a:p>
          <a:p>
            <a:endParaRPr lang="en-IN" dirty="0"/>
          </a:p>
        </p:txBody>
      </p:sp>
      <p:pic>
        <p:nvPicPr>
          <p:cNvPr id="17410" name="Picture 2" descr="Switches in Computer Networks">
            <a:extLst>
              <a:ext uri="{FF2B5EF4-FFF2-40B4-BE49-F238E27FC236}">
                <a16:creationId xmlns:a16="http://schemas.microsoft.com/office/drawing/2014/main" id="{197AC0B9-0416-4D2E-B949-39E0E173C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3" y="1690688"/>
            <a:ext cx="3609975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783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ED9C-AE64-4263-B9BC-F9DDEA94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VLAN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3E45B-60CE-4889-9B10-E2C0703FD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70867" cy="4351338"/>
          </a:xfrm>
        </p:spPr>
        <p:txBody>
          <a:bodyPr/>
          <a:lstStyle/>
          <a:p>
            <a:r>
              <a:rPr lang="en-US" b="1" dirty="0"/>
              <a:t>VLAN</a:t>
            </a:r>
          </a:p>
          <a:p>
            <a:r>
              <a:rPr lang="en-US" dirty="0"/>
              <a:t>Virtual Local Area Network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Segmentation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Performance </a:t>
            </a:r>
          </a:p>
          <a:p>
            <a:endParaRPr lang="en-IN" dirty="0"/>
          </a:p>
        </p:txBody>
      </p:sp>
      <p:pic>
        <p:nvPicPr>
          <p:cNvPr id="18434" name="Picture 2" descr="Network Segmentation — MCSI Library">
            <a:extLst>
              <a:ext uri="{FF2B5EF4-FFF2-40B4-BE49-F238E27FC236}">
                <a16:creationId xmlns:a16="http://schemas.microsoft.com/office/drawing/2014/main" id="{44FCDEA2-3DBD-418E-96E3-FC4ADA821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303" y="2090269"/>
            <a:ext cx="4582054" cy="267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861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F059-0ED0-4ECC-BD16-7BCD047D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Trunking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4D934-77CB-4AA6-91CB-32ED88DBF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98422" cy="4351338"/>
          </a:xfrm>
        </p:spPr>
        <p:txBody>
          <a:bodyPr/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Carry multiple VLANs across one link.</a:t>
            </a:r>
          </a:p>
          <a:p>
            <a:r>
              <a:rPr lang="en-US" b="1" dirty="0"/>
              <a:t>Protocol</a:t>
            </a:r>
          </a:p>
          <a:p>
            <a:r>
              <a:rPr lang="en-US" dirty="0"/>
              <a:t>IEEE 802.1Q</a:t>
            </a:r>
          </a:p>
          <a:p>
            <a:endParaRPr lang="en-IN" dirty="0"/>
          </a:p>
        </p:txBody>
      </p:sp>
      <p:pic>
        <p:nvPicPr>
          <p:cNvPr id="19458" name="Picture 2" descr="What is Trunking in Networking? Explained with Example">
            <a:extLst>
              <a:ext uri="{FF2B5EF4-FFF2-40B4-BE49-F238E27FC236}">
                <a16:creationId xmlns:a16="http://schemas.microsoft.com/office/drawing/2014/main" id="{48D35A9E-FF41-4A30-AF51-DFCBCB29D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434" y="1588807"/>
            <a:ext cx="5256389" cy="315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224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0D1F-B8DB-4BD3-8887-52580569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Spanning Tree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A72DD-9195-4888-97F4-E96E0D2E2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62867" cy="4351338"/>
          </a:xfrm>
        </p:spPr>
        <p:txBody>
          <a:bodyPr/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Prevent Layer 2 loops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Stability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Redundancy Support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F4B57-BEE1-41E5-B339-CF15873D0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71082"/>
            <a:ext cx="3699932" cy="374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53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F4A7-0283-43C9-8AFE-EB7F9484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EtherChannel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3528-3F20-4933-83B0-5743160AD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53089" cy="4351338"/>
          </a:xfrm>
        </p:spPr>
        <p:txBody>
          <a:bodyPr/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Combine multiple physical links into one logical link.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bandwidth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Redundancy</a:t>
            </a:r>
          </a:p>
          <a:p>
            <a:endParaRPr lang="en-IN" dirty="0"/>
          </a:p>
        </p:txBody>
      </p:sp>
      <p:pic>
        <p:nvPicPr>
          <p:cNvPr id="21506" name="Picture 2" descr="Etherchannels - howtonetworkc.om">
            <a:extLst>
              <a:ext uri="{FF2B5EF4-FFF2-40B4-BE49-F238E27FC236}">
                <a16:creationId xmlns:a16="http://schemas.microsoft.com/office/drawing/2014/main" id="{01C6DC59-B71E-41E6-A9A0-E375F8BFD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1490313"/>
            <a:ext cx="4622800" cy="387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912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C9F37-091E-4F23-BC54-95D2B576C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Wireless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212E9-61DD-4941-A720-341BC1360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978" cy="4351338"/>
          </a:xfrm>
        </p:spPr>
        <p:txBody>
          <a:bodyPr/>
          <a:lstStyle/>
          <a:p>
            <a:r>
              <a:rPr lang="en-US" b="1" dirty="0"/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Point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Wireless Clients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SSID 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Flexibility</a:t>
            </a:r>
          </a:p>
          <a:p>
            <a:endParaRPr lang="en-IN" dirty="0"/>
          </a:p>
        </p:txBody>
      </p:sp>
      <p:pic>
        <p:nvPicPr>
          <p:cNvPr id="22532" name="Picture 4" descr="Wireless Network Setup in Chennai | ID: 8815030397">
            <a:extLst>
              <a:ext uri="{FF2B5EF4-FFF2-40B4-BE49-F238E27FC236}">
                <a16:creationId xmlns:a16="http://schemas.microsoft.com/office/drawing/2014/main" id="{53BCF56E-F090-42A6-AC25-E995D2673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550" y="1555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534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3490-442E-4A01-9015-346475725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DHCP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93C63-B368-4332-B209-68E438BF0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88733" cy="4351338"/>
          </a:xfrm>
        </p:spPr>
        <p:txBody>
          <a:bodyPr/>
          <a:lstStyle/>
          <a:p>
            <a:r>
              <a:rPr lang="en-US" b="1" dirty="0"/>
              <a:t>Dynamic Host Configuration Protocol</a:t>
            </a:r>
          </a:p>
          <a:p>
            <a:r>
              <a:rPr lang="en-US" b="1" dirty="0"/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 IP assignment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Gateway assignment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DNS assignment</a:t>
            </a:r>
          </a:p>
          <a:p>
            <a:endParaRPr lang="en-IN" dirty="0"/>
          </a:p>
        </p:txBody>
      </p:sp>
      <p:pic>
        <p:nvPicPr>
          <p:cNvPr id="23554" name="Picture 2" descr="DHCP &amp; DNS Protocols Explained - Study CCNA">
            <a:extLst>
              <a:ext uri="{FF2B5EF4-FFF2-40B4-BE49-F238E27FC236}">
                <a16:creationId xmlns:a16="http://schemas.microsoft.com/office/drawing/2014/main" id="{1E9B891F-4A9F-47E9-9FEE-92BD5C540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119" y="2664884"/>
            <a:ext cx="3952875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117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0B17-D90E-4DA4-99DA-0DCCD745A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F271F-4728-412F-BA9E-B9CC813B2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6556" cy="4351338"/>
          </a:xfrm>
        </p:spPr>
        <p:txBody>
          <a:bodyPr/>
          <a:lstStyle/>
          <a:p>
            <a:r>
              <a:rPr lang="en-US" b="1" dirty="0"/>
              <a:t>Domain Name System</a:t>
            </a:r>
          </a:p>
          <a:p>
            <a:r>
              <a:rPr lang="en-US" b="1" dirty="0"/>
              <a:t>Purpose</a:t>
            </a:r>
          </a:p>
          <a:p>
            <a:r>
              <a:rPr lang="en-US" dirty="0"/>
              <a:t>Converts domain names into IP addresses.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www.example.com → 192.168.1.1</a:t>
            </a:r>
          </a:p>
          <a:p>
            <a:endParaRPr lang="en-IN" dirty="0"/>
          </a:p>
        </p:txBody>
      </p:sp>
      <p:pic>
        <p:nvPicPr>
          <p:cNvPr id="24578" name="Picture 2" descr="Address Resolution in DNS (Domain Name Server) - GeeksforGeeks">
            <a:extLst>
              <a:ext uri="{FF2B5EF4-FFF2-40B4-BE49-F238E27FC236}">
                <a16:creationId xmlns:a16="http://schemas.microsoft.com/office/drawing/2014/main" id="{4048D52D-D8E8-45CA-A619-361503C34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851" y="1533414"/>
            <a:ext cx="5965119" cy="395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436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F73A-B3D7-444B-AA7F-34B5C37B2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3FFAA-7372-421A-8C99-D3DE6CFD9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99933" cy="4351338"/>
          </a:xfrm>
        </p:spPr>
        <p:txBody>
          <a:bodyPr/>
          <a:lstStyle/>
          <a:p>
            <a:r>
              <a:rPr lang="en-US" b="1" dirty="0"/>
              <a:t>Network Address Translation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Conserves public IP addresses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security</a:t>
            </a:r>
          </a:p>
          <a:p>
            <a:endParaRPr lang="en-IN" dirty="0"/>
          </a:p>
        </p:txBody>
      </p:sp>
      <p:pic>
        <p:nvPicPr>
          <p:cNvPr id="25602" name="Picture 2" descr="Different Types of NAT (Network Address Translation)">
            <a:extLst>
              <a:ext uri="{FF2B5EF4-FFF2-40B4-BE49-F238E27FC236}">
                <a16:creationId xmlns:a16="http://schemas.microsoft.com/office/drawing/2014/main" id="{5AEC8812-0041-4D83-9B6E-F86D49807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022" y="548216"/>
            <a:ext cx="4278489" cy="320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 descr="Network Address Translation (NAT) - GeeksforGeeks">
            <a:extLst>
              <a:ext uri="{FF2B5EF4-FFF2-40B4-BE49-F238E27FC236}">
                <a16:creationId xmlns:a16="http://schemas.microsoft.com/office/drawing/2014/main" id="{05346710-84DE-47AB-A311-3E9C4A15B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044" y="4160839"/>
            <a:ext cx="5288480" cy="2049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120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8E716-09FB-435A-88FD-5162A7513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 Control Lists (ACLs)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6471D-E16A-4B26-8A76-8A01800B4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11311" cy="4351338"/>
          </a:xfrm>
        </p:spPr>
        <p:txBody>
          <a:bodyPr/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Filter network traffic</a:t>
            </a:r>
          </a:p>
          <a:p>
            <a:r>
              <a:rPr lang="en-US" b="1" dirty="0"/>
              <a:t>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ACL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Extended ACL</a:t>
            </a:r>
          </a:p>
          <a:p>
            <a:endParaRPr lang="en-IN" dirty="0"/>
          </a:p>
        </p:txBody>
      </p:sp>
      <p:sp>
        <p:nvSpPr>
          <p:cNvPr id="4" name="AutoShape 2" descr="Extended Numbered ACL | NetworkAcademy.IO">
            <a:extLst>
              <a:ext uri="{FF2B5EF4-FFF2-40B4-BE49-F238E27FC236}">
                <a16:creationId xmlns:a16="http://schemas.microsoft.com/office/drawing/2014/main" id="{18B69654-4D63-47C6-99D0-C1F04364F5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6628" name="Picture 4" descr="Basic Concepts and Fundamentals of ACLs">
            <a:extLst>
              <a:ext uri="{FF2B5EF4-FFF2-40B4-BE49-F238E27FC236}">
                <a16:creationId xmlns:a16="http://schemas.microsoft.com/office/drawing/2014/main" id="{3D83EDD1-06D5-4DCA-8D11-37223E3D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578" y="1825625"/>
            <a:ext cx="7077075" cy="370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172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7D16-E8AE-42FC-B5D7-A093753A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Security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D1ED9-98D0-44E7-9072-DF9D1A25C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72556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Threats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Malware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Phishing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Unauthorized Access </a:t>
            </a:r>
          </a:p>
          <a:p>
            <a:r>
              <a:rPr lang="en-US" b="1" dirty="0"/>
              <a:t>Protection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Firewalls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Authentication</a:t>
            </a:r>
          </a:p>
          <a:p>
            <a:endParaRPr lang="en-IN" dirty="0"/>
          </a:p>
        </p:txBody>
      </p:sp>
      <p:pic>
        <p:nvPicPr>
          <p:cNvPr id="27650" name="Picture 2" descr="Cyber Security Shield Icon, Data Protection and Network Security  Illustration Stock Vector - Illustration of design, information: 380184942">
            <a:extLst>
              <a:ext uri="{FF2B5EF4-FFF2-40B4-BE49-F238E27FC236}">
                <a16:creationId xmlns:a16="http://schemas.microsoft.com/office/drawing/2014/main" id="{1908ED80-61D5-470B-8A7D-3EABE0532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400" y="1690688"/>
            <a:ext cx="4095044" cy="409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219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73CA-51AE-4C14-BB78-F8859AE6E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CE43D-D164-4263-9AF1-539BAF0CF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11311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JSON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SDN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Programmability 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errors </a:t>
            </a:r>
          </a:p>
          <a:p>
            <a:endParaRPr lang="en-IN" dirty="0"/>
          </a:p>
        </p:txBody>
      </p:sp>
      <p:pic>
        <p:nvPicPr>
          <p:cNvPr id="28676" name="Picture 4" descr="Network Automation and Software Defined Networking - howtonetwork.com">
            <a:extLst>
              <a:ext uri="{FF2B5EF4-FFF2-40B4-BE49-F238E27FC236}">
                <a16:creationId xmlns:a16="http://schemas.microsoft.com/office/drawing/2014/main" id="{2A86F329-CC90-447A-A800-543186187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238" y="1690688"/>
            <a:ext cx="48944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536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D7D3-0BF5-464D-869B-1638EC16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&amp; Career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8A01-A652-4F10-8EBB-902496944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367844" cy="4351338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Topics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Networking Fundamentals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IP Addressing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Routing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Switching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Wireless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Automation </a:t>
            </a:r>
          </a:p>
          <a:p>
            <a:r>
              <a:rPr lang="en-IN" b="1" dirty="0"/>
              <a:t>Career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Network Engineer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Network Administrator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System Administrator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Security Analyst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Technical Support Engineer</a:t>
            </a:r>
          </a:p>
          <a:p>
            <a:endParaRPr lang="en-IN" dirty="0"/>
          </a:p>
        </p:txBody>
      </p:sp>
      <p:pic>
        <p:nvPicPr>
          <p:cNvPr id="29698" name="Picture 2" descr="Tech Support Specialist">
            <a:extLst>
              <a:ext uri="{FF2B5EF4-FFF2-40B4-BE49-F238E27FC236}">
                <a16:creationId xmlns:a16="http://schemas.microsoft.com/office/drawing/2014/main" id="{D590B65A-CAD3-4B4C-82CB-E280A3D35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603" y="1509713"/>
            <a:ext cx="2474074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509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6ACD3-3AA5-463E-A8A2-A74849C3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05319-2697-4B73-BB7E-3AFE370FC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712" y="1587704"/>
            <a:ext cx="3124200" cy="4148991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Chat </a:t>
            </a:r>
            <a:r>
              <a:rPr lang="en-US" dirty="0" err="1"/>
              <a:t>Gpt</a:t>
            </a:r>
            <a:r>
              <a:rPr lang="en-US" dirty="0"/>
              <a:t> -&gt; Search The Web</a:t>
            </a:r>
          </a:p>
          <a:p>
            <a:endParaRPr lang="en-US" dirty="0"/>
          </a:p>
          <a:p>
            <a:r>
              <a:rPr lang="en-US" dirty="0"/>
              <a:t>-&gt;  CCNP Tutorial</a:t>
            </a:r>
          </a:p>
          <a:p>
            <a:r>
              <a:rPr lang="en-IN" dirty="0"/>
              <a:t>https://www.google.com/search?q=ccnp+tutorial+free&amp;oq=CCNP+T&amp;gs_lcrp=EgZjaHJvbWUqBggAEEUYOzIGCAAQRRg7MgkIARBFGDsYgAQyBwgCEAAYgAQyBwgDEAAYgAQyBggEEEUYOTIHCAUQABiABDIHCAYQABiABDIHCAcQABiABDIHCAgQLhiABDIHCAkQABiABNIBCTI5OTRqMWoxNagCCLACAfEFqcW7fe4IK5k&amp;sourceid=chrome&amp;ie=UTF-8</a:t>
            </a:r>
          </a:p>
          <a:p>
            <a:r>
              <a:rPr lang="en-IN" dirty="0"/>
              <a:t>notes </a:t>
            </a:r>
            <a:r>
              <a:rPr lang="en-IN" dirty="0" err="1"/>
              <a:t>Notes</a:t>
            </a:r>
            <a:r>
              <a:rPr lang="en-IN" dirty="0"/>
              <a:t> </a:t>
            </a:r>
            <a:r>
              <a:rPr lang="en-IN" dirty="0" err="1"/>
              <a:t>NOTES</a:t>
            </a:r>
            <a:r>
              <a:rPr lang="en-IN" dirty="0"/>
              <a:t> ( Notes 1 To Notes 6 )  -  https://github.com/Narthana-Elysium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30722" name="Picture 2" descr="White Web Icon PNG Images, Vectors Free Download - Pngtree">
            <a:extLst>
              <a:ext uri="{FF2B5EF4-FFF2-40B4-BE49-F238E27FC236}">
                <a16:creationId xmlns:a16="http://schemas.microsoft.com/office/drawing/2014/main" id="{69254F03-17E5-4D23-8979-36028487E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3285067" y="1392238"/>
            <a:ext cx="596900" cy="59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03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530</Words>
  <Application>Microsoft Office PowerPoint</Application>
  <PresentationFormat>Widescreen</PresentationFormat>
  <Paragraphs>222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CCNP Enterprise Networking BY ELYSIUM ACADEMY</vt:lpstr>
      <vt:lpstr>What is CCNP ?</vt:lpstr>
      <vt:lpstr>Types of Networks</vt:lpstr>
      <vt:lpstr>Network Components</vt:lpstr>
      <vt:lpstr>OSI Model Overview</vt:lpstr>
      <vt:lpstr>TCP / IP Model</vt:lpstr>
      <vt:lpstr>Data Encapsulation</vt:lpstr>
      <vt:lpstr>Network Topologies</vt:lpstr>
      <vt:lpstr>Ethernet Fundamentals</vt:lpstr>
      <vt:lpstr>MAC Address</vt:lpstr>
      <vt:lpstr>IP Addressing</vt:lpstr>
      <vt:lpstr>Subnetting Basics</vt:lpstr>
      <vt:lpstr>CIDR Notation</vt:lpstr>
      <vt:lpstr>Routing Fundamentals</vt:lpstr>
      <vt:lpstr>Static Routing</vt:lpstr>
      <vt:lpstr>Dynamic Routing</vt:lpstr>
      <vt:lpstr>OSPF Overview</vt:lpstr>
      <vt:lpstr>Switching Fundamentals</vt:lpstr>
      <vt:lpstr>VLAN Concepts</vt:lpstr>
      <vt:lpstr>Trunking</vt:lpstr>
      <vt:lpstr>Spanning Tree Protocol</vt:lpstr>
      <vt:lpstr>EtherChannel</vt:lpstr>
      <vt:lpstr>Wireless Networking</vt:lpstr>
      <vt:lpstr>DHCP</vt:lpstr>
      <vt:lpstr>DNS</vt:lpstr>
      <vt:lpstr>NAT</vt:lpstr>
      <vt:lpstr>Access Control Lists (ACLs)</vt:lpstr>
      <vt:lpstr>Network Security Fundamentals</vt:lpstr>
      <vt:lpstr>Network Automation</vt:lpstr>
      <vt:lpstr>Summary &amp; Career Opportunities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CCNP Enterprise Networking BY ELYSIUM ACADEMY</dc:title>
  <dc:creator>ADMIN</dc:creator>
  <cp:lastModifiedBy>ADMIN</cp:lastModifiedBy>
  <cp:revision>138</cp:revision>
  <dcterms:created xsi:type="dcterms:W3CDTF">2026-06-11T05:12:47Z</dcterms:created>
  <dcterms:modified xsi:type="dcterms:W3CDTF">2026-06-11T05:54:46Z</dcterms:modified>
</cp:coreProperties>
</file>